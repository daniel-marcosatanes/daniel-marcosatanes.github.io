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589" r:id="rId3"/>
    <p:sldId id="575" r:id="rId4"/>
    <p:sldId id="1092" r:id="rId5"/>
    <p:sldId id="1199" r:id="rId6"/>
    <p:sldId id="1103" r:id="rId7"/>
    <p:sldId id="579" r:id="rId8"/>
    <p:sldId id="975" r:id="rId9"/>
    <p:sldId id="1156" r:id="rId10"/>
    <p:sldId id="1041" r:id="rId11"/>
    <p:sldId id="1182" r:id="rId12"/>
    <p:sldId id="1200" r:id="rId13"/>
    <p:sldId id="1201" r:id="rId14"/>
    <p:sldId id="1202" r:id="rId15"/>
    <p:sldId id="635" r:id="rId16"/>
    <p:sldId id="1205" r:id="rId17"/>
    <p:sldId id="1203" r:id="rId18"/>
    <p:sldId id="120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5CF49"/>
    <a:srgbClr val="2642D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45"/>
    <p:restoredTop sz="94725"/>
  </p:normalViewPr>
  <p:slideViewPr>
    <p:cSldViewPr snapToGrid="0" showGuides="1">
      <p:cViewPr>
        <p:scale>
          <a:sx n="64" d="100"/>
          <a:sy n="64" d="100"/>
        </p:scale>
        <p:origin x="1024" y="114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0A8D8B-0BAD-384D-A95D-5CCDA0C68B2E}" type="datetimeFigureOut">
              <a:rPr lang="en-US" smtClean="0"/>
              <a:t>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908BB6-EFEF-634D-82CA-0BF433FE04C3}" type="slidenum">
              <a:rPr lang="en-US" smtClean="0"/>
              <a:t>‹#›</a:t>
            </a:fld>
            <a:endParaRPr lang="en-US"/>
          </a:p>
        </p:txBody>
      </p:sp>
    </p:spTree>
    <p:extLst>
      <p:ext uri="{BB962C8B-B14F-4D97-AF65-F5344CB8AC3E}">
        <p14:creationId xmlns:p14="http://schemas.microsoft.com/office/powerpoint/2010/main" val="3119445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lvl="0" indent="0" algn="just">
              <a:lnSpc>
                <a:spcPct val="115000"/>
              </a:lnSpc>
              <a:spcAft>
                <a:spcPts val="600"/>
              </a:spcAft>
              <a:buClr>
                <a:srgbClr val="000000"/>
              </a:buClr>
              <a:buFont typeface="Symbol" pitchFamily="2" charset="2"/>
              <a:buNone/>
              <a:tabLst>
                <a:tab pos="180340" algn="l"/>
              </a:tabLst>
            </a:pPr>
            <a:r>
              <a:rPr lang="en-US" sz="2800" dirty="0"/>
              <a:t>In this context, the discovery of catalytic reactions is especially relevant. A catalyst accelerates a reaction without being consumed, meaning it can be used in </a:t>
            </a:r>
            <a:r>
              <a:rPr lang="en-US" sz="2800" dirty="0" err="1"/>
              <a:t>substoichiometric</a:t>
            </a:r>
            <a:r>
              <a:rPr lang="en-US" sz="2800" dirty="0"/>
              <a:t> amounts and therefore helps to minimize waste. Moreover, catalysts can open up unconventional reaction pathways by lowering activation barriers, enabling transformations that would otherwise be unfeasible, such as could be the case of palladium </a:t>
            </a:r>
            <a:r>
              <a:rPr lang="en-US" sz="2800" dirty="0" err="1"/>
              <a:t>catalists</a:t>
            </a:r>
            <a:r>
              <a:rPr lang="en-US" sz="2800" dirty="0"/>
              <a:t> in the amination of aryl bromides. </a:t>
            </a:r>
          </a:p>
          <a:p>
            <a:pPr marL="0" lvl="0" indent="0" algn="just">
              <a:lnSpc>
                <a:spcPct val="115000"/>
              </a:lnSpc>
              <a:spcAft>
                <a:spcPts val="600"/>
              </a:spcAft>
              <a:buClr>
                <a:srgbClr val="000000"/>
              </a:buClr>
              <a:buFont typeface="Symbol" pitchFamily="2" charset="2"/>
              <a:buNone/>
              <a:tabLst>
                <a:tab pos="180340" algn="l"/>
              </a:tabLst>
            </a:pPr>
            <a:endParaRPr lang="en-US" sz="2800" kern="100" dirty="0">
              <a:effectLst/>
              <a:latin typeface="Aptos" panose="020B0004020202020204" pitchFamily="34" charset="0"/>
              <a:ea typeface="Aptos" panose="020B0004020202020204" pitchFamily="34" charset="0"/>
              <a:cs typeface="Times New Roman" panose="02020603050405020304" pitchFamily="18" charset="0"/>
            </a:endParaRPr>
          </a:p>
        </p:txBody>
      </p:sp>
      <p:sp>
        <p:nvSpPr>
          <p:cNvPr id="4" name="Marcador de número de diapositiva 3"/>
          <p:cNvSpPr>
            <a:spLocks noGrp="1"/>
          </p:cNvSpPr>
          <p:nvPr>
            <p:ph type="sldNum" sz="quarter" idx="5"/>
          </p:nvPr>
        </p:nvSpPr>
        <p:spPr/>
        <p:txBody>
          <a:bodyPr/>
          <a:lstStyle/>
          <a:p>
            <a:fld id="{E445D19A-FA26-469A-BDB5-85895D056583}" type="slidenum">
              <a:rPr lang="es-ES" smtClean="0"/>
              <a:t>2</a:t>
            </a:fld>
            <a:endParaRPr lang="es-ES"/>
          </a:p>
        </p:txBody>
      </p:sp>
    </p:spTree>
    <p:extLst>
      <p:ext uri="{BB962C8B-B14F-4D97-AF65-F5344CB8AC3E}">
        <p14:creationId xmlns:p14="http://schemas.microsoft.com/office/powerpoint/2010/main" val="2012274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err="1"/>
              <a:t>These</a:t>
            </a:r>
            <a:r>
              <a:rPr lang="es-ES" dirty="0"/>
              <a:t> </a:t>
            </a:r>
            <a:r>
              <a:rPr lang="es-ES" dirty="0" err="1"/>
              <a:t>organometallic</a:t>
            </a:r>
            <a:r>
              <a:rPr lang="es-ES" dirty="0"/>
              <a:t> </a:t>
            </a:r>
            <a:r>
              <a:rPr lang="es-ES" dirty="0" err="1"/>
              <a:t>catalysts</a:t>
            </a:r>
            <a:r>
              <a:rPr lang="es-ES" dirty="0"/>
              <a:t> </a:t>
            </a:r>
            <a:r>
              <a:rPr lang="es-ES" dirty="0" err="1"/>
              <a:t>which</a:t>
            </a:r>
            <a:r>
              <a:rPr lang="es-ES" dirty="0"/>
              <a:t> </a:t>
            </a:r>
            <a:r>
              <a:rPr lang="es-ES" dirty="0" err="1"/>
              <a:t>feature</a:t>
            </a:r>
            <a:r>
              <a:rPr lang="es-ES" dirty="0"/>
              <a:t> </a:t>
            </a:r>
            <a:r>
              <a:rPr lang="es-ES" dirty="0" err="1"/>
              <a:t>both</a:t>
            </a:r>
            <a:r>
              <a:rPr lang="es-ES" dirty="0"/>
              <a:t> a metal center and a </a:t>
            </a:r>
            <a:r>
              <a:rPr lang="es-ES" dirty="0" err="1"/>
              <a:t>organic</a:t>
            </a:r>
            <a:r>
              <a:rPr lang="es-ES" dirty="0"/>
              <a:t> </a:t>
            </a:r>
            <a:r>
              <a:rPr lang="es-ES" dirty="0" err="1"/>
              <a:t>ligand</a:t>
            </a:r>
            <a:r>
              <a:rPr lang="es-ES" dirty="0"/>
              <a:t> </a:t>
            </a:r>
            <a:r>
              <a:rPr lang="es-ES" dirty="0" err="1"/>
              <a:t>sphere</a:t>
            </a:r>
            <a:r>
              <a:rPr lang="es-ES" dirty="0"/>
              <a:t> </a:t>
            </a:r>
            <a:r>
              <a:rPr lang="es-ES" dirty="0" err="1"/>
              <a:t>have</a:t>
            </a:r>
            <a:r>
              <a:rPr lang="es-ES" dirty="0"/>
              <a:t> </a:t>
            </a:r>
            <a:r>
              <a:rPr lang="es-ES" dirty="0" err="1"/>
              <a:t>been</a:t>
            </a:r>
            <a:r>
              <a:rPr lang="es-ES" dirty="0"/>
              <a:t> </a:t>
            </a:r>
            <a:r>
              <a:rPr lang="es-ES" dirty="0" err="1"/>
              <a:t>particularly</a:t>
            </a:r>
            <a:r>
              <a:rPr lang="es-ES" dirty="0"/>
              <a:t> </a:t>
            </a:r>
            <a:r>
              <a:rPr lang="es-ES" dirty="0" err="1"/>
              <a:t>impactful</a:t>
            </a:r>
            <a:endParaRPr lang="es-ES" dirty="0"/>
          </a:p>
        </p:txBody>
      </p:sp>
      <p:sp>
        <p:nvSpPr>
          <p:cNvPr id="4" name="Marcador de número de diapositiva 3"/>
          <p:cNvSpPr>
            <a:spLocks noGrp="1"/>
          </p:cNvSpPr>
          <p:nvPr>
            <p:ph type="sldNum" sz="quarter" idx="5"/>
          </p:nvPr>
        </p:nvSpPr>
        <p:spPr/>
        <p:txBody>
          <a:bodyPr/>
          <a:lstStyle/>
          <a:p>
            <a:fld id="{E445D19A-FA26-469A-BDB5-85895D056583}" type="slidenum">
              <a:rPr lang="es-ES" smtClean="0"/>
              <a:t>3</a:t>
            </a:fld>
            <a:endParaRPr lang="es-ES"/>
          </a:p>
        </p:txBody>
      </p:sp>
    </p:spTree>
    <p:extLst>
      <p:ext uri="{BB962C8B-B14F-4D97-AF65-F5344CB8AC3E}">
        <p14:creationId xmlns:p14="http://schemas.microsoft.com/office/powerpoint/2010/main" val="41975460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5A54B-1B24-4C61-039F-A37FDF294E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3C0E2F7-9CEF-2DE3-1079-7EF2D57F0C1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DC15226-1F17-7A35-00B3-3ED4D8D94C0C}"/>
              </a:ext>
            </a:extLst>
          </p:cNvPr>
          <p:cNvSpPr>
            <a:spLocks noGrp="1"/>
          </p:cNvSpPr>
          <p:nvPr>
            <p:ph type="body" idx="1"/>
          </p:nvPr>
        </p:nvSpPr>
        <p:spPr/>
        <p:txBody>
          <a:bodyPr/>
          <a:lstStyle/>
          <a:p>
            <a:r>
              <a:rPr lang="es-ES" sz="1800" dirty="0"/>
              <a:t>In </a:t>
            </a:r>
            <a:r>
              <a:rPr lang="es-ES" sz="1800" dirty="0" err="1"/>
              <a:t>great</a:t>
            </a:r>
            <a:r>
              <a:rPr lang="es-ES" sz="1800" dirty="0"/>
              <a:t> </a:t>
            </a:r>
            <a:r>
              <a:rPr lang="es-ES" sz="1800" dirty="0" err="1"/>
              <a:t>part</a:t>
            </a:r>
            <a:r>
              <a:rPr lang="es-ES" sz="1800" dirty="0"/>
              <a:t> </a:t>
            </a:r>
            <a:r>
              <a:rPr lang="es-ES" sz="1800" dirty="0" err="1"/>
              <a:t>because</a:t>
            </a:r>
            <a:r>
              <a:rPr lang="es-ES" sz="1800" dirty="0"/>
              <a:t> </a:t>
            </a:r>
            <a:r>
              <a:rPr lang="es-ES" sz="1800" dirty="0" err="1"/>
              <a:t>of</a:t>
            </a:r>
            <a:r>
              <a:rPr lang="es-ES" sz="1800" dirty="0"/>
              <a:t> </a:t>
            </a:r>
            <a:r>
              <a:rPr lang="es-ES" sz="1800" dirty="0" err="1"/>
              <a:t>the</a:t>
            </a:r>
            <a:r>
              <a:rPr lang="es-ES" sz="1800" dirty="0"/>
              <a:t> </a:t>
            </a:r>
            <a:r>
              <a:rPr lang="es-ES" sz="1800" dirty="0" err="1"/>
              <a:t>wide</a:t>
            </a:r>
            <a:r>
              <a:rPr lang="es-ES" sz="1800" dirty="0"/>
              <a:t> </a:t>
            </a:r>
            <a:r>
              <a:rPr lang="en-US" sz="1800" dirty="0"/>
              <a:t>variety of transition metals available, each one exhibiting different properties, and the versatility provided by the broad arrange of ligands that can be used.</a:t>
            </a:r>
            <a:endParaRPr lang="es-ES" dirty="0"/>
          </a:p>
        </p:txBody>
      </p:sp>
      <p:sp>
        <p:nvSpPr>
          <p:cNvPr id="4" name="Marcador de número de diapositiva 3">
            <a:extLst>
              <a:ext uri="{FF2B5EF4-FFF2-40B4-BE49-F238E27FC236}">
                <a16:creationId xmlns:a16="http://schemas.microsoft.com/office/drawing/2014/main" id="{53E5BA70-A15D-495C-05F1-DF19271593CC}"/>
              </a:ext>
            </a:extLst>
          </p:cNvPr>
          <p:cNvSpPr>
            <a:spLocks noGrp="1"/>
          </p:cNvSpPr>
          <p:nvPr>
            <p:ph type="sldNum" sz="quarter" idx="5"/>
          </p:nvPr>
        </p:nvSpPr>
        <p:spPr/>
        <p:txBody>
          <a:bodyPr/>
          <a:lstStyle/>
          <a:p>
            <a:fld id="{E445D19A-FA26-469A-BDB5-85895D056583}" type="slidenum">
              <a:rPr lang="es-ES" smtClean="0"/>
              <a:t>4</a:t>
            </a:fld>
            <a:endParaRPr lang="es-ES"/>
          </a:p>
        </p:txBody>
      </p:sp>
    </p:spTree>
    <p:extLst>
      <p:ext uri="{BB962C8B-B14F-4D97-AF65-F5344CB8AC3E}">
        <p14:creationId xmlns:p14="http://schemas.microsoft.com/office/powerpoint/2010/main" val="24447423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C7D34-CE28-F3E0-CF04-995367E0EF5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AA86485-46B1-2A0D-CB1E-351C0FDF091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F5F8268-EDC4-AA85-1400-96FD1FAF1B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effectLst/>
                <a:latin typeface="Aptos" panose="020B0004020202020204" pitchFamily="34" charset="0"/>
                <a:ea typeface="Aptos" panose="020B0004020202020204" pitchFamily="34" charset="0"/>
                <a:cs typeface="Calibri" panose="020F0502020204030204" pitchFamily="34" charset="0"/>
              </a:rPr>
              <a:t>In this context, in recent decades, many chemists have turned their attention to direct, one step metal-promoted C–H functionalization reactions because they allow a much more rapid increase in molecular complexity from native/non-functionalized precursors. This strategy involves the activation of a C–H bond with the transition metal catalyst to form an organometallic intermediate that can then be further functionalized.</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s-ES" dirty="0"/>
          </a:p>
        </p:txBody>
      </p:sp>
      <p:sp>
        <p:nvSpPr>
          <p:cNvPr id="4" name="Marcador de número de diapositiva 3">
            <a:extLst>
              <a:ext uri="{FF2B5EF4-FFF2-40B4-BE49-F238E27FC236}">
                <a16:creationId xmlns:a16="http://schemas.microsoft.com/office/drawing/2014/main" id="{D216D8EA-A394-4BC0-F6F6-530CAD6A9F57}"/>
              </a:ext>
            </a:extLst>
          </p:cNvPr>
          <p:cNvSpPr>
            <a:spLocks noGrp="1"/>
          </p:cNvSpPr>
          <p:nvPr>
            <p:ph type="sldNum" sz="quarter" idx="5"/>
          </p:nvPr>
        </p:nvSpPr>
        <p:spPr/>
        <p:txBody>
          <a:bodyPr/>
          <a:lstStyle/>
          <a:p>
            <a:fld id="{C449AEC8-B143-4E4C-9BE2-62BDDEA5472D}" type="slidenum">
              <a:rPr lang="es-ES" smtClean="0"/>
              <a:t>5</a:t>
            </a:fld>
            <a:endParaRPr lang="es-ES"/>
          </a:p>
        </p:txBody>
      </p:sp>
    </p:spTree>
    <p:extLst>
      <p:ext uri="{BB962C8B-B14F-4D97-AF65-F5344CB8AC3E}">
        <p14:creationId xmlns:p14="http://schemas.microsoft.com/office/powerpoint/2010/main" val="3540047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recent years there has been also a significant progress in the design of bidentate neutral </a:t>
            </a:r>
            <a:r>
              <a:rPr lang="en-US" b="1" dirty="0"/>
              <a:t>ligands that, equipped with supramolecular recognition sites</a:t>
            </a:r>
            <a:r>
              <a:rPr lang="en-US" dirty="0"/>
              <a:t>, which interact with functional groups on the substrate and help position the iridium center for </a:t>
            </a:r>
            <a:r>
              <a:rPr lang="en-US" b="1" dirty="0"/>
              <a:t>meta- or para-selective C–H activation</a:t>
            </a:r>
            <a:r>
              <a:rPr lang="en-US" dirty="0"/>
              <a:t>.</a:t>
            </a:r>
          </a:p>
        </p:txBody>
      </p:sp>
      <p:sp>
        <p:nvSpPr>
          <p:cNvPr id="4" name="Slide Number Placeholder 3"/>
          <p:cNvSpPr>
            <a:spLocks noGrp="1"/>
          </p:cNvSpPr>
          <p:nvPr>
            <p:ph type="sldNum" sz="quarter" idx="5"/>
          </p:nvPr>
        </p:nvSpPr>
        <p:spPr/>
        <p:txBody>
          <a:bodyPr/>
          <a:lstStyle/>
          <a:p>
            <a:fld id="{E445D19A-FA26-469A-BDB5-85895D056583}" type="slidenum">
              <a:rPr lang="es-ES" smtClean="0"/>
              <a:t>6</a:t>
            </a:fld>
            <a:endParaRPr lang="es-ES"/>
          </a:p>
        </p:txBody>
      </p:sp>
    </p:spTree>
    <p:extLst>
      <p:ext uri="{BB962C8B-B14F-4D97-AF65-F5344CB8AC3E}">
        <p14:creationId xmlns:p14="http://schemas.microsoft.com/office/powerpoint/2010/main" val="2736193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closer examination revealed an extensive network of attractive interactions between the amide carbonyl and the CF₃-substituted pyridine ring, stabilizing the transition state.</a:t>
            </a:r>
            <a:endParaRPr lang="es-ES" dirty="0"/>
          </a:p>
        </p:txBody>
      </p:sp>
      <p:sp>
        <p:nvSpPr>
          <p:cNvPr id="4" name="Marcador de número de diapositiva 3"/>
          <p:cNvSpPr>
            <a:spLocks noGrp="1"/>
          </p:cNvSpPr>
          <p:nvPr>
            <p:ph type="sldNum" sz="quarter" idx="5"/>
          </p:nvPr>
        </p:nvSpPr>
        <p:spPr/>
        <p:txBody>
          <a:bodyPr/>
          <a:lstStyle/>
          <a:p>
            <a:fld id="{E445D19A-FA26-469A-BDB5-85895D056583}" type="slidenum">
              <a:rPr lang="es-ES" smtClean="0"/>
              <a:t>7</a:t>
            </a:fld>
            <a:endParaRPr lang="es-ES"/>
          </a:p>
        </p:txBody>
      </p:sp>
    </p:spTree>
    <p:extLst>
      <p:ext uri="{BB962C8B-B14F-4D97-AF65-F5344CB8AC3E}">
        <p14:creationId xmlns:p14="http://schemas.microsoft.com/office/powerpoint/2010/main" val="897798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Natural Bond Orbital (NBO) analysis indicated that dispersion interactions between the amide carbonyl </a:t>
            </a:r>
            <a:r>
              <a:rPr lang="el-GR" dirty="0"/>
              <a:t>π-</a:t>
            </a:r>
            <a:r>
              <a:rPr lang="en-US" dirty="0"/>
              <a:t>bonding orbital and the CF₃-pyridine </a:t>
            </a:r>
            <a:r>
              <a:rPr lang="el-GR" dirty="0"/>
              <a:t>π*-</a:t>
            </a:r>
            <a:r>
              <a:rPr lang="en-US" dirty="0"/>
              <a:t>antibonding orbital led to a shorter distance between the carbonyl group and the pyridine ring that </a:t>
            </a:r>
            <a:r>
              <a:rPr lang="en-US" dirty="0" err="1"/>
              <a:t>enhancesselectivity</a:t>
            </a:r>
            <a:r>
              <a:rPr lang="en-US" dirty="0"/>
              <a:t>. The electron-withdrawing nature of CF₃ strengthened these interactions, driving the preference for ortho borylation.</a:t>
            </a:r>
            <a:endParaRPr lang="es-ES" dirty="0"/>
          </a:p>
        </p:txBody>
      </p:sp>
      <p:sp>
        <p:nvSpPr>
          <p:cNvPr id="4" name="Marcador de número de diapositiva 3"/>
          <p:cNvSpPr>
            <a:spLocks noGrp="1"/>
          </p:cNvSpPr>
          <p:nvPr>
            <p:ph type="sldNum" sz="quarter" idx="5"/>
          </p:nvPr>
        </p:nvSpPr>
        <p:spPr/>
        <p:txBody>
          <a:bodyPr/>
          <a:lstStyle/>
          <a:p>
            <a:fld id="{E445D19A-FA26-469A-BDB5-85895D056583}" type="slidenum">
              <a:rPr lang="es-ES" smtClean="0"/>
              <a:t>8</a:t>
            </a:fld>
            <a:endParaRPr lang="es-ES"/>
          </a:p>
        </p:txBody>
      </p:sp>
    </p:spTree>
    <p:extLst>
      <p:ext uri="{BB962C8B-B14F-4D97-AF65-F5344CB8AC3E}">
        <p14:creationId xmlns:p14="http://schemas.microsoft.com/office/powerpoint/2010/main" val="17476848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ligand repositioning alters the complex topology, transitioning from one distorted pentagonal bipyramidal structure to another, where the alkyl and boron groups are better aligned for reductive elimination.</a:t>
            </a:r>
          </a:p>
        </p:txBody>
      </p:sp>
      <p:sp>
        <p:nvSpPr>
          <p:cNvPr id="4" name="Slide Number Placeholder 3"/>
          <p:cNvSpPr>
            <a:spLocks noGrp="1"/>
          </p:cNvSpPr>
          <p:nvPr>
            <p:ph type="sldNum" sz="quarter" idx="5"/>
          </p:nvPr>
        </p:nvSpPr>
        <p:spPr/>
        <p:txBody>
          <a:bodyPr/>
          <a:lstStyle/>
          <a:p>
            <a:fld id="{E445D19A-FA26-469A-BDB5-85895D056583}" type="slidenum">
              <a:rPr lang="es-ES" smtClean="0"/>
              <a:t>9</a:t>
            </a:fld>
            <a:endParaRPr lang="es-ES"/>
          </a:p>
        </p:txBody>
      </p:sp>
    </p:spTree>
    <p:extLst>
      <p:ext uri="{BB962C8B-B14F-4D97-AF65-F5344CB8AC3E}">
        <p14:creationId xmlns:p14="http://schemas.microsoft.com/office/powerpoint/2010/main" val="4056170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this, we explored alternative mechanistic pathways that could better align with these findings. Our computational studies identified a more favorable pathway leading to the reductive elimination step, which involved an isomerization of the ligands after C–H activation.</a:t>
            </a:r>
          </a:p>
        </p:txBody>
      </p:sp>
      <p:sp>
        <p:nvSpPr>
          <p:cNvPr id="4" name="Slide Number Placeholder 3"/>
          <p:cNvSpPr>
            <a:spLocks noGrp="1"/>
          </p:cNvSpPr>
          <p:nvPr>
            <p:ph type="sldNum" sz="quarter" idx="5"/>
          </p:nvPr>
        </p:nvSpPr>
        <p:spPr/>
        <p:txBody>
          <a:bodyPr/>
          <a:lstStyle/>
          <a:p>
            <a:fld id="{E445D19A-FA26-469A-BDB5-85895D056583}" type="slidenum">
              <a:rPr lang="es-ES" smtClean="0"/>
              <a:t>10</a:t>
            </a:fld>
            <a:endParaRPr lang="es-ES"/>
          </a:p>
        </p:txBody>
      </p:sp>
    </p:spTree>
    <p:extLst>
      <p:ext uri="{BB962C8B-B14F-4D97-AF65-F5344CB8AC3E}">
        <p14:creationId xmlns:p14="http://schemas.microsoft.com/office/powerpoint/2010/main" val="31345139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51AC6-E80E-24E4-77E3-EBCE7CBCD4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5C032D1-FF7A-3BF5-B6A2-0EDE93183A9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39D8E8D-E23B-57AA-3871-C54E9DD7DF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So finally, as general conclusions I can say that the work of this PhD thesis has allowed us to discover two new types of chemo- and regioselective iridium-catalyzed borylation reactions, one for the </a:t>
            </a:r>
            <a:r>
              <a:rPr lang="en-US" sz="1800" i="1" kern="100" dirty="0">
                <a:effectLst/>
                <a:latin typeface="Aptos" panose="020B0004020202020204" pitchFamily="34" charset="0"/>
                <a:ea typeface="Aptos" panose="020B0004020202020204" pitchFamily="34" charset="0"/>
                <a:cs typeface="Aptos" panose="020B0004020202020204" pitchFamily="34" charset="0"/>
              </a:rPr>
              <a:t>ortho</a:t>
            </a:r>
            <a:r>
              <a:rPr lang="en-US" sz="1800" kern="100" dirty="0">
                <a:effectLst/>
                <a:latin typeface="Aptos" panose="020B0004020202020204" pitchFamily="34" charset="0"/>
                <a:ea typeface="Aptos" panose="020B0004020202020204" pitchFamily="34" charset="0"/>
                <a:cs typeface="Aptos" panose="020B0004020202020204" pitchFamily="34" charset="0"/>
              </a:rPr>
              <a:t>-borylation of aromatic amides and other for the N-methyl borylation of aliphatic amides.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kern="100" dirty="0">
              <a:effectLst/>
              <a:latin typeface="Aptos" panose="020B0004020202020204" pitchFamily="34" charset="0"/>
              <a:ea typeface="Aptos" panose="020B0004020202020204" pitchFamily="34" charset="0"/>
              <a:cs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Through experimental and computational mechanistic studies, we have identified the existence of unconventional dispersion non-covalent interactions between the substrate and the designed CF</a:t>
            </a:r>
            <a:r>
              <a:rPr lang="en-US" sz="1800" kern="100" baseline="-25000" dirty="0">
                <a:effectLst/>
                <a:latin typeface="Aptos" panose="020B0004020202020204" pitchFamily="34" charset="0"/>
                <a:ea typeface="Aptos" panose="020B0004020202020204" pitchFamily="34" charset="0"/>
                <a:cs typeface="Aptos" panose="020B0004020202020204" pitchFamily="34" charset="0"/>
              </a:rPr>
              <a:t>3</a:t>
            </a:r>
            <a:r>
              <a:rPr lang="en-US" sz="1800" kern="100" dirty="0">
                <a:effectLst/>
                <a:latin typeface="Aptos" panose="020B0004020202020204" pitchFamily="34" charset="0"/>
                <a:ea typeface="Aptos" panose="020B0004020202020204" pitchFamily="34" charset="0"/>
                <a:cs typeface="Aptos" panose="020B0004020202020204" pitchFamily="34" charset="0"/>
              </a:rPr>
              <a:t>-containing bipyridine ligands as the key factor responsible for the controlled reactivity and exceptional selectivity of these reactions.</a:t>
            </a:r>
          </a:p>
          <a:p>
            <a:endParaRPr lang="en-US" dirty="0"/>
          </a:p>
        </p:txBody>
      </p:sp>
      <p:sp>
        <p:nvSpPr>
          <p:cNvPr id="4" name="Marcador de número de diapositiva 3">
            <a:extLst>
              <a:ext uri="{FF2B5EF4-FFF2-40B4-BE49-F238E27FC236}">
                <a16:creationId xmlns:a16="http://schemas.microsoft.com/office/drawing/2014/main" id="{E8D26B60-1D39-34A7-1764-A18FD5FE11A8}"/>
              </a:ext>
            </a:extLst>
          </p:cNvPr>
          <p:cNvSpPr>
            <a:spLocks noGrp="1"/>
          </p:cNvSpPr>
          <p:nvPr>
            <p:ph type="sldNum" sz="quarter" idx="5"/>
          </p:nvPr>
        </p:nvSpPr>
        <p:spPr/>
        <p:txBody>
          <a:bodyPr/>
          <a:lstStyle/>
          <a:p>
            <a:fld id="{E445D19A-FA26-469A-BDB5-85895D056583}" type="slidenum">
              <a:rPr lang="es-ES" smtClean="0"/>
              <a:t>11</a:t>
            </a:fld>
            <a:endParaRPr lang="es-ES"/>
          </a:p>
        </p:txBody>
      </p:sp>
    </p:spTree>
    <p:extLst>
      <p:ext uri="{BB962C8B-B14F-4D97-AF65-F5344CB8AC3E}">
        <p14:creationId xmlns:p14="http://schemas.microsoft.com/office/powerpoint/2010/main" val="34110999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F32B8-A595-D067-74D9-ABE04C3402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233C90D-206B-78E6-80B0-BFD29490905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4843F7-BA4B-E230-CA64-7C67D3625E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So finally, as general conclusions I can say that the work of this PhD thesis has allowed us to discover two new types of chemo- and regioselective iridium-catalyzed borylation reactions, one for the </a:t>
            </a:r>
            <a:r>
              <a:rPr lang="en-US" sz="1800" i="1" kern="100" dirty="0">
                <a:effectLst/>
                <a:latin typeface="Aptos" panose="020B0004020202020204" pitchFamily="34" charset="0"/>
                <a:ea typeface="Aptos" panose="020B0004020202020204" pitchFamily="34" charset="0"/>
                <a:cs typeface="Aptos" panose="020B0004020202020204" pitchFamily="34" charset="0"/>
              </a:rPr>
              <a:t>ortho</a:t>
            </a:r>
            <a:r>
              <a:rPr lang="en-US" sz="1800" kern="100" dirty="0">
                <a:effectLst/>
                <a:latin typeface="Aptos" panose="020B0004020202020204" pitchFamily="34" charset="0"/>
                <a:ea typeface="Aptos" panose="020B0004020202020204" pitchFamily="34" charset="0"/>
                <a:cs typeface="Aptos" panose="020B0004020202020204" pitchFamily="34" charset="0"/>
              </a:rPr>
              <a:t>-borylation of aromatic amides and other for the N-methyl borylation of aliphatic amides.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kern="100" dirty="0">
              <a:effectLst/>
              <a:latin typeface="Aptos" panose="020B0004020202020204" pitchFamily="34" charset="0"/>
              <a:ea typeface="Aptos" panose="020B0004020202020204" pitchFamily="34" charset="0"/>
              <a:cs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Through experimental and computational mechanistic studies, we have identified the existence of unconventional dispersion non-covalent interactions between the substrate and the designed CF</a:t>
            </a:r>
            <a:r>
              <a:rPr lang="en-US" sz="1800" kern="100" baseline="-25000" dirty="0">
                <a:effectLst/>
                <a:latin typeface="Aptos" panose="020B0004020202020204" pitchFamily="34" charset="0"/>
                <a:ea typeface="Aptos" panose="020B0004020202020204" pitchFamily="34" charset="0"/>
                <a:cs typeface="Aptos" panose="020B0004020202020204" pitchFamily="34" charset="0"/>
              </a:rPr>
              <a:t>3</a:t>
            </a:r>
            <a:r>
              <a:rPr lang="en-US" sz="1800" kern="100" dirty="0">
                <a:effectLst/>
                <a:latin typeface="Aptos" panose="020B0004020202020204" pitchFamily="34" charset="0"/>
                <a:ea typeface="Aptos" panose="020B0004020202020204" pitchFamily="34" charset="0"/>
                <a:cs typeface="Aptos" panose="020B0004020202020204" pitchFamily="34" charset="0"/>
              </a:rPr>
              <a:t>-containing bipyridine ligands as the key factor responsible for the controlled reactivity and exceptional selectivity of these reactions.</a:t>
            </a:r>
          </a:p>
          <a:p>
            <a:endParaRPr lang="en-US" dirty="0"/>
          </a:p>
        </p:txBody>
      </p:sp>
      <p:sp>
        <p:nvSpPr>
          <p:cNvPr id="4" name="Marcador de número de diapositiva 3">
            <a:extLst>
              <a:ext uri="{FF2B5EF4-FFF2-40B4-BE49-F238E27FC236}">
                <a16:creationId xmlns:a16="http://schemas.microsoft.com/office/drawing/2014/main" id="{DE7627A5-4A2E-412C-977C-4550820DE312}"/>
              </a:ext>
            </a:extLst>
          </p:cNvPr>
          <p:cNvSpPr>
            <a:spLocks noGrp="1"/>
          </p:cNvSpPr>
          <p:nvPr>
            <p:ph type="sldNum" sz="quarter" idx="5"/>
          </p:nvPr>
        </p:nvSpPr>
        <p:spPr/>
        <p:txBody>
          <a:bodyPr/>
          <a:lstStyle/>
          <a:p>
            <a:fld id="{E445D19A-FA26-469A-BDB5-85895D056583}" type="slidenum">
              <a:rPr lang="es-ES" smtClean="0"/>
              <a:t>12</a:t>
            </a:fld>
            <a:endParaRPr lang="es-ES"/>
          </a:p>
        </p:txBody>
      </p:sp>
    </p:spTree>
    <p:extLst>
      <p:ext uri="{BB962C8B-B14F-4D97-AF65-F5344CB8AC3E}">
        <p14:creationId xmlns:p14="http://schemas.microsoft.com/office/powerpoint/2010/main" val="14758956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GB" dirty="0"/>
              <a:t>Among the different  bioorthogonal transformations based on Transition metal complexes, those involving the formation of C-C bond </a:t>
            </a:r>
            <a:r>
              <a:rPr lang="en-US" sz="1800" dirty="0">
                <a:effectLst/>
                <a:latin typeface="Calibri" panose="020F0502020204030204" pitchFamily="34" charset="0"/>
                <a:ea typeface="Calibri" panose="020F0502020204030204" pitchFamily="34" charset="0"/>
                <a:cs typeface="Times New Roman" panose="02020603050405020304" pitchFamily="18" charset="0"/>
              </a:rPr>
              <a:t>in biological media are very scarce</a:t>
            </a:r>
          </a:p>
        </p:txBody>
      </p:sp>
      <p:sp>
        <p:nvSpPr>
          <p:cNvPr id="4" name="Marcador de número de diapositiva 3"/>
          <p:cNvSpPr>
            <a:spLocks noGrp="1"/>
          </p:cNvSpPr>
          <p:nvPr>
            <p:ph type="sldNum" sz="quarter" idx="5"/>
          </p:nvPr>
        </p:nvSpPr>
        <p:spPr/>
        <p:txBody>
          <a:bodyPr/>
          <a:lstStyle/>
          <a:p>
            <a:fld id="{8C33F115-B880-4D75-A6E1-4114D4376597}" type="slidenum">
              <a:rPr lang="en-GB" smtClean="0"/>
              <a:t>15</a:t>
            </a:fld>
            <a:endParaRPr lang="en-GB"/>
          </a:p>
        </p:txBody>
      </p:sp>
    </p:spTree>
    <p:extLst>
      <p:ext uri="{BB962C8B-B14F-4D97-AF65-F5344CB8AC3E}">
        <p14:creationId xmlns:p14="http://schemas.microsoft.com/office/powerpoint/2010/main" val="13078456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AA201-245E-CC29-86F7-064153C838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BADF67-FF54-27A8-1738-855CA04CFBF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C766D00-A34B-ECCE-78D4-7BF5985AF8C7}"/>
              </a:ext>
            </a:extLst>
          </p:cNvPr>
          <p:cNvSpPr>
            <a:spLocks noGrp="1"/>
          </p:cNvSpPr>
          <p:nvPr>
            <p:ph type="body" idx="1"/>
          </p:nvPr>
        </p:nvSpPr>
        <p:spPr/>
        <p:txBody>
          <a:bodyPr/>
          <a:lstStyle/>
          <a:p>
            <a:r>
              <a:rPr lang="en-GB" dirty="0"/>
              <a:t>Among the different  bioorthogonal transformations based on Transition metal complexes, those involving the formation of C-C bond </a:t>
            </a:r>
            <a:r>
              <a:rPr lang="en-US" sz="1800" dirty="0">
                <a:effectLst/>
                <a:latin typeface="Calibri" panose="020F0502020204030204" pitchFamily="34" charset="0"/>
                <a:ea typeface="Calibri" panose="020F0502020204030204" pitchFamily="34" charset="0"/>
                <a:cs typeface="Times New Roman" panose="02020603050405020304" pitchFamily="18" charset="0"/>
              </a:rPr>
              <a:t>in biological media are very scarce</a:t>
            </a:r>
          </a:p>
        </p:txBody>
      </p:sp>
      <p:sp>
        <p:nvSpPr>
          <p:cNvPr id="4" name="Marcador de número de diapositiva 3">
            <a:extLst>
              <a:ext uri="{FF2B5EF4-FFF2-40B4-BE49-F238E27FC236}">
                <a16:creationId xmlns:a16="http://schemas.microsoft.com/office/drawing/2014/main" id="{E1CECB24-79D1-74DA-7D20-F6C6BB9A1787}"/>
              </a:ext>
            </a:extLst>
          </p:cNvPr>
          <p:cNvSpPr>
            <a:spLocks noGrp="1"/>
          </p:cNvSpPr>
          <p:nvPr>
            <p:ph type="sldNum" sz="quarter" idx="5"/>
          </p:nvPr>
        </p:nvSpPr>
        <p:spPr/>
        <p:txBody>
          <a:bodyPr/>
          <a:lstStyle/>
          <a:p>
            <a:fld id="{8C33F115-B880-4D75-A6E1-4114D4376597}" type="slidenum">
              <a:rPr lang="en-GB" smtClean="0"/>
              <a:t>16</a:t>
            </a:fld>
            <a:endParaRPr lang="en-GB"/>
          </a:p>
        </p:txBody>
      </p:sp>
    </p:spTree>
    <p:extLst>
      <p:ext uri="{BB962C8B-B14F-4D97-AF65-F5344CB8AC3E}">
        <p14:creationId xmlns:p14="http://schemas.microsoft.com/office/powerpoint/2010/main" val="17986167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47714-406A-1BA8-BD57-9DD626FE86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E67523-4D65-5FF8-0286-5E8BDBEBE5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7B91CE3-414A-740E-7BE3-1DB072BD5F4E}"/>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5" name="Footer Placeholder 4">
            <a:extLst>
              <a:ext uri="{FF2B5EF4-FFF2-40B4-BE49-F238E27FC236}">
                <a16:creationId xmlns:a16="http://schemas.microsoft.com/office/drawing/2014/main" id="{1E73A482-69A2-FCE8-BA6C-85C71F804C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357431-255C-66B0-7DED-81678FA4730C}"/>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3743175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C6690-B236-06B3-A607-2F64A30675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5DBD7D-2FF9-1ABD-EF1D-B2787D7E7E2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B39C77-9801-B047-309C-DC0475849BDE}"/>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5" name="Footer Placeholder 4">
            <a:extLst>
              <a:ext uri="{FF2B5EF4-FFF2-40B4-BE49-F238E27FC236}">
                <a16:creationId xmlns:a16="http://schemas.microsoft.com/office/drawing/2014/main" id="{B28C37B4-5B41-8A82-1A82-C03F2DFC3F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696F0F-74E2-2447-1F89-FB26A8B821BC}"/>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364485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A53D8-1FD2-0CC4-4B3E-273B4E59B1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41137C5-1805-BCB2-141C-F3E2C6CB16D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6166F68-95E4-24FF-C3B4-8A0F199B5DAD}"/>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5" name="Footer Placeholder 4">
            <a:extLst>
              <a:ext uri="{FF2B5EF4-FFF2-40B4-BE49-F238E27FC236}">
                <a16:creationId xmlns:a16="http://schemas.microsoft.com/office/drawing/2014/main" id="{D9BB49E1-B355-F9DE-F718-4049831BA8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90C47E-7088-6401-9EE7-98B339A18747}"/>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19290791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65552-08ED-AC25-23E0-C4B2AD94362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43ACF6-D6BA-C741-C751-11A9311509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9773C1-4112-3D05-9418-B353A0CCDDC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03F260E-2134-670D-033B-3E49EF1B7056}"/>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6" name="Footer Placeholder 5">
            <a:extLst>
              <a:ext uri="{FF2B5EF4-FFF2-40B4-BE49-F238E27FC236}">
                <a16:creationId xmlns:a16="http://schemas.microsoft.com/office/drawing/2014/main" id="{AF0C2769-39B6-C5AE-84C8-5067538BCDF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F6F397-F90D-023B-B153-4C4B6140C307}"/>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9763591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22BFAA-B9D2-3940-B797-388787C9CAA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BC63E9-C8B8-FD61-1541-845CA2B2B1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92FACC-806B-12CD-AC21-2192E8BFDA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BE1C168-0930-A981-F31B-C58179BD192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8DB15A-BE53-69C6-1093-BC4F5FFCB6C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3D117D-E4E3-9D32-177B-BFCA20DC71E1}"/>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8" name="Footer Placeholder 7">
            <a:extLst>
              <a:ext uri="{FF2B5EF4-FFF2-40B4-BE49-F238E27FC236}">
                <a16:creationId xmlns:a16="http://schemas.microsoft.com/office/drawing/2014/main" id="{4BB5E064-8FEB-304B-FAB5-23A7AC34ED6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2A3435-BEEA-B2FD-9FD1-73010B74F7DD}"/>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159677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D9FB7-C6C0-A93A-B24F-0D208FD63BB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06D2E3D-FA9B-82EC-E6EF-125E4CFC2DC2}"/>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4" name="Footer Placeholder 3">
            <a:extLst>
              <a:ext uri="{FF2B5EF4-FFF2-40B4-BE49-F238E27FC236}">
                <a16:creationId xmlns:a16="http://schemas.microsoft.com/office/drawing/2014/main" id="{9B494B15-0E58-3BC8-6810-211431B8E5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229E9A-2033-0527-1449-D76A251859A2}"/>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4123330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317153-75AD-8F37-D560-695FB0268633}"/>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3" name="Footer Placeholder 2">
            <a:extLst>
              <a:ext uri="{FF2B5EF4-FFF2-40B4-BE49-F238E27FC236}">
                <a16:creationId xmlns:a16="http://schemas.microsoft.com/office/drawing/2014/main" id="{7F5947B4-7297-4AB6-B7D6-31225681150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32CFE6-2CB4-79BF-D91F-36CD867D20D4}"/>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177072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E29EC-679F-7A65-4180-6A9319A001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0088D7D-1940-2EB1-B6ED-E5D9105A4A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83F2C51-2E40-8E06-A5A6-83C0B8BCB4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5296B3-4479-6121-3AC9-DC0C3946B4E3}"/>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6" name="Footer Placeholder 5">
            <a:extLst>
              <a:ext uri="{FF2B5EF4-FFF2-40B4-BE49-F238E27FC236}">
                <a16:creationId xmlns:a16="http://schemas.microsoft.com/office/drawing/2014/main" id="{A47C945E-1D1E-7897-9B09-7A2D5326B7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98B416-3E5C-F4D4-3A69-345592968B5D}"/>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398311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D25C6-9725-249D-F456-CD35CFE3B4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8BC2A80-76B9-C788-79C6-C7DEAE11A5F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E7E11F-AA88-AAE7-3168-330A0E1CCB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9BE09-81E8-25D4-593F-D39158CD5BAF}"/>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6" name="Footer Placeholder 5">
            <a:extLst>
              <a:ext uri="{FF2B5EF4-FFF2-40B4-BE49-F238E27FC236}">
                <a16:creationId xmlns:a16="http://schemas.microsoft.com/office/drawing/2014/main" id="{9AD26F19-5F1A-63DF-5546-F784013382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2CE984-DC55-69BE-345C-4AA2B1771AD6}"/>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4105462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F1780-F6C9-0539-A308-A48F459750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F553DB-0693-16EE-97CA-A97EBDCC784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8B855D-DD09-B9EA-2946-356D36788E32}"/>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5" name="Footer Placeholder 4">
            <a:extLst>
              <a:ext uri="{FF2B5EF4-FFF2-40B4-BE49-F238E27FC236}">
                <a16:creationId xmlns:a16="http://schemas.microsoft.com/office/drawing/2014/main" id="{D83F4845-FA4D-A79F-A237-3552922AD3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46C3F3-8581-F2D3-B8B5-590D2AF6599C}"/>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34489795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39CD610-0509-5F05-809B-01DEE48DCE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FF46810-8324-4639-344D-F2896F81C6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C454F5-9FB3-A15B-4A27-4DEE85A0B502}"/>
              </a:ext>
            </a:extLst>
          </p:cNvPr>
          <p:cNvSpPr>
            <a:spLocks noGrp="1"/>
          </p:cNvSpPr>
          <p:nvPr>
            <p:ph type="dt" sz="half" idx="10"/>
          </p:nvPr>
        </p:nvSpPr>
        <p:spPr/>
        <p:txBody>
          <a:bodyPr/>
          <a:lstStyle/>
          <a:p>
            <a:fld id="{022C2084-AD87-5C47-9A18-A1CA9E0EEEF4}" type="datetimeFigureOut">
              <a:rPr lang="en-US" smtClean="0"/>
              <a:t>1/2/26</a:t>
            </a:fld>
            <a:endParaRPr lang="en-US"/>
          </a:p>
        </p:txBody>
      </p:sp>
      <p:sp>
        <p:nvSpPr>
          <p:cNvPr id="5" name="Footer Placeholder 4">
            <a:extLst>
              <a:ext uri="{FF2B5EF4-FFF2-40B4-BE49-F238E27FC236}">
                <a16:creationId xmlns:a16="http://schemas.microsoft.com/office/drawing/2014/main" id="{1CD9EC36-BF6F-674D-AB45-0A5DF66B5E4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0085FA-DBA5-2497-3845-D6AE12B878A8}"/>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1267705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iapositiva-5">
    <p:spTree>
      <p:nvGrpSpPr>
        <p:cNvPr id="1" name=""/>
        <p:cNvGrpSpPr/>
        <p:nvPr/>
      </p:nvGrpSpPr>
      <p:grpSpPr>
        <a:xfrm>
          <a:off x="0" y="0"/>
          <a:ext cx="0" cy="0"/>
          <a:chOff x="0" y="0"/>
          <a:chExt cx="0" cy="0"/>
        </a:xfrm>
      </p:grpSpPr>
      <p:sp>
        <p:nvSpPr>
          <p:cNvPr id="2" name="Title 1"/>
          <p:cNvSpPr>
            <a:spLocks noGrp="1"/>
          </p:cNvSpPr>
          <p:nvPr>
            <p:ph type="title"/>
          </p:nvPr>
        </p:nvSpPr>
        <p:spPr>
          <a:xfrm>
            <a:off x="2889908" y="134272"/>
            <a:ext cx="6412184" cy="375552"/>
          </a:xfrm>
          <a:prstGeom prst="rect">
            <a:avLst/>
          </a:prstGeom>
          <a:noFill/>
        </p:spPr>
        <p:txBody>
          <a:bodyPr wrap="square" rtlCol="0">
            <a:spAutoFit/>
          </a:bodyPr>
          <a:lstStyle>
            <a:lvl1pPr algn="ctr">
              <a:defRPr lang="en-US" sz="2000" b="1" dirty="0">
                <a:solidFill>
                  <a:schemeClr val="bg2"/>
                </a:solidFill>
                <a:latin typeface="Avenir Book" panose="02000503020000020003" pitchFamily="2" charset="0"/>
                <a:ea typeface="+mn-ea"/>
                <a:cs typeface="Arial" panose="020B0604020202020204" pitchFamily="34" charset="0"/>
              </a:defRPr>
            </a:lvl1pPr>
          </a:lstStyle>
          <a:p>
            <a:pPr marL="0" lvl="0" defTabSz="457200"/>
            <a:r>
              <a:rPr lang="en-US"/>
              <a:t>Click to edit Master title style</a:t>
            </a:r>
            <a:endParaRPr lang="en-US" dirty="0"/>
          </a:p>
        </p:txBody>
      </p:sp>
      <p:sp>
        <p:nvSpPr>
          <p:cNvPr id="4" name="Marcador de número de diapositiva 7">
            <a:extLst>
              <a:ext uri="{FF2B5EF4-FFF2-40B4-BE49-F238E27FC236}">
                <a16:creationId xmlns:a16="http://schemas.microsoft.com/office/drawing/2014/main" id="{40991876-DF20-F3A7-8507-9E242412904D}"/>
              </a:ext>
            </a:extLst>
          </p:cNvPr>
          <p:cNvSpPr>
            <a:spLocks noGrp="1"/>
          </p:cNvSpPr>
          <p:nvPr>
            <p:ph type="sldNum" sz="quarter" idx="12"/>
          </p:nvPr>
        </p:nvSpPr>
        <p:spPr>
          <a:xfrm>
            <a:off x="9448800" y="6492875"/>
            <a:ext cx="2743200" cy="365125"/>
          </a:xfrm>
        </p:spPr>
        <p:txBody>
          <a:bodyPr/>
          <a:lstStyle>
            <a:lvl1pPr>
              <a:defRPr sz="1200">
                <a:latin typeface="Avenir Book" panose="02000503020000020003" pitchFamily="2" charset="0"/>
              </a:defRPr>
            </a:lvl1pPr>
          </a:lstStyle>
          <a:p>
            <a:fld id="{F239F8D8-5C05-A645-B085-4DA653486E73}" type="slidenum">
              <a:rPr lang="en-US" smtClean="0"/>
              <a:pPr/>
              <a:t>‹#›</a:t>
            </a:fld>
            <a:endParaRPr lang="en-US"/>
          </a:p>
        </p:txBody>
      </p:sp>
    </p:spTree>
    <p:extLst>
      <p:ext uri="{BB962C8B-B14F-4D97-AF65-F5344CB8AC3E}">
        <p14:creationId xmlns:p14="http://schemas.microsoft.com/office/powerpoint/2010/main" val="3853555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64CCA9-C33C-B43D-BFC9-6F3AC42006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DE8B592-D1BC-D486-CC86-B742DE32F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486B16-DB51-6CD2-EF29-76BF8F4FB3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22C2084-AD87-5C47-9A18-A1CA9E0EEEF4}" type="datetimeFigureOut">
              <a:rPr lang="en-US" smtClean="0"/>
              <a:t>1/2/26</a:t>
            </a:fld>
            <a:endParaRPr lang="en-US"/>
          </a:p>
        </p:txBody>
      </p:sp>
      <p:sp>
        <p:nvSpPr>
          <p:cNvPr id="5" name="Footer Placeholder 4">
            <a:extLst>
              <a:ext uri="{FF2B5EF4-FFF2-40B4-BE49-F238E27FC236}">
                <a16:creationId xmlns:a16="http://schemas.microsoft.com/office/drawing/2014/main" id="{42486E1A-20BD-FD63-4A94-2923F43BC6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B62ACC0-FA69-1C50-36EB-23B0E7192B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EA6020-A31D-0B44-A655-2592C1F93005}" type="slidenum">
              <a:rPr lang="en-US" smtClean="0"/>
              <a:t>‹#›</a:t>
            </a:fld>
            <a:endParaRPr lang="en-US"/>
          </a:p>
        </p:txBody>
      </p:sp>
    </p:spTree>
    <p:extLst>
      <p:ext uri="{BB962C8B-B14F-4D97-AF65-F5344CB8AC3E}">
        <p14:creationId xmlns:p14="http://schemas.microsoft.com/office/powerpoint/2010/main" val="23769403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microsoft.com/office/2007/relationships/hdphoto" Target="../media/hdphoto2.wdp"/><Relationship Id="rId13" Type="http://schemas.openxmlformats.org/officeDocument/2006/relationships/image" Target="../media/image10.png"/><Relationship Id="rId18" Type="http://schemas.openxmlformats.org/officeDocument/2006/relationships/image" Target="../media/image13.emf"/><Relationship Id="rId3" Type="http://schemas.openxmlformats.org/officeDocument/2006/relationships/image" Target="../media/image2.emf"/><Relationship Id="rId7" Type="http://schemas.openxmlformats.org/officeDocument/2006/relationships/image" Target="../media/image5.png"/><Relationship Id="rId12" Type="http://schemas.openxmlformats.org/officeDocument/2006/relationships/image" Target="../media/image9.emf"/><Relationship Id="rId17" Type="http://schemas.microsoft.com/office/2007/relationships/hdphoto" Target="../media/hdphoto4.wdp"/><Relationship Id="rId2" Type="http://schemas.openxmlformats.org/officeDocument/2006/relationships/image" Target="../media/image1.png"/><Relationship Id="rId16"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4.emf"/><Relationship Id="rId11" Type="http://schemas.openxmlformats.org/officeDocument/2006/relationships/image" Target="../media/image8.svg"/><Relationship Id="rId5" Type="http://schemas.microsoft.com/office/2007/relationships/hdphoto" Target="../media/hdphoto1.wdp"/><Relationship Id="rId15" Type="http://schemas.openxmlformats.org/officeDocument/2006/relationships/image" Target="../media/image11.emf"/><Relationship Id="rId10" Type="http://schemas.openxmlformats.org/officeDocument/2006/relationships/image" Target="../media/image7.png"/><Relationship Id="rId4" Type="http://schemas.openxmlformats.org/officeDocument/2006/relationships/image" Target="../media/image3.png"/><Relationship Id="rId9" Type="http://schemas.openxmlformats.org/officeDocument/2006/relationships/image" Target="../media/image6.emf"/><Relationship Id="rId14" Type="http://schemas.microsoft.com/office/2007/relationships/hdphoto" Target="../media/hdphoto3.wdp"/></Relationships>
</file>

<file path=ppt/slides/_rels/slide2.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15.emf"/></Relationships>
</file>

<file path=ppt/slides/_rels/slide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16.emf"/><Relationship Id="rId5" Type="http://schemas.openxmlformats.org/officeDocument/2006/relationships/image" Target="../media/image18.emf"/><Relationship Id="rId4" Type="http://schemas.microsoft.com/office/2007/relationships/hdphoto" Target="../media/hdphoto5.wdp"/></Relationships>
</file>

<file path=ppt/slides/_rels/slide5.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22.emf"/><Relationship Id="rId5" Type="http://schemas.openxmlformats.org/officeDocument/2006/relationships/image" Target="../media/image21.emf"/><Relationship Id="rId4" Type="http://schemas.openxmlformats.org/officeDocument/2006/relationships/image" Target="../media/image20.emf"/></Relationships>
</file>

<file path=ppt/slides/_rels/slide6.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25.tif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8" Type="http://schemas.openxmlformats.org/officeDocument/2006/relationships/image" Target="../media/image31.emf"/><Relationship Id="rId3" Type="http://schemas.openxmlformats.org/officeDocument/2006/relationships/image" Target="../media/image26.emf"/><Relationship Id="rId7" Type="http://schemas.openxmlformats.org/officeDocument/2006/relationships/image" Target="../media/image30.emf"/><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29.emf"/><Relationship Id="rId5" Type="http://schemas.openxmlformats.org/officeDocument/2006/relationships/image" Target="../media/image28.emf"/><Relationship Id="rId4" Type="http://schemas.openxmlformats.org/officeDocument/2006/relationships/image" Target="../media/image27.emf"/></Relationships>
</file>

<file path=ppt/slides/_rels/slide10.xml.rels><?xml version="1.0" encoding="UTF-8" standalone="yes"?>
<Relationships xmlns="http://schemas.openxmlformats.org/package/2006/relationships"><Relationship Id="rId8" Type="http://schemas.openxmlformats.org/officeDocument/2006/relationships/image" Target="../media/image35.emf"/><Relationship Id="rId3" Type="http://schemas.openxmlformats.org/officeDocument/2006/relationships/image" Target="../media/image26.emf"/><Relationship Id="rId7" Type="http://schemas.openxmlformats.org/officeDocument/2006/relationships/image" Target="../media/image34.emf"/><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33.emf"/><Relationship Id="rId11" Type="http://schemas.openxmlformats.org/officeDocument/2006/relationships/image" Target="../media/image27.emf"/><Relationship Id="rId5" Type="http://schemas.openxmlformats.org/officeDocument/2006/relationships/image" Target="../media/image32.emf"/><Relationship Id="rId10" Type="http://schemas.openxmlformats.org/officeDocument/2006/relationships/image" Target="../media/image31.emf"/><Relationship Id="rId4" Type="http://schemas.openxmlformats.org/officeDocument/2006/relationships/image" Target="../media/image28.emf"/><Relationship Id="rId9" Type="http://schemas.openxmlformats.org/officeDocument/2006/relationships/image" Target="../media/image36.emf"/></Relationships>
</file>

<file path=ppt/slides/_rels/slide11.xml.rels><?xml version="1.0" encoding="UTF-8" standalone="yes"?>
<Relationships xmlns="http://schemas.openxmlformats.org/package/2006/relationships"><Relationship Id="rId8" Type="http://schemas.openxmlformats.org/officeDocument/2006/relationships/image" Target="../media/image42.emf"/><Relationship Id="rId3" Type="http://schemas.openxmlformats.org/officeDocument/2006/relationships/image" Target="../media/image37.emf"/><Relationship Id="rId7" Type="http://schemas.openxmlformats.org/officeDocument/2006/relationships/image" Target="../media/image41.emf"/><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40.emf"/><Relationship Id="rId5" Type="http://schemas.openxmlformats.org/officeDocument/2006/relationships/image" Target="../media/image39.emf"/><Relationship Id="rId4" Type="http://schemas.openxmlformats.org/officeDocument/2006/relationships/image" Target="../media/image38.emf"/></Relationships>
</file>

<file path=ppt/slides/_rels/slide12.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44.emf"/><Relationship Id="rId5" Type="http://schemas.openxmlformats.org/officeDocument/2006/relationships/image" Target="../media/image43.emf"/><Relationship Id="rId4" Type="http://schemas.openxmlformats.org/officeDocument/2006/relationships/image" Target="../media/image38.emf"/></Relationships>
</file>

<file path=ppt/slides/_rels/slide1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emf"/></Relationships>
</file>

<file path=ppt/slides/_rels/slide17.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56.emf"/><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image" Target="../media/image51.emf"/><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Freeform 47">
            <a:extLst>
              <a:ext uri="{FF2B5EF4-FFF2-40B4-BE49-F238E27FC236}">
                <a16:creationId xmlns:a16="http://schemas.microsoft.com/office/drawing/2014/main" id="{E87C1E25-C41C-FFC7-A3F3-89B61EF7F09F}"/>
              </a:ext>
            </a:extLst>
          </p:cNvPr>
          <p:cNvSpPr/>
          <p:nvPr/>
        </p:nvSpPr>
        <p:spPr>
          <a:xfrm>
            <a:off x="7887711" y="942780"/>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49" name="Freeform 48">
            <a:extLst>
              <a:ext uri="{FF2B5EF4-FFF2-40B4-BE49-F238E27FC236}">
                <a16:creationId xmlns:a16="http://schemas.microsoft.com/office/drawing/2014/main" id="{4EEFC4CC-1391-E22A-17A8-9988BF3DBE4A}"/>
              </a:ext>
            </a:extLst>
          </p:cNvPr>
          <p:cNvSpPr/>
          <p:nvPr/>
        </p:nvSpPr>
        <p:spPr>
          <a:xfrm>
            <a:off x="4441126" y="942780"/>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0" name="Freeform 49">
            <a:extLst>
              <a:ext uri="{FF2B5EF4-FFF2-40B4-BE49-F238E27FC236}">
                <a16:creationId xmlns:a16="http://schemas.microsoft.com/office/drawing/2014/main" id="{733E8A1B-792B-BC38-C19D-4213E8F8DDF4}"/>
              </a:ext>
            </a:extLst>
          </p:cNvPr>
          <p:cNvSpPr/>
          <p:nvPr/>
        </p:nvSpPr>
        <p:spPr>
          <a:xfrm>
            <a:off x="68419" y="2501949"/>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1" name="Freeform 50">
            <a:extLst>
              <a:ext uri="{FF2B5EF4-FFF2-40B4-BE49-F238E27FC236}">
                <a16:creationId xmlns:a16="http://schemas.microsoft.com/office/drawing/2014/main" id="{03CCE533-CF5A-12F0-56C5-841F5E1B4ADF}"/>
              </a:ext>
            </a:extLst>
          </p:cNvPr>
          <p:cNvSpPr/>
          <p:nvPr/>
        </p:nvSpPr>
        <p:spPr>
          <a:xfrm>
            <a:off x="2659219" y="4084564"/>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2" name="Freeform 51">
            <a:extLst>
              <a:ext uri="{FF2B5EF4-FFF2-40B4-BE49-F238E27FC236}">
                <a16:creationId xmlns:a16="http://schemas.microsoft.com/office/drawing/2014/main" id="{6B749B4F-E0EA-0C0C-3F52-B11F01819CA9}"/>
              </a:ext>
            </a:extLst>
          </p:cNvPr>
          <p:cNvSpPr/>
          <p:nvPr/>
        </p:nvSpPr>
        <p:spPr>
          <a:xfrm>
            <a:off x="6164419" y="407284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3" name="Freeform 52">
            <a:extLst>
              <a:ext uri="{FF2B5EF4-FFF2-40B4-BE49-F238E27FC236}">
                <a16:creationId xmlns:a16="http://schemas.microsoft.com/office/drawing/2014/main" id="{6F008490-C9D0-83E5-DC95-1907E0C73F83}"/>
              </a:ext>
            </a:extLst>
          </p:cNvPr>
          <p:cNvSpPr/>
          <p:nvPr/>
        </p:nvSpPr>
        <p:spPr>
          <a:xfrm>
            <a:off x="10490234" y="2501950"/>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4" name="Freeform 3">
            <a:extLst>
              <a:ext uri="{FF2B5EF4-FFF2-40B4-BE49-F238E27FC236}">
                <a16:creationId xmlns:a16="http://schemas.microsoft.com/office/drawing/2014/main" id="{37559345-065B-DACA-82E9-1B6BA14DF960}"/>
              </a:ext>
            </a:extLst>
          </p:cNvPr>
          <p:cNvSpPr/>
          <p:nvPr/>
        </p:nvSpPr>
        <p:spPr>
          <a:xfrm>
            <a:off x="5302615"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w="63500">
            <a:solidFill>
              <a:schemeClr val="bg2">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7163" tIns="284097" rIns="247164" bIns="284096" numCol="1" spcCol="1270" anchor="ctr" anchorCtr="0">
            <a:noAutofit/>
          </a:bodyPr>
          <a:lstStyle/>
          <a:p>
            <a:pPr marL="0" lvl="0" indent="0" algn="ctr" defTabSz="1600200">
              <a:lnSpc>
                <a:spcPct val="90000"/>
              </a:lnSpc>
              <a:spcBef>
                <a:spcPct val="0"/>
              </a:spcBef>
              <a:spcAft>
                <a:spcPct val="35000"/>
              </a:spcAft>
              <a:buNone/>
            </a:pPr>
            <a:endParaRPr lang="en-US" sz="3600" kern="1200" noProof="0" dirty="0"/>
          </a:p>
        </p:txBody>
      </p:sp>
      <p:sp>
        <p:nvSpPr>
          <p:cNvPr id="5" name="Título 1">
            <a:extLst>
              <a:ext uri="{FF2B5EF4-FFF2-40B4-BE49-F238E27FC236}">
                <a16:creationId xmlns:a16="http://schemas.microsoft.com/office/drawing/2014/main" id="{DB807599-BEFD-39F8-4316-4411F3D5958C}"/>
              </a:ext>
            </a:extLst>
          </p:cNvPr>
          <p:cNvSpPr txBox="1">
            <a:spLocks/>
          </p:cNvSpPr>
          <p:nvPr/>
        </p:nvSpPr>
        <p:spPr>
          <a:xfrm>
            <a:off x="5385845" y="3105836"/>
            <a:ext cx="1420310" cy="646331"/>
          </a:xfrm>
          <a:prstGeom prst="rect">
            <a:avLst/>
          </a:prstGeom>
        </p:spPr>
        <p:txBody>
          <a:bodyPr vert="horz" lIns="91440" tIns="45720" rIns="91440" bIns="45720" rtlCol="0" anchor="b">
            <a:normAutofit fontScale="3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a:latin typeface="+mn-lt"/>
              </a:rPr>
              <a:t>Organic</a:t>
            </a:r>
            <a:br>
              <a:rPr lang="en-US">
                <a:latin typeface="+mn-lt"/>
              </a:rPr>
            </a:br>
            <a:r>
              <a:rPr lang="en-US">
                <a:latin typeface="+mn-lt"/>
              </a:rPr>
              <a:t>chemistry</a:t>
            </a:r>
            <a:endParaRPr lang="en-US" sz="1100" dirty="0">
              <a:latin typeface="+mn-lt"/>
            </a:endParaRPr>
          </a:p>
        </p:txBody>
      </p:sp>
      <p:grpSp>
        <p:nvGrpSpPr>
          <p:cNvPr id="6" name="Group 5">
            <a:extLst>
              <a:ext uri="{FF2B5EF4-FFF2-40B4-BE49-F238E27FC236}">
                <a16:creationId xmlns:a16="http://schemas.microsoft.com/office/drawing/2014/main" id="{E1B8A259-5E01-8B93-51BD-527DAC6DE3B8}"/>
              </a:ext>
            </a:extLst>
          </p:cNvPr>
          <p:cNvGrpSpPr/>
          <p:nvPr/>
        </p:nvGrpSpPr>
        <p:grpSpPr>
          <a:xfrm>
            <a:off x="83128" y="942781"/>
            <a:ext cx="4207782" cy="3407860"/>
            <a:chOff x="83128" y="942781"/>
            <a:chExt cx="4207782" cy="3407860"/>
          </a:xfrm>
        </p:grpSpPr>
        <p:grpSp>
          <p:nvGrpSpPr>
            <p:cNvPr id="7" name="Group 6">
              <a:extLst>
                <a:ext uri="{FF2B5EF4-FFF2-40B4-BE49-F238E27FC236}">
                  <a16:creationId xmlns:a16="http://schemas.microsoft.com/office/drawing/2014/main" id="{787E967C-C227-A2CB-7CA8-69F0DBB607C0}"/>
                </a:ext>
              </a:extLst>
            </p:cNvPr>
            <p:cNvGrpSpPr/>
            <p:nvPr/>
          </p:nvGrpSpPr>
          <p:grpSpPr>
            <a:xfrm>
              <a:off x="83128" y="942781"/>
              <a:ext cx="4207782" cy="3407860"/>
              <a:chOff x="83128" y="942781"/>
              <a:chExt cx="4207782" cy="3407860"/>
            </a:xfrm>
            <a:solidFill>
              <a:schemeClr val="accent1">
                <a:lumMod val="20000"/>
                <a:lumOff val="80000"/>
              </a:schemeClr>
            </a:solidFill>
          </p:grpSpPr>
          <p:sp>
            <p:nvSpPr>
              <p:cNvPr id="10" name="Freeform 9">
                <a:extLst>
                  <a:ext uri="{FF2B5EF4-FFF2-40B4-BE49-F238E27FC236}">
                    <a16:creationId xmlns:a16="http://schemas.microsoft.com/office/drawing/2014/main" id="{30211784-8C24-5DF0-C506-F282D125FBD9}"/>
                  </a:ext>
                </a:extLst>
              </p:cNvPr>
              <p:cNvSpPr/>
              <p:nvPr/>
            </p:nvSpPr>
            <p:spPr>
              <a:xfrm>
                <a:off x="2687253"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2"/>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353843" tIns="390777" rIns="353844" bIns="390776" numCol="1" spcCol="1270" anchor="ctr" anchorCtr="0">
                <a:noAutofit/>
              </a:bodyPr>
              <a:lstStyle/>
              <a:p>
                <a:pPr marL="0" lvl="0" indent="0" algn="ctr" defTabSz="1244600">
                  <a:lnSpc>
                    <a:spcPct val="90000"/>
                  </a:lnSpc>
                  <a:spcBef>
                    <a:spcPct val="0"/>
                  </a:spcBef>
                  <a:spcAft>
                    <a:spcPct val="35000"/>
                  </a:spcAft>
                  <a:buNone/>
                </a:pPr>
                <a:endParaRPr lang="en-US" sz="2800" kern="1200" noProof="0" dirty="0"/>
              </a:p>
            </p:txBody>
          </p:sp>
          <p:sp>
            <p:nvSpPr>
              <p:cNvPr id="11" name="Freeform 10">
                <a:extLst>
                  <a:ext uri="{FF2B5EF4-FFF2-40B4-BE49-F238E27FC236}">
                    <a16:creationId xmlns:a16="http://schemas.microsoft.com/office/drawing/2014/main" id="{4D72E920-478A-3B8E-4B6F-D5CDA19B4B81}"/>
                  </a:ext>
                </a:extLst>
              </p:cNvPr>
              <p:cNvSpPr/>
              <p:nvPr/>
            </p:nvSpPr>
            <p:spPr>
              <a:xfrm>
                <a:off x="935761"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6"/>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600200">
                  <a:lnSpc>
                    <a:spcPct val="90000"/>
                  </a:lnSpc>
                  <a:spcBef>
                    <a:spcPct val="0"/>
                  </a:spcBef>
                  <a:spcAft>
                    <a:spcPct val="35000"/>
                  </a:spcAft>
                  <a:buNone/>
                </a:pPr>
                <a:r>
                  <a:rPr lang="en-US" sz="1600" kern="1200" noProof="0" dirty="0">
                    <a:solidFill>
                      <a:schemeClr val="tx1"/>
                    </a:solidFill>
                  </a:rPr>
                  <a:t>Organic dyes</a:t>
                </a:r>
              </a:p>
            </p:txBody>
          </p:sp>
          <p:sp>
            <p:nvSpPr>
              <p:cNvPr id="12" name="Freeform 11">
                <a:extLst>
                  <a:ext uri="{FF2B5EF4-FFF2-40B4-BE49-F238E27FC236}">
                    <a16:creationId xmlns:a16="http://schemas.microsoft.com/office/drawing/2014/main" id="{F4EBC8BD-68AF-0D33-1896-75F6A51D4CCC}"/>
                  </a:ext>
                </a:extLst>
              </p:cNvPr>
              <p:cNvSpPr/>
              <p:nvPr/>
            </p:nvSpPr>
            <p:spPr>
              <a:xfrm>
                <a:off x="83128"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6"/>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7163" tIns="284097" rIns="247164" bIns="284096" numCol="1" spcCol="1270" anchor="ctr" anchorCtr="0">
                <a:noAutofit/>
              </a:bodyPr>
              <a:lstStyle/>
              <a:p>
                <a:pPr marL="0" lvl="0" indent="0" algn="ctr" defTabSz="1600200">
                  <a:lnSpc>
                    <a:spcPct val="90000"/>
                  </a:lnSpc>
                  <a:spcBef>
                    <a:spcPct val="0"/>
                  </a:spcBef>
                  <a:spcAft>
                    <a:spcPct val="35000"/>
                  </a:spcAft>
                  <a:buNone/>
                </a:pPr>
                <a:endParaRPr lang="en-US" sz="3600" kern="1200" noProof="0" dirty="0"/>
              </a:p>
            </p:txBody>
          </p:sp>
        </p:grpSp>
        <p:pic>
          <p:nvPicPr>
            <p:cNvPr id="8" name="Picture 7">
              <a:extLst>
                <a:ext uri="{FF2B5EF4-FFF2-40B4-BE49-F238E27FC236}">
                  <a16:creationId xmlns:a16="http://schemas.microsoft.com/office/drawing/2014/main" id="{DB0FAE10-3F6D-47B9-3BC0-3C34346975EB}"/>
                </a:ext>
              </a:extLst>
            </p:cNvPr>
            <p:cNvPicPr>
              <a:picLocks noChangeAspect="1"/>
            </p:cNvPicPr>
            <p:nvPr/>
          </p:nvPicPr>
          <p:blipFill>
            <a:blip r:embed="rId3"/>
            <a:stretch>
              <a:fillRect/>
            </a:stretch>
          </p:blipFill>
          <p:spPr>
            <a:xfrm>
              <a:off x="161056" y="2999854"/>
              <a:ext cx="1447800" cy="800100"/>
            </a:xfrm>
            <a:prstGeom prst="rect">
              <a:avLst/>
            </a:prstGeom>
          </p:spPr>
        </p:pic>
        <p:sp>
          <p:nvSpPr>
            <p:cNvPr id="9" name="Título 1">
              <a:extLst>
                <a:ext uri="{FF2B5EF4-FFF2-40B4-BE49-F238E27FC236}">
                  <a16:creationId xmlns:a16="http://schemas.microsoft.com/office/drawing/2014/main" id="{5660E84C-BF3B-1080-88BA-8C64596BFAE1}"/>
                </a:ext>
              </a:extLst>
            </p:cNvPr>
            <p:cNvSpPr txBox="1">
              <a:spLocks/>
            </p:cNvSpPr>
            <p:nvPr/>
          </p:nvSpPr>
          <p:spPr>
            <a:xfrm>
              <a:off x="442861" y="3752167"/>
              <a:ext cx="862655"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indigo</a:t>
              </a:r>
              <a:endParaRPr lang="en-US" sz="900" b="0" i="1" dirty="0">
                <a:solidFill>
                  <a:schemeClr val="accent1"/>
                </a:solidFill>
                <a:latin typeface="+mn-lt"/>
              </a:endParaRPr>
            </a:p>
          </p:txBody>
        </p:sp>
      </p:grpSp>
      <p:grpSp>
        <p:nvGrpSpPr>
          <p:cNvPr id="13" name="Group 12">
            <a:extLst>
              <a:ext uri="{FF2B5EF4-FFF2-40B4-BE49-F238E27FC236}">
                <a16:creationId xmlns:a16="http://schemas.microsoft.com/office/drawing/2014/main" id="{FBF27813-3878-AE23-5108-FC2FF23FE363}"/>
              </a:ext>
            </a:extLst>
          </p:cNvPr>
          <p:cNvGrpSpPr/>
          <p:nvPr/>
        </p:nvGrpSpPr>
        <p:grpSpPr>
          <a:xfrm>
            <a:off x="7897219" y="2507358"/>
            <a:ext cx="4211654" cy="3407862"/>
            <a:chOff x="7897219" y="2507358"/>
            <a:chExt cx="4211654" cy="3407862"/>
          </a:xfrm>
        </p:grpSpPr>
        <p:grpSp>
          <p:nvGrpSpPr>
            <p:cNvPr id="14" name="Group 13">
              <a:extLst>
                <a:ext uri="{FF2B5EF4-FFF2-40B4-BE49-F238E27FC236}">
                  <a16:creationId xmlns:a16="http://schemas.microsoft.com/office/drawing/2014/main" id="{7F32C9AF-87BD-36B0-A864-E63734FB3ED7}"/>
                </a:ext>
              </a:extLst>
            </p:cNvPr>
            <p:cNvGrpSpPr/>
            <p:nvPr/>
          </p:nvGrpSpPr>
          <p:grpSpPr>
            <a:xfrm>
              <a:off x="7897219" y="2507358"/>
              <a:ext cx="4211654" cy="3407862"/>
              <a:chOff x="7897219" y="2507358"/>
              <a:chExt cx="4211654" cy="3407862"/>
            </a:xfrm>
            <a:solidFill>
              <a:schemeClr val="accent1">
                <a:lumMod val="20000"/>
                <a:lumOff val="80000"/>
              </a:schemeClr>
            </a:solidFill>
          </p:grpSpPr>
          <p:sp>
            <p:nvSpPr>
              <p:cNvPr id="17" name="Freeform 16">
                <a:extLst>
                  <a:ext uri="{FF2B5EF4-FFF2-40B4-BE49-F238E27FC236}">
                    <a16:creationId xmlns:a16="http://schemas.microsoft.com/office/drawing/2014/main" id="{452E8F4A-E586-371C-5D8C-7C6DEBE12183}"/>
                  </a:ext>
                </a:extLst>
              </p:cNvPr>
              <p:cNvSpPr/>
              <p:nvPr/>
            </p:nvSpPr>
            <p:spPr>
              <a:xfrm>
                <a:off x="10505216"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5">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i="1" kern="1200" noProof="0" dirty="0">
                  <a:solidFill>
                    <a:schemeClr val="tx2"/>
                  </a:solidFill>
                </a:endParaRPr>
              </a:p>
            </p:txBody>
          </p:sp>
          <p:sp>
            <p:nvSpPr>
              <p:cNvPr id="18" name="Freeform 17">
                <a:extLst>
                  <a:ext uri="{FF2B5EF4-FFF2-40B4-BE49-F238E27FC236}">
                    <a16:creationId xmlns:a16="http://schemas.microsoft.com/office/drawing/2014/main" id="{E2F7A277-EC33-4B8D-102E-33278B712205}"/>
                  </a:ext>
                </a:extLst>
              </p:cNvPr>
              <p:cNvSpPr/>
              <p:nvPr/>
            </p:nvSpPr>
            <p:spPr>
              <a:xfrm>
                <a:off x="7897219"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4">
                  <a:extLst>
                    <a:ext uri="{BEBA8EAE-BF5A-486C-A8C5-ECC9F3942E4B}">
                      <a14:imgProps xmlns:a14="http://schemas.microsoft.com/office/drawing/2010/main">
                        <a14:imgLayer r:embed="rId5">
                          <a14:imgEffect>
                            <a14:saturation sat="66000"/>
                          </a14:imgEffect>
                        </a14:imgLayer>
                      </a14:imgProps>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600200">
                  <a:lnSpc>
                    <a:spcPct val="90000"/>
                  </a:lnSpc>
                  <a:spcBef>
                    <a:spcPct val="0"/>
                  </a:spcBef>
                  <a:spcAft>
                    <a:spcPct val="35000"/>
                  </a:spcAft>
                  <a:buNone/>
                </a:pPr>
                <a:endParaRPr lang="en-US" sz="1600" kern="1200" noProof="0" dirty="0">
                  <a:solidFill>
                    <a:schemeClr val="tx1"/>
                  </a:solidFill>
                </a:endParaRPr>
              </a:p>
            </p:txBody>
          </p:sp>
          <p:sp>
            <p:nvSpPr>
              <p:cNvPr id="19" name="Freeform 18">
                <a:extLst>
                  <a:ext uri="{FF2B5EF4-FFF2-40B4-BE49-F238E27FC236}">
                    <a16:creationId xmlns:a16="http://schemas.microsoft.com/office/drawing/2014/main" id="{CBE7D323-A0DA-AA24-0CA7-59D7A9BA376B}"/>
                  </a:ext>
                </a:extLst>
              </p:cNvPr>
              <p:cNvSpPr/>
              <p:nvPr/>
            </p:nvSpPr>
            <p:spPr>
              <a:xfrm>
                <a:off x="9635926"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5">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451737" rIns="0" bIns="451736" numCol="1" spcCol="1270" anchor="ctr" anchorCtr="0">
                <a:noAutofit/>
              </a:bodyPr>
              <a:lstStyle/>
              <a:p>
                <a:pPr marL="0" lvl="0" indent="0" algn="ctr" defTabSz="1955800">
                  <a:lnSpc>
                    <a:spcPct val="90000"/>
                  </a:lnSpc>
                  <a:spcBef>
                    <a:spcPct val="0"/>
                  </a:spcBef>
                  <a:spcAft>
                    <a:spcPct val="35000"/>
                  </a:spcAft>
                  <a:buNone/>
                </a:pPr>
                <a:r>
                  <a:rPr lang="en-US" sz="1600" kern="1200" noProof="0" dirty="0">
                    <a:solidFill>
                      <a:schemeClr val="tx1"/>
                    </a:solidFill>
                  </a:rPr>
                  <a:t>Cosmetics</a:t>
                </a:r>
              </a:p>
            </p:txBody>
          </p:sp>
        </p:grpSp>
        <p:pic>
          <p:nvPicPr>
            <p:cNvPr id="15" name="Picture 14">
              <a:extLst>
                <a:ext uri="{FF2B5EF4-FFF2-40B4-BE49-F238E27FC236}">
                  <a16:creationId xmlns:a16="http://schemas.microsoft.com/office/drawing/2014/main" id="{8969836F-BE5B-6921-17C2-830E6C28570F}"/>
                </a:ext>
              </a:extLst>
            </p:cNvPr>
            <p:cNvPicPr>
              <a:picLocks noChangeAspect="1"/>
            </p:cNvPicPr>
            <p:nvPr/>
          </p:nvPicPr>
          <p:blipFill>
            <a:blip r:embed="rId6"/>
            <a:stretch>
              <a:fillRect/>
            </a:stretch>
          </p:blipFill>
          <p:spPr>
            <a:xfrm>
              <a:off x="10544232" y="3122295"/>
              <a:ext cx="1564640" cy="613410"/>
            </a:xfrm>
            <a:prstGeom prst="rect">
              <a:avLst/>
            </a:prstGeom>
          </p:spPr>
        </p:pic>
        <p:sp>
          <p:nvSpPr>
            <p:cNvPr id="16" name="Título 1">
              <a:extLst>
                <a:ext uri="{FF2B5EF4-FFF2-40B4-BE49-F238E27FC236}">
                  <a16:creationId xmlns:a16="http://schemas.microsoft.com/office/drawing/2014/main" id="{79ADB92E-F0C8-A84D-6ED8-7E0E1651AF84}"/>
                </a:ext>
              </a:extLst>
            </p:cNvPr>
            <p:cNvSpPr txBox="1">
              <a:spLocks/>
            </p:cNvSpPr>
            <p:nvPr/>
          </p:nvSpPr>
          <p:spPr>
            <a:xfrm>
              <a:off x="10767786" y="3713944"/>
              <a:ext cx="1078515" cy="480131"/>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hyaluronic acid</a:t>
              </a:r>
              <a:endParaRPr lang="en-US" sz="900" b="0" i="1" dirty="0">
                <a:solidFill>
                  <a:schemeClr val="accent1"/>
                </a:solidFill>
                <a:latin typeface="+mn-lt"/>
              </a:endParaRPr>
            </a:p>
          </p:txBody>
        </p:sp>
      </p:grpSp>
      <p:grpSp>
        <p:nvGrpSpPr>
          <p:cNvPr id="20" name="Group 19">
            <a:extLst>
              <a:ext uri="{FF2B5EF4-FFF2-40B4-BE49-F238E27FC236}">
                <a16:creationId xmlns:a16="http://schemas.microsoft.com/office/drawing/2014/main" id="{F89854CA-0EC4-1B9A-0A89-CDF42FAEFDD8}"/>
              </a:ext>
            </a:extLst>
          </p:cNvPr>
          <p:cNvGrpSpPr/>
          <p:nvPr/>
        </p:nvGrpSpPr>
        <p:grpSpPr>
          <a:xfrm>
            <a:off x="7897219" y="942781"/>
            <a:ext cx="3342367" cy="3407860"/>
            <a:chOff x="7897219" y="942781"/>
            <a:chExt cx="3342367" cy="3407860"/>
          </a:xfrm>
        </p:grpSpPr>
        <p:grpSp>
          <p:nvGrpSpPr>
            <p:cNvPr id="21" name="Group 20">
              <a:extLst>
                <a:ext uri="{FF2B5EF4-FFF2-40B4-BE49-F238E27FC236}">
                  <a16:creationId xmlns:a16="http://schemas.microsoft.com/office/drawing/2014/main" id="{6B801519-FC72-B9DB-1EEE-5D2ED578E5AE}"/>
                </a:ext>
              </a:extLst>
            </p:cNvPr>
            <p:cNvGrpSpPr/>
            <p:nvPr/>
          </p:nvGrpSpPr>
          <p:grpSpPr>
            <a:xfrm>
              <a:off x="7897219" y="942781"/>
              <a:ext cx="3342367" cy="3407860"/>
              <a:chOff x="7897219" y="942781"/>
              <a:chExt cx="3342367" cy="3407860"/>
            </a:xfrm>
            <a:solidFill>
              <a:schemeClr val="accent1">
                <a:lumMod val="20000"/>
                <a:lumOff val="80000"/>
              </a:schemeClr>
            </a:solidFill>
          </p:grpSpPr>
          <p:sp>
            <p:nvSpPr>
              <p:cNvPr id="24" name="Freeform 23">
                <a:extLst>
                  <a:ext uri="{FF2B5EF4-FFF2-40B4-BE49-F238E27FC236}">
                    <a16:creationId xmlns:a16="http://schemas.microsoft.com/office/drawing/2014/main" id="{D78556D1-748D-DD85-82F4-83FB237D9E5B}"/>
                  </a:ext>
                </a:extLst>
              </p:cNvPr>
              <p:cNvSpPr/>
              <p:nvPr/>
            </p:nvSpPr>
            <p:spPr>
              <a:xfrm>
                <a:off x="7897219"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2">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600200">
                  <a:lnSpc>
                    <a:spcPct val="90000"/>
                  </a:lnSpc>
                  <a:spcBef>
                    <a:spcPct val="0"/>
                  </a:spcBef>
                  <a:spcAft>
                    <a:spcPct val="35000"/>
                  </a:spcAft>
                  <a:buNone/>
                </a:pPr>
                <a:endParaRPr lang="en-US" sz="1600" i="1" kern="1200" noProof="0" dirty="0">
                  <a:solidFill>
                    <a:schemeClr val="tx2"/>
                  </a:solidFill>
                </a:endParaRPr>
              </a:p>
            </p:txBody>
          </p:sp>
          <p:sp>
            <p:nvSpPr>
              <p:cNvPr id="25" name="Freeform 24">
                <a:extLst>
                  <a:ext uri="{FF2B5EF4-FFF2-40B4-BE49-F238E27FC236}">
                    <a16:creationId xmlns:a16="http://schemas.microsoft.com/office/drawing/2014/main" id="{5BC135D9-30D3-B969-2B5F-66A1A53A0158}"/>
                  </a:ext>
                </a:extLst>
              </p:cNvPr>
              <p:cNvSpPr/>
              <p:nvPr/>
            </p:nvSpPr>
            <p:spPr>
              <a:xfrm>
                <a:off x="9635929"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2">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r>
                  <a:rPr lang="en-US" sz="1600" kern="1200" noProof="0" dirty="0">
                    <a:solidFill>
                      <a:schemeClr val="tx1"/>
                    </a:solidFill>
                  </a:rPr>
                  <a:t>Biopolymer synthesis</a:t>
                </a:r>
              </a:p>
            </p:txBody>
          </p:sp>
          <p:sp>
            <p:nvSpPr>
              <p:cNvPr id="26" name="Freeform 25">
                <a:extLst>
                  <a:ext uri="{FF2B5EF4-FFF2-40B4-BE49-F238E27FC236}">
                    <a16:creationId xmlns:a16="http://schemas.microsoft.com/office/drawing/2014/main" id="{F82DD258-FA92-E7DA-411D-4D05A4EB4894}"/>
                  </a:ext>
                </a:extLst>
              </p:cNvPr>
              <p:cNvSpPr/>
              <p:nvPr/>
            </p:nvSpPr>
            <p:spPr>
              <a:xfrm>
                <a:off x="8773271"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7">
                  <a:extLst>
                    <a:ext uri="{BEBA8EAE-BF5A-486C-A8C5-ECC9F3942E4B}">
                      <a14:imgProps xmlns:a14="http://schemas.microsoft.com/office/drawing/2010/main">
                        <a14:imgLayer r:embed="rId8">
                          <a14:imgEffect>
                            <a14:saturation sat="66000"/>
                          </a14:imgEffect>
                        </a14:imgLayer>
                      </a14:imgProps>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7163" tIns="284097" rIns="247164" bIns="284096" numCol="1" spcCol="1270" anchor="ctr" anchorCtr="0">
                <a:noAutofit/>
              </a:bodyPr>
              <a:lstStyle/>
              <a:p>
                <a:pPr marL="0" lvl="0" indent="0" algn="ctr" defTabSz="1600200">
                  <a:lnSpc>
                    <a:spcPct val="90000"/>
                  </a:lnSpc>
                  <a:spcBef>
                    <a:spcPct val="0"/>
                  </a:spcBef>
                  <a:spcAft>
                    <a:spcPct val="35000"/>
                  </a:spcAft>
                  <a:buNone/>
                </a:pPr>
                <a:endParaRPr lang="en-US" sz="3600" kern="1200" noProof="0" dirty="0"/>
              </a:p>
            </p:txBody>
          </p:sp>
        </p:grpSp>
        <p:pic>
          <p:nvPicPr>
            <p:cNvPr id="22" name="Picture 21">
              <a:extLst>
                <a:ext uri="{FF2B5EF4-FFF2-40B4-BE49-F238E27FC236}">
                  <a16:creationId xmlns:a16="http://schemas.microsoft.com/office/drawing/2014/main" id="{8B315994-7E6E-A995-D189-7435602E8C46}"/>
                </a:ext>
              </a:extLst>
            </p:cNvPr>
            <p:cNvPicPr>
              <a:picLocks noChangeAspect="1"/>
            </p:cNvPicPr>
            <p:nvPr/>
          </p:nvPicPr>
          <p:blipFill>
            <a:blip r:embed="rId9"/>
            <a:stretch>
              <a:fillRect/>
            </a:stretch>
          </p:blipFill>
          <p:spPr>
            <a:xfrm>
              <a:off x="7925000" y="1553272"/>
              <a:ext cx="1529080" cy="622300"/>
            </a:xfrm>
            <a:prstGeom prst="rect">
              <a:avLst/>
            </a:prstGeom>
          </p:spPr>
        </p:pic>
        <p:sp>
          <p:nvSpPr>
            <p:cNvPr id="23" name="Título 1">
              <a:extLst>
                <a:ext uri="{FF2B5EF4-FFF2-40B4-BE49-F238E27FC236}">
                  <a16:creationId xmlns:a16="http://schemas.microsoft.com/office/drawing/2014/main" id="{D295419A-E221-80AB-0DD7-B638F6A2D3C1}"/>
                </a:ext>
              </a:extLst>
            </p:cNvPr>
            <p:cNvSpPr txBox="1">
              <a:spLocks/>
            </p:cNvSpPr>
            <p:nvPr/>
          </p:nvSpPr>
          <p:spPr>
            <a:xfrm>
              <a:off x="8169870" y="2228435"/>
              <a:ext cx="1078515"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chitin</a:t>
              </a:r>
              <a:endParaRPr lang="en-US" sz="900" b="0" i="1" dirty="0">
                <a:solidFill>
                  <a:schemeClr val="accent1"/>
                </a:solidFill>
                <a:latin typeface="+mn-lt"/>
              </a:endParaRPr>
            </a:p>
          </p:txBody>
        </p:sp>
      </p:grpSp>
      <p:grpSp>
        <p:nvGrpSpPr>
          <p:cNvPr id="27" name="Group 26">
            <a:extLst>
              <a:ext uri="{FF2B5EF4-FFF2-40B4-BE49-F238E27FC236}">
                <a16:creationId xmlns:a16="http://schemas.microsoft.com/office/drawing/2014/main" id="{5D83DD3F-4147-4F1C-1069-FFCAABAF8E0F}"/>
              </a:ext>
            </a:extLst>
          </p:cNvPr>
          <p:cNvGrpSpPr/>
          <p:nvPr/>
        </p:nvGrpSpPr>
        <p:grpSpPr>
          <a:xfrm>
            <a:off x="6165270" y="942781"/>
            <a:ext cx="2472950" cy="4972439"/>
            <a:chOff x="6165270" y="942781"/>
            <a:chExt cx="2472950" cy="4972439"/>
          </a:xfrm>
        </p:grpSpPr>
        <p:grpSp>
          <p:nvGrpSpPr>
            <p:cNvPr id="28" name="Group 27">
              <a:extLst>
                <a:ext uri="{FF2B5EF4-FFF2-40B4-BE49-F238E27FC236}">
                  <a16:creationId xmlns:a16="http://schemas.microsoft.com/office/drawing/2014/main" id="{CEF4C65C-813D-5F17-26BF-63CF960A852C}"/>
                </a:ext>
              </a:extLst>
            </p:cNvPr>
            <p:cNvGrpSpPr/>
            <p:nvPr/>
          </p:nvGrpSpPr>
          <p:grpSpPr>
            <a:xfrm>
              <a:off x="6165270" y="942781"/>
              <a:ext cx="2472950" cy="4972439"/>
              <a:chOff x="6165270" y="942781"/>
              <a:chExt cx="2472950" cy="4972439"/>
            </a:xfrm>
            <a:solidFill>
              <a:schemeClr val="accent1">
                <a:lumMod val="20000"/>
                <a:lumOff val="80000"/>
              </a:schemeClr>
            </a:solidFill>
          </p:grpSpPr>
          <p:sp>
            <p:nvSpPr>
              <p:cNvPr id="31" name="Freeform 30">
                <a:extLst>
                  <a:ext uri="{FF2B5EF4-FFF2-40B4-BE49-F238E27FC236}">
                    <a16:creationId xmlns:a16="http://schemas.microsoft.com/office/drawing/2014/main" id="{BD57D1A4-AB60-AAB5-610A-9E5D85C0704B}"/>
                  </a:ext>
                </a:extLst>
              </p:cNvPr>
              <p:cNvSpPr/>
              <p:nvPr/>
            </p:nvSpPr>
            <p:spPr>
              <a:xfrm>
                <a:off x="6165270"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10">
                  <a:extLst>
                    <a:ext uri="{96DAC541-7B7A-43D3-8B79-37D633B846F1}">
                      <asvg:svgBlip xmlns:asvg="http://schemas.microsoft.com/office/drawing/2016/SVG/main" r:embed="rId11"/>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353843" tIns="390777" rIns="353844" bIns="390776" numCol="1" spcCol="1270" anchor="ctr" anchorCtr="0">
                <a:noAutofit/>
              </a:bodyPr>
              <a:lstStyle/>
              <a:p>
                <a:pPr marL="0" lvl="0" indent="0" algn="ctr" defTabSz="1244600">
                  <a:lnSpc>
                    <a:spcPct val="90000"/>
                  </a:lnSpc>
                  <a:spcBef>
                    <a:spcPct val="0"/>
                  </a:spcBef>
                  <a:spcAft>
                    <a:spcPct val="35000"/>
                  </a:spcAft>
                  <a:buNone/>
                </a:pPr>
                <a:endParaRPr lang="en-US" kern="1200" noProof="0" dirty="0">
                  <a:solidFill>
                    <a:schemeClr val="tx1"/>
                  </a:solidFill>
                </a:endParaRPr>
              </a:p>
            </p:txBody>
          </p:sp>
          <p:sp>
            <p:nvSpPr>
              <p:cNvPr id="32" name="Freeform 31">
                <a:extLst>
                  <a:ext uri="{FF2B5EF4-FFF2-40B4-BE49-F238E27FC236}">
                    <a16:creationId xmlns:a16="http://schemas.microsoft.com/office/drawing/2014/main" id="{EA66B526-F4E8-310F-B80C-AEEE11E830A7}"/>
                  </a:ext>
                </a:extLst>
              </p:cNvPr>
              <p:cNvSpPr/>
              <p:nvPr/>
            </p:nvSpPr>
            <p:spPr>
              <a:xfrm>
                <a:off x="7034563"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tx2">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algn="ctr" defTabSz="1244600">
                  <a:lnSpc>
                    <a:spcPct val="90000"/>
                  </a:lnSpc>
                  <a:spcBef>
                    <a:spcPct val="0"/>
                  </a:spcBef>
                  <a:spcAft>
                    <a:spcPct val="35000"/>
                  </a:spcAft>
                </a:pPr>
                <a:r>
                  <a:rPr lang="en-US" sz="1600" kern="1200" noProof="0" dirty="0">
                    <a:solidFill>
                      <a:schemeClr val="tx1"/>
                    </a:solidFill>
                  </a:rPr>
                  <a:t>Medicinal chemistry</a:t>
                </a:r>
                <a:endParaRPr lang="en-US" sz="2400" kern="1200" noProof="0" dirty="0"/>
              </a:p>
            </p:txBody>
          </p:sp>
          <p:sp>
            <p:nvSpPr>
              <p:cNvPr id="33" name="Freeform 32">
                <a:extLst>
                  <a:ext uri="{FF2B5EF4-FFF2-40B4-BE49-F238E27FC236}">
                    <a16:creationId xmlns:a16="http://schemas.microsoft.com/office/drawing/2014/main" id="{F9E6BCCB-3224-D3E0-E88A-E73335A65714}"/>
                  </a:ext>
                </a:extLst>
              </p:cNvPr>
              <p:cNvSpPr/>
              <p:nvPr/>
            </p:nvSpPr>
            <p:spPr>
              <a:xfrm>
                <a:off x="6165270"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tx2">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14803" tIns="451737" rIns="414804" bIns="451736" numCol="1" spcCol="1270" anchor="ctr" anchorCtr="0">
                <a:noAutofit/>
              </a:bodyPr>
              <a:lstStyle/>
              <a:p>
                <a:pPr marL="0" lvl="0" indent="0" algn="ctr" defTabSz="1955800">
                  <a:lnSpc>
                    <a:spcPct val="90000"/>
                  </a:lnSpc>
                  <a:spcBef>
                    <a:spcPct val="0"/>
                  </a:spcBef>
                  <a:spcAft>
                    <a:spcPct val="35000"/>
                  </a:spcAft>
                  <a:buNone/>
                </a:pPr>
                <a:endParaRPr lang="en-US" sz="4400" kern="1200" noProof="0" dirty="0"/>
              </a:p>
            </p:txBody>
          </p:sp>
        </p:grpSp>
        <p:pic>
          <p:nvPicPr>
            <p:cNvPr id="29" name="Picture 28">
              <a:extLst>
                <a:ext uri="{FF2B5EF4-FFF2-40B4-BE49-F238E27FC236}">
                  <a16:creationId xmlns:a16="http://schemas.microsoft.com/office/drawing/2014/main" id="{F3881FA3-3353-0629-5D44-EDC690268ED7}"/>
                </a:ext>
              </a:extLst>
            </p:cNvPr>
            <p:cNvPicPr>
              <a:picLocks noChangeAspect="1"/>
            </p:cNvPicPr>
            <p:nvPr/>
          </p:nvPicPr>
          <p:blipFill>
            <a:blip r:embed="rId12"/>
            <a:stretch>
              <a:fillRect/>
            </a:stretch>
          </p:blipFill>
          <p:spPr>
            <a:xfrm>
              <a:off x="6478148" y="4564336"/>
              <a:ext cx="977900" cy="749300"/>
            </a:xfrm>
            <a:prstGeom prst="rect">
              <a:avLst/>
            </a:prstGeom>
          </p:spPr>
        </p:pic>
        <p:sp>
          <p:nvSpPr>
            <p:cNvPr id="30" name="Título 1">
              <a:extLst>
                <a:ext uri="{FF2B5EF4-FFF2-40B4-BE49-F238E27FC236}">
                  <a16:creationId xmlns:a16="http://schemas.microsoft.com/office/drawing/2014/main" id="{09B90AD5-322B-392A-BA55-1E75E2318DE8}"/>
                </a:ext>
              </a:extLst>
            </p:cNvPr>
            <p:cNvSpPr txBox="1">
              <a:spLocks/>
            </p:cNvSpPr>
            <p:nvPr/>
          </p:nvSpPr>
          <p:spPr>
            <a:xfrm>
              <a:off x="6540174" y="5347700"/>
              <a:ext cx="862655"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aspirin</a:t>
              </a:r>
              <a:endParaRPr lang="en-US" sz="900" b="0" i="1" dirty="0">
                <a:solidFill>
                  <a:schemeClr val="accent1"/>
                </a:solidFill>
                <a:latin typeface="+mn-lt"/>
              </a:endParaRPr>
            </a:p>
          </p:txBody>
        </p:sp>
      </p:grpSp>
      <p:grpSp>
        <p:nvGrpSpPr>
          <p:cNvPr id="34" name="Group 33">
            <a:extLst>
              <a:ext uri="{FF2B5EF4-FFF2-40B4-BE49-F238E27FC236}">
                <a16:creationId xmlns:a16="http://schemas.microsoft.com/office/drawing/2014/main" id="{FBA8E791-F512-8245-82DA-4385984AC07C}"/>
              </a:ext>
            </a:extLst>
          </p:cNvPr>
          <p:cNvGrpSpPr/>
          <p:nvPr/>
        </p:nvGrpSpPr>
        <p:grpSpPr>
          <a:xfrm>
            <a:off x="3556546" y="942781"/>
            <a:ext cx="2466312" cy="4972439"/>
            <a:chOff x="3556546" y="942781"/>
            <a:chExt cx="2466312" cy="4972439"/>
          </a:xfrm>
        </p:grpSpPr>
        <p:grpSp>
          <p:nvGrpSpPr>
            <p:cNvPr id="35" name="Group 34">
              <a:extLst>
                <a:ext uri="{FF2B5EF4-FFF2-40B4-BE49-F238E27FC236}">
                  <a16:creationId xmlns:a16="http://schemas.microsoft.com/office/drawing/2014/main" id="{550BDD26-FEA3-E6B1-B61F-FE42634DF232}"/>
                </a:ext>
              </a:extLst>
            </p:cNvPr>
            <p:cNvGrpSpPr/>
            <p:nvPr/>
          </p:nvGrpSpPr>
          <p:grpSpPr>
            <a:xfrm>
              <a:off x="3556546" y="942781"/>
              <a:ext cx="2466312" cy="4972439"/>
              <a:chOff x="3556546" y="942781"/>
              <a:chExt cx="2466312" cy="4972439"/>
            </a:xfrm>
            <a:solidFill>
              <a:schemeClr val="accent1">
                <a:lumMod val="20000"/>
                <a:lumOff val="80000"/>
              </a:schemeClr>
            </a:solidFill>
          </p:grpSpPr>
          <p:sp>
            <p:nvSpPr>
              <p:cNvPr id="38" name="Freeform 37">
                <a:extLst>
                  <a:ext uri="{FF2B5EF4-FFF2-40B4-BE49-F238E27FC236}">
                    <a16:creationId xmlns:a16="http://schemas.microsoft.com/office/drawing/2014/main" id="{203602EA-639B-3136-F8A1-11578E4058BC}"/>
                  </a:ext>
                </a:extLst>
              </p:cNvPr>
              <p:cNvSpPr/>
              <p:nvPr/>
            </p:nvSpPr>
            <p:spPr>
              <a:xfrm>
                <a:off x="4419201"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3">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400" rIns="0" bIns="284096" numCol="1" spcCol="1270" anchor="ctr" anchorCtr="0">
                <a:noAutofit/>
              </a:bodyPr>
              <a:lstStyle/>
              <a:p>
                <a:pPr algn="ctr" defTabSz="1600200">
                  <a:lnSpc>
                    <a:spcPct val="90000"/>
                  </a:lnSpc>
                  <a:spcBef>
                    <a:spcPct val="0"/>
                  </a:spcBef>
                </a:pPr>
                <a:endParaRPr lang="en-US" sz="1600" kern="1200" noProof="0" dirty="0">
                  <a:solidFill>
                    <a:schemeClr val="tx1"/>
                  </a:solidFill>
                </a:endParaRPr>
              </a:p>
            </p:txBody>
          </p:sp>
          <p:sp>
            <p:nvSpPr>
              <p:cNvPr id="39" name="Freeform 38">
                <a:extLst>
                  <a:ext uri="{FF2B5EF4-FFF2-40B4-BE49-F238E27FC236}">
                    <a16:creationId xmlns:a16="http://schemas.microsoft.com/office/drawing/2014/main" id="{10D481E4-ECE3-B671-F920-FB63666077A6}"/>
                  </a:ext>
                </a:extLst>
              </p:cNvPr>
              <p:cNvSpPr/>
              <p:nvPr/>
            </p:nvSpPr>
            <p:spPr>
              <a:xfrm>
                <a:off x="3556546"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3">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353843" tIns="390777" rIns="353844" bIns="390776" numCol="1" spcCol="1270" anchor="ctr" anchorCtr="0">
                <a:noAutofit/>
              </a:bodyPr>
              <a:lstStyle/>
              <a:p>
                <a:pPr marL="0" lvl="0" indent="0" algn="ctr" defTabSz="1244600">
                  <a:lnSpc>
                    <a:spcPct val="90000"/>
                  </a:lnSpc>
                  <a:spcBef>
                    <a:spcPct val="0"/>
                  </a:spcBef>
                  <a:spcAft>
                    <a:spcPct val="35000"/>
                  </a:spcAft>
                  <a:buNone/>
                </a:pPr>
                <a:r>
                  <a:rPr lang="en-US" sz="1600" kern="1200" noProof="0" dirty="0">
                    <a:solidFill>
                      <a:schemeClr val="tx1"/>
                    </a:solidFill>
                  </a:rPr>
                  <a:t>Natural products</a:t>
                </a:r>
              </a:p>
            </p:txBody>
          </p:sp>
          <p:sp>
            <p:nvSpPr>
              <p:cNvPr id="40" name="Freeform 39">
                <a:extLst>
                  <a:ext uri="{FF2B5EF4-FFF2-40B4-BE49-F238E27FC236}">
                    <a16:creationId xmlns:a16="http://schemas.microsoft.com/office/drawing/2014/main" id="{4421A368-4778-3986-BD6F-31AE52CC9777}"/>
                  </a:ext>
                </a:extLst>
              </p:cNvPr>
              <p:cNvSpPr/>
              <p:nvPr/>
            </p:nvSpPr>
            <p:spPr>
              <a:xfrm>
                <a:off x="4419201"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13">
                  <a:extLst>
                    <a:ext uri="{BEBA8EAE-BF5A-486C-A8C5-ECC9F3942E4B}">
                      <a14:imgProps xmlns:a14="http://schemas.microsoft.com/office/drawing/2010/main">
                        <a14:imgLayer r:embed="rId14">
                          <a14:imgEffect>
                            <a14:saturation sat="66000"/>
                          </a14:imgEffect>
                        </a14:imgLayer>
                      </a14:imgProps>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600200">
                  <a:lnSpc>
                    <a:spcPct val="90000"/>
                  </a:lnSpc>
                  <a:spcBef>
                    <a:spcPct val="0"/>
                  </a:spcBef>
                  <a:spcAft>
                    <a:spcPct val="35000"/>
                  </a:spcAft>
                  <a:buNone/>
                </a:pPr>
                <a:endParaRPr lang="en-US" sz="1600" kern="1200" noProof="0" dirty="0">
                  <a:solidFill>
                    <a:schemeClr val="tx1"/>
                  </a:solidFill>
                </a:endParaRPr>
              </a:p>
            </p:txBody>
          </p:sp>
        </p:grpSp>
        <p:sp>
          <p:nvSpPr>
            <p:cNvPr id="36" name="Título 1">
              <a:extLst>
                <a:ext uri="{FF2B5EF4-FFF2-40B4-BE49-F238E27FC236}">
                  <a16:creationId xmlns:a16="http://schemas.microsoft.com/office/drawing/2014/main" id="{2859C23F-F6CE-5DBC-EE13-712FE90DE8BC}"/>
                </a:ext>
              </a:extLst>
            </p:cNvPr>
            <p:cNvSpPr txBox="1">
              <a:spLocks/>
            </p:cNvSpPr>
            <p:nvPr/>
          </p:nvSpPr>
          <p:spPr>
            <a:xfrm>
              <a:off x="4659490" y="2207148"/>
              <a:ext cx="1123078"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citronellal</a:t>
              </a:r>
              <a:endParaRPr lang="en-US" sz="900" b="0" i="1" dirty="0">
                <a:solidFill>
                  <a:schemeClr val="accent1"/>
                </a:solidFill>
                <a:latin typeface="+mn-lt"/>
              </a:endParaRPr>
            </a:p>
          </p:txBody>
        </p:sp>
        <p:pic>
          <p:nvPicPr>
            <p:cNvPr id="37" name="Picture 36">
              <a:extLst>
                <a:ext uri="{FF2B5EF4-FFF2-40B4-BE49-F238E27FC236}">
                  <a16:creationId xmlns:a16="http://schemas.microsoft.com/office/drawing/2014/main" id="{C8ABEF3F-AEC5-2B21-5535-263F1F632E59}"/>
                </a:ext>
              </a:extLst>
            </p:cNvPr>
            <p:cNvPicPr>
              <a:picLocks noChangeAspect="1"/>
            </p:cNvPicPr>
            <p:nvPr/>
          </p:nvPicPr>
          <p:blipFill>
            <a:blip r:embed="rId15"/>
            <a:stretch>
              <a:fillRect/>
            </a:stretch>
          </p:blipFill>
          <p:spPr>
            <a:xfrm>
              <a:off x="4545523" y="1590450"/>
              <a:ext cx="1371600" cy="431800"/>
            </a:xfrm>
            <a:prstGeom prst="rect">
              <a:avLst/>
            </a:prstGeom>
          </p:spPr>
        </p:pic>
      </p:grpSp>
      <p:grpSp>
        <p:nvGrpSpPr>
          <p:cNvPr id="41" name="Group 40">
            <a:extLst>
              <a:ext uri="{FF2B5EF4-FFF2-40B4-BE49-F238E27FC236}">
                <a16:creationId xmlns:a16="http://schemas.microsoft.com/office/drawing/2014/main" id="{C6B75ECE-C0A8-1793-B7CE-CF62E873E2C6}"/>
              </a:ext>
            </a:extLst>
          </p:cNvPr>
          <p:cNvGrpSpPr/>
          <p:nvPr/>
        </p:nvGrpSpPr>
        <p:grpSpPr>
          <a:xfrm>
            <a:off x="935761" y="2507358"/>
            <a:ext cx="3355149" cy="3407862"/>
            <a:chOff x="935761" y="2507358"/>
            <a:chExt cx="3355149" cy="3407862"/>
          </a:xfrm>
        </p:grpSpPr>
        <p:grpSp>
          <p:nvGrpSpPr>
            <p:cNvPr id="42" name="Group 41">
              <a:extLst>
                <a:ext uri="{FF2B5EF4-FFF2-40B4-BE49-F238E27FC236}">
                  <a16:creationId xmlns:a16="http://schemas.microsoft.com/office/drawing/2014/main" id="{1E4DA962-1A78-AAC7-583B-DB37A3C3CF9D}"/>
                </a:ext>
              </a:extLst>
            </p:cNvPr>
            <p:cNvGrpSpPr/>
            <p:nvPr/>
          </p:nvGrpSpPr>
          <p:grpSpPr>
            <a:xfrm>
              <a:off x="935761" y="2507358"/>
              <a:ext cx="3355149" cy="3407862"/>
              <a:chOff x="935761" y="2507358"/>
              <a:chExt cx="3355149" cy="3407862"/>
            </a:xfrm>
            <a:solidFill>
              <a:schemeClr val="accent1">
                <a:lumMod val="20000"/>
                <a:lumOff val="80000"/>
              </a:schemeClr>
            </a:solidFill>
          </p:grpSpPr>
          <p:sp>
            <p:nvSpPr>
              <p:cNvPr id="45" name="Freeform 44">
                <a:extLst>
                  <a:ext uri="{FF2B5EF4-FFF2-40B4-BE49-F238E27FC236}">
                    <a16:creationId xmlns:a16="http://schemas.microsoft.com/office/drawing/2014/main" id="{41AABC3D-5FAE-8D2B-1042-57ED8F6DB8CF}"/>
                  </a:ext>
                </a:extLst>
              </p:cNvPr>
              <p:cNvSpPr/>
              <p:nvPr/>
            </p:nvSpPr>
            <p:spPr>
              <a:xfrm>
                <a:off x="2687253"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4">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14803" tIns="451737" rIns="414804" bIns="451736" numCol="1" spcCol="1270" anchor="ctr" anchorCtr="0">
                <a:noAutofit/>
              </a:bodyPr>
              <a:lstStyle/>
              <a:p>
                <a:pPr marL="0" lvl="0" indent="0" algn="ctr" defTabSz="1955800">
                  <a:lnSpc>
                    <a:spcPct val="90000"/>
                  </a:lnSpc>
                  <a:spcBef>
                    <a:spcPct val="0"/>
                  </a:spcBef>
                  <a:spcAft>
                    <a:spcPct val="35000"/>
                  </a:spcAft>
                  <a:buNone/>
                </a:pPr>
                <a:endParaRPr lang="en-US" sz="4400" kern="1200" noProof="0" dirty="0"/>
              </a:p>
            </p:txBody>
          </p:sp>
          <p:sp>
            <p:nvSpPr>
              <p:cNvPr id="46" name="Freeform 45">
                <a:extLst>
                  <a:ext uri="{FF2B5EF4-FFF2-40B4-BE49-F238E27FC236}">
                    <a16:creationId xmlns:a16="http://schemas.microsoft.com/office/drawing/2014/main" id="{DD962892-4F76-8DFF-E937-C8C025E8EF5A}"/>
                  </a:ext>
                </a:extLst>
              </p:cNvPr>
              <p:cNvSpPr/>
              <p:nvPr/>
            </p:nvSpPr>
            <p:spPr>
              <a:xfrm>
                <a:off x="935761"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4">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451737" rIns="0" bIns="451736" numCol="1" spcCol="1270" anchor="ctr" anchorCtr="0">
                <a:noAutofit/>
              </a:bodyPr>
              <a:lstStyle/>
              <a:p>
                <a:pPr marL="0" lvl="0" indent="0" algn="ctr" defTabSz="1955800">
                  <a:lnSpc>
                    <a:spcPct val="90000"/>
                  </a:lnSpc>
                  <a:spcBef>
                    <a:spcPct val="0"/>
                  </a:spcBef>
                  <a:spcAft>
                    <a:spcPct val="35000"/>
                  </a:spcAft>
                  <a:buNone/>
                </a:pPr>
                <a:r>
                  <a:rPr lang="en-US" sz="1600" kern="1200" noProof="0" dirty="0">
                    <a:solidFill>
                      <a:schemeClr val="tx1"/>
                    </a:solidFill>
                  </a:rPr>
                  <a:t>Organic materials</a:t>
                </a:r>
              </a:p>
            </p:txBody>
          </p:sp>
          <p:sp>
            <p:nvSpPr>
              <p:cNvPr id="47" name="Freeform 46">
                <a:extLst>
                  <a:ext uri="{FF2B5EF4-FFF2-40B4-BE49-F238E27FC236}">
                    <a16:creationId xmlns:a16="http://schemas.microsoft.com/office/drawing/2014/main" id="{F10F88A2-64A9-5E58-61CD-605BB5AC680F}"/>
                  </a:ext>
                </a:extLst>
              </p:cNvPr>
              <p:cNvSpPr/>
              <p:nvPr/>
            </p:nvSpPr>
            <p:spPr>
              <a:xfrm>
                <a:off x="1824598"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dpi="0" rotWithShape="1">
                <a:blip r:embed="rId16">
                  <a:extLst>
                    <a:ext uri="{BEBA8EAE-BF5A-486C-A8C5-ECC9F3942E4B}">
                      <a14:imgProps xmlns:a14="http://schemas.microsoft.com/office/drawing/2010/main">
                        <a14:imgLayer r:embed="rId17">
                          <a14:imgEffect>
                            <a14:saturation sat="64000"/>
                          </a14:imgEffect>
                        </a14:imgLayer>
                      </a14:imgProps>
                    </a:ext>
                  </a:extLst>
                </a:blip>
                <a:srcRect/>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244600">
                  <a:lnSpc>
                    <a:spcPct val="90000"/>
                  </a:lnSpc>
                  <a:spcBef>
                    <a:spcPct val="0"/>
                  </a:spcBef>
                  <a:spcAft>
                    <a:spcPct val="35000"/>
                  </a:spcAft>
                  <a:buNone/>
                </a:pPr>
                <a:endParaRPr lang="en-US" sz="1600" i="1" kern="1200" noProof="0" dirty="0">
                  <a:solidFill>
                    <a:schemeClr val="tx2"/>
                  </a:solidFill>
                </a:endParaRPr>
              </a:p>
            </p:txBody>
          </p:sp>
        </p:grpSp>
        <p:pic>
          <p:nvPicPr>
            <p:cNvPr id="43" name="Picture 42">
              <a:extLst>
                <a:ext uri="{FF2B5EF4-FFF2-40B4-BE49-F238E27FC236}">
                  <a16:creationId xmlns:a16="http://schemas.microsoft.com/office/drawing/2014/main" id="{93839765-CC89-A329-0D41-415BF709632F}"/>
                </a:ext>
              </a:extLst>
            </p:cNvPr>
            <p:cNvPicPr>
              <a:picLocks noChangeAspect="1"/>
            </p:cNvPicPr>
            <p:nvPr/>
          </p:nvPicPr>
          <p:blipFill>
            <a:blip r:embed="rId18"/>
            <a:stretch>
              <a:fillRect/>
            </a:stretch>
          </p:blipFill>
          <p:spPr>
            <a:xfrm>
              <a:off x="2782326" y="4599896"/>
              <a:ext cx="1413510" cy="657860"/>
            </a:xfrm>
            <a:prstGeom prst="rect">
              <a:avLst/>
            </a:prstGeom>
          </p:spPr>
        </p:pic>
        <p:sp>
          <p:nvSpPr>
            <p:cNvPr id="44" name="Título 1">
              <a:extLst>
                <a:ext uri="{FF2B5EF4-FFF2-40B4-BE49-F238E27FC236}">
                  <a16:creationId xmlns:a16="http://schemas.microsoft.com/office/drawing/2014/main" id="{A1F91027-0E5F-E1ED-AB32-34D523E736A6}"/>
                </a:ext>
              </a:extLst>
            </p:cNvPr>
            <p:cNvSpPr txBox="1">
              <a:spLocks/>
            </p:cNvSpPr>
            <p:nvPr/>
          </p:nvSpPr>
          <p:spPr>
            <a:xfrm>
              <a:off x="2996927" y="5354611"/>
              <a:ext cx="1056176"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nylon 6,6</a:t>
              </a:r>
              <a:endParaRPr lang="en-US" sz="900" b="0" i="1" dirty="0">
                <a:solidFill>
                  <a:schemeClr val="accent1"/>
                </a:solidFill>
                <a:latin typeface="+mn-lt"/>
              </a:endParaRPr>
            </a:p>
          </p:txBody>
        </p:sp>
      </p:grpSp>
    </p:spTree>
    <p:extLst>
      <p:ext uri="{BB962C8B-B14F-4D97-AF65-F5344CB8AC3E}">
        <p14:creationId xmlns:p14="http://schemas.microsoft.com/office/powerpoint/2010/main" val="4226483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dissolve">
                                      <p:cBhvr>
                                        <p:cTn id="11" dur="500"/>
                                        <p:tgtEl>
                                          <p:spTgt spid="13"/>
                                        </p:tgtEl>
                                      </p:cBhvr>
                                    </p:animEffect>
                                  </p:childTnLst>
                                </p:cTn>
                              </p:par>
                            </p:childTnLst>
                          </p:cTn>
                        </p:par>
                        <p:par>
                          <p:cTn id="12" fill="hold">
                            <p:stCondLst>
                              <p:cond delay="1000"/>
                            </p:stCondLst>
                            <p:childTnLst>
                              <p:par>
                                <p:cTn id="13" presetID="9" presetClass="entr" presetSubtype="0" fill="hold"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dissolve">
                                      <p:cBhvr>
                                        <p:cTn id="15" dur="500"/>
                                        <p:tgtEl>
                                          <p:spTgt spid="20"/>
                                        </p:tgtEl>
                                      </p:cBhvr>
                                    </p:animEffect>
                                  </p:childTnLst>
                                </p:cTn>
                              </p:par>
                              <p:par>
                                <p:cTn id="16" presetID="9"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dissolve">
                                      <p:cBhvr>
                                        <p:cTn id="18" dur="500"/>
                                        <p:tgtEl>
                                          <p:spTgt spid="27"/>
                                        </p:tgtEl>
                                      </p:cBhvr>
                                    </p:animEffect>
                                  </p:childTnLst>
                                </p:cTn>
                              </p:par>
                            </p:childTnLst>
                          </p:cTn>
                        </p:par>
                        <p:par>
                          <p:cTn id="19" fill="hold">
                            <p:stCondLst>
                              <p:cond delay="1500"/>
                            </p:stCondLst>
                            <p:childTnLst>
                              <p:par>
                                <p:cTn id="20" presetID="9" presetClass="entr" presetSubtype="0" fill="hold" nodeType="after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dissolve">
                                      <p:cBhvr>
                                        <p:cTn id="22" dur="500"/>
                                        <p:tgtEl>
                                          <p:spTgt spid="34"/>
                                        </p:tgtEl>
                                      </p:cBhvr>
                                    </p:animEffect>
                                  </p:childTnLst>
                                </p:cTn>
                              </p:par>
                              <p:par>
                                <p:cTn id="23" presetID="9"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dissolve">
                                      <p:cBhvr>
                                        <p:cTn id="25"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forma 17">
            <a:extLst>
              <a:ext uri="{FF2B5EF4-FFF2-40B4-BE49-F238E27FC236}">
                <a16:creationId xmlns:a16="http://schemas.microsoft.com/office/drawing/2014/main" id="{709DDB34-C987-476E-9652-CC5FD4442A65}"/>
              </a:ext>
            </a:extLst>
          </p:cNvPr>
          <p:cNvSpPr/>
          <p:nvPr/>
        </p:nvSpPr>
        <p:spPr>
          <a:xfrm>
            <a:off x="3693600" y="1935046"/>
            <a:ext cx="4769338" cy="3451570"/>
          </a:xfrm>
          <a:custGeom>
            <a:avLst/>
            <a:gdLst>
              <a:gd name="connsiteX0" fmla="*/ 0 w 6072553"/>
              <a:gd name="connsiteY0" fmla="*/ 5041038 h 5041038"/>
              <a:gd name="connsiteX1" fmla="*/ 3118338 w 6072553"/>
              <a:gd name="connsiteY1" fmla="*/ 115 h 5041038"/>
              <a:gd name="connsiteX2" fmla="*/ 6072553 w 6072553"/>
              <a:gd name="connsiteY2" fmla="*/ 4923807 h 5041038"/>
              <a:gd name="connsiteX0" fmla="*/ 0 w 6125713"/>
              <a:gd name="connsiteY0" fmla="*/ 5041035 h 5041035"/>
              <a:gd name="connsiteX1" fmla="*/ 3118338 w 6125713"/>
              <a:gd name="connsiteY1" fmla="*/ 112 h 5041035"/>
              <a:gd name="connsiteX2" fmla="*/ 6125713 w 6125713"/>
              <a:gd name="connsiteY2" fmla="*/ 4993662 h 5041035"/>
              <a:gd name="connsiteX0" fmla="*/ 0 w 6192163"/>
              <a:gd name="connsiteY0" fmla="*/ 5041029 h 5147344"/>
              <a:gd name="connsiteX1" fmla="*/ 3118338 w 6192163"/>
              <a:gd name="connsiteY1" fmla="*/ 106 h 5147344"/>
              <a:gd name="connsiteX2" fmla="*/ 6192163 w 6192163"/>
              <a:gd name="connsiteY2" fmla="*/ 5147343 h 5147344"/>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23 h 5147336"/>
              <a:gd name="connsiteX1" fmla="*/ 3164853 w 6238678"/>
              <a:gd name="connsiteY1" fmla="*/ 99 h 5147336"/>
              <a:gd name="connsiteX2" fmla="*/ 6238678 w 6238678"/>
              <a:gd name="connsiteY2" fmla="*/ 5147336 h 5147336"/>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795 h 5147308"/>
              <a:gd name="connsiteX1" fmla="*/ 3164853 w 6238678"/>
              <a:gd name="connsiteY1" fmla="*/ 71 h 5147308"/>
              <a:gd name="connsiteX2" fmla="*/ 6238678 w 6238678"/>
              <a:gd name="connsiteY2" fmla="*/ 5147308 h 5147308"/>
            </a:gdLst>
            <a:ahLst/>
            <a:cxnLst>
              <a:cxn ang="0">
                <a:pos x="connsiteX0" y="connsiteY0"/>
              </a:cxn>
              <a:cxn ang="0">
                <a:pos x="connsiteX1" y="connsiteY1"/>
              </a:cxn>
              <a:cxn ang="0">
                <a:pos x="connsiteX2" y="connsiteY2"/>
              </a:cxn>
            </a:cxnLst>
            <a:rect l="l" t="t" r="r" b="b"/>
            <a:pathLst>
              <a:path w="6238678" h="5147308">
                <a:moveTo>
                  <a:pt x="0" y="5138795"/>
                </a:moveTo>
                <a:cubicBezTo>
                  <a:pt x="1784078" y="4234167"/>
                  <a:pt x="2152761" y="19609"/>
                  <a:pt x="3164853" y="71"/>
                </a:cubicBezTo>
                <a:cubicBezTo>
                  <a:pt x="4176945" y="-19467"/>
                  <a:pt x="4470211" y="4024181"/>
                  <a:pt x="6238678" y="5147308"/>
                </a:cubicBezTo>
              </a:path>
            </a:pathLst>
          </a:custGeom>
          <a:ln w="28575"/>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noProof="0" dirty="0"/>
          </a:p>
        </p:txBody>
      </p:sp>
      <p:cxnSp>
        <p:nvCxnSpPr>
          <p:cNvPr id="26" name="Conector recto de flecha 25">
            <a:extLst>
              <a:ext uri="{FF2B5EF4-FFF2-40B4-BE49-F238E27FC236}">
                <a16:creationId xmlns:a16="http://schemas.microsoft.com/office/drawing/2014/main" id="{EFB00024-3968-4E1B-B2AF-726B8D7C80EB}"/>
              </a:ext>
            </a:extLst>
          </p:cNvPr>
          <p:cNvCxnSpPr>
            <a:cxnSpLocks/>
          </p:cNvCxnSpPr>
          <p:nvPr/>
        </p:nvCxnSpPr>
        <p:spPr>
          <a:xfrm flipV="1">
            <a:off x="1854000" y="1583473"/>
            <a:ext cx="0" cy="3803143"/>
          </a:xfrm>
          <a:prstGeom prst="straightConnector1">
            <a:avLst/>
          </a:prstGeom>
          <a:ln w="28575">
            <a:tailEnd type="stealth" w="lg" len="lg"/>
          </a:ln>
        </p:spPr>
        <p:style>
          <a:lnRef idx="3">
            <a:schemeClr val="dk1"/>
          </a:lnRef>
          <a:fillRef idx="0">
            <a:schemeClr val="dk1"/>
          </a:fillRef>
          <a:effectRef idx="2">
            <a:schemeClr val="dk1"/>
          </a:effectRef>
          <a:fontRef idx="minor">
            <a:schemeClr val="tx1"/>
          </a:fontRef>
        </p:style>
      </p:cxnSp>
      <p:sp>
        <p:nvSpPr>
          <p:cNvPr id="27" name="CuadroTexto 26">
            <a:extLst>
              <a:ext uri="{FF2B5EF4-FFF2-40B4-BE49-F238E27FC236}">
                <a16:creationId xmlns:a16="http://schemas.microsoft.com/office/drawing/2014/main" id="{786C00F8-491B-47ED-A3EF-83DCB51F6630}"/>
              </a:ext>
            </a:extLst>
          </p:cNvPr>
          <p:cNvSpPr txBox="1"/>
          <p:nvPr/>
        </p:nvSpPr>
        <p:spPr>
          <a:xfrm rot="16200000">
            <a:off x="864000" y="3429998"/>
            <a:ext cx="1248935" cy="461665"/>
          </a:xfrm>
          <a:prstGeom prst="rect">
            <a:avLst/>
          </a:prstGeom>
          <a:noFill/>
        </p:spPr>
        <p:txBody>
          <a:bodyPr wrap="square" rtlCol="0">
            <a:spAutoFit/>
          </a:bodyPr>
          <a:lstStyle/>
          <a:p>
            <a:r>
              <a:rPr lang="en-US" sz="2400" noProof="0" dirty="0"/>
              <a:t>energy</a:t>
            </a:r>
          </a:p>
        </p:txBody>
      </p:sp>
      <p:sp>
        <p:nvSpPr>
          <p:cNvPr id="28" name="Forma libre: forma 27">
            <a:extLst>
              <a:ext uri="{FF2B5EF4-FFF2-40B4-BE49-F238E27FC236}">
                <a16:creationId xmlns:a16="http://schemas.microsoft.com/office/drawing/2014/main" id="{AC4D4988-8A56-4E6F-BDDE-43C2C572DD97}"/>
              </a:ext>
            </a:extLst>
          </p:cNvPr>
          <p:cNvSpPr/>
          <p:nvPr/>
        </p:nvSpPr>
        <p:spPr>
          <a:xfrm>
            <a:off x="3711331" y="4285298"/>
            <a:ext cx="4769338" cy="1101318"/>
          </a:xfrm>
          <a:custGeom>
            <a:avLst/>
            <a:gdLst>
              <a:gd name="connsiteX0" fmla="*/ 0 w 6072553"/>
              <a:gd name="connsiteY0" fmla="*/ 5041038 h 5041038"/>
              <a:gd name="connsiteX1" fmla="*/ 3118338 w 6072553"/>
              <a:gd name="connsiteY1" fmla="*/ 115 h 5041038"/>
              <a:gd name="connsiteX2" fmla="*/ 6072553 w 6072553"/>
              <a:gd name="connsiteY2" fmla="*/ 4923807 h 5041038"/>
              <a:gd name="connsiteX0" fmla="*/ 0 w 6125713"/>
              <a:gd name="connsiteY0" fmla="*/ 5041035 h 5041035"/>
              <a:gd name="connsiteX1" fmla="*/ 3118338 w 6125713"/>
              <a:gd name="connsiteY1" fmla="*/ 112 h 5041035"/>
              <a:gd name="connsiteX2" fmla="*/ 6125713 w 6125713"/>
              <a:gd name="connsiteY2" fmla="*/ 4993662 h 5041035"/>
              <a:gd name="connsiteX0" fmla="*/ 0 w 6192163"/>
              <a:gd name="connsiteY0" fmla="*/ 5041029 h 5147344"/>
              <a:gd name="connsiteX1" fmla="*/ 3118338 w 6192163"/>
              <a:gd name="connsiteY1" fmla="*/ 106 h 5147344"/>
              <a:gd name="connsiteX2" fmla="*/ 6192163 w 6192163"/>
              <a:gd name="connsiteY2" fmla="*/ 5147343 h 5147344"/>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23 h 5147336"/>
              <a:gd name="connsiteX1" fmla="*/ 3164853 w 6238678"/>
              <a:gd name="connsiteY1" fmla="*/ 99 h 5147336"/>
              <a:gd name="connsiteX2" fmla="*/ 6238678 w 6238678"/>
              <a:gd name="connsiteY2" fmla="*/ 5147336 h 5147336"/>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795 h 5147308"/>
              <a:gd name="connsiteX1" fmla="*/ 3164853 w 6238678"/>
              <a:gd name="connsiteY1" fmla="*/ 71 h 5147308"/>
              <a:gd name="connsiteX2" fmla="*/ 6238678 w 6238678"/>
              <a:gd name="connsiteY2" fmla="*/ 5147308 h 5147308"/>
            </a:gdLst>
            <a:ahLst/>
            <a:cxnLst>
              <a:cxn ang="0">
                <a:pos x="connsiteX0" y="connsiteY0"/>
              </a:cxn>
              <a:cxn ang="0">
                <a:pos x="connsiteX1" y="connsiteY1"/>
              </a:cxn>
              <a:cxn ang="0">
                <a:pos x="connsiteX2" y="connsiteY2"/>
              </a:cxn>
            </a:cxnLst>
            <a:rect l="l" t="t" r="r" b="b"/>
            <a:pathLst>
              <a:path w="6238678" h="5147308">
                <a:moveTo>
                  <a:pt x="0" y="5138795"/>
                </a:moveTo>
                <a:cubicBezTo>
                  <a:pt x="1784078" y="4234167"/>
                  <a:pt x="2152761" y="19609"/>
                  <a:pt x="3164853" y="71"/>
                </a:cubicBezTo>
                <a:cubicBezTo>
                  <a:pt x="4176945" y="-19467"/>
                  <a:pt x="4470211" y="4024181"/>
                  <a:pt x="6238678" y="5147308"/>
                </a:cubicBezTo>
              </a:path>
            </a:pathLst>
          </a:custGeom>
          <a:ln w="28575">
            <a:solidFill>
              <a:schemeClr val="accent2">
                <a:lumMod val="60000"/>
                <a:lumOff val="40000"/>
              </a:schemeClr>
            </a:solidFill>
            <a:prstDash val="dashDot"/>
          </a:ln>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noProof="0" dirty="0">
              <a:solidFill>
                <a:schemeClr val="accent5">
                  <a:lumMod val="20000"/>
                  <a:lumOff val="80000"/>
                </a:schemeClr>
              </a:solidFill>
            </a:endParaRPr>
          </a:p>
        </p:txBody>
      </p:sp>
      <p:sp>
        <p:nvSpPr>
          <p:cNvPr id="29" name="Título 1">
            <a:extLst>
              <a:ext uri="{FF2B5EF4-FFF2-40B4-BE49-F238E27FC236}">
                <a16:creationId xmlns:a16="http://schemas.microsoft.com/office/drawing/2014/main" id="{C4B4CBEB-972B-4E55-9EAE-038A712F509D}"/>
              </a:ext>
            </a:extLst>
          </p:cNvPr>
          <p:cNvSpPr>
            <a:spLocks noGrp="1"/>
          </p:cNvSpPr>
          <p:nvPr>
            <p:ph type="title"/>
          </p:nvPr>
        </p:nvSpPr>
        <p:spPr>
          <a:xfrm>
            <a:off x="2889908" y="238709"/>
            <a:ext cx="6412184" cy="375552"/>
          </a:xfrm>
        </p:spPr>
        <p:txBody>
          <a:bodyPr>
            <a:noAutofit/>
          </a:bodyPr>
          <a:lstStyle/>
          <a:p>
            <a:r>
              <a:rPr lang="en-US" dirty="0">
                <a:solidFill>
                  <a:schemeClr val="accent5"/>
                </a:solidFill>
              </a:rPr>
              <a:t>C</a:t>
            </a:r>
            <a:r>
              <a:rPr lang="en-US" noProof="0" dirty="0" err="1">
                <a:solidFill>
                  <a:schemeClr val="accent5"/>
                </a:solidFill>
              </a:rPr>
              <a:t>atalysis</a:t>
            </a:r>
            <a:endParaRPr lang="en-US" noProof="0" dirty="0">
              <a:solidFill>
                <a:schemeClr val="accent5"/>
              </a:solidFill>
            </a:endParaRPr>
          </a:p>
        </p:txBody>
      </p:sp>
      <p:sp>
        <p:nvSpPr>
          <p:cNvPr id="35" name="Título 1">
            <a:extLst>
              <a:ext uri="{FF2B5EF4-FFF2-40B4-BE49-F238E27FC236}">
                <a16:creationId xmlns:a16="http://schemas.microsoft.com/office/drawing/2014/main" id="{BAB5D443-2E38-4913-B20A-CA2A3D5DC612}"/>
              </a:ext>
            </a:extLst>
          </p:cNvPr>
          <p:cNvSpPr txBox="1">
            <a:spLocks/>
          </p:cNvSpPr>
          <p:nvPr/>
        </p:nvSpPr>
        <p:spPr>
          <a:xfrm>
            <a:off x="1042009" y="6016360"/>
            <a:ext cx="10989164" cy="59340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noProof="0" dirty="0">
                <a:solidFill>
                  <a:schemeClr val="accent2"/>
                </a:solidFill>
              </a:rPr>
              <a:t>catalyst: </a:t>
            </a:r>
            <a:r>
              <a:rPr lang="en-US" sz="1400" noProof="0" dirty="0">
                <a:latin typeface="+mn-lt"/>
              </a:rPr>
              <a:t>substance that increases the rate of a chemical reaction without itself undergoing any permanent chemical change</a:t>
            </a:r>
            <a:r>
              <a:rPr lang="en-US" sz="1400" noProof="0" dirty="0">
                <a:solidFill>
                  <a:schemeClr val="accent3"/>
                </a:solidFill>
                <a:latin typeface="+mn-lt"/>
              </a:rPr>
              <a:t>.</a:t>
            </a:r>
            <a:endParaRPr lang="en-US" sz="1800" noProof="0" dirty="0">
              <a:solidFill>
                <a:schemeClr val="accent3"/>
              </a:solidFill>
              <a:latin typeface="+mn-lt"/>
            </a:endParaRPr>
          </a:p>
        </p:txBody>
      </p:sp>
      <p:sp>
        <p:nvSpPr>
          <p:cNvPr id="36" name="Título 1">
            <a:extLst>
              <a:ext uri="{FF2B5EF4-FFF2-40B4-BE49-F238E27FC236}">
                <a16:creationId xmlns:a16="http://schemas.microsoft.com/office/drawing/2014/main" id="{62187800-7E72-4C3D-B2A4-B22722E3B570}"/>
              </a:ext>
            </a:extLst>
          </p:cNvPr>
          <p:cNvSpPr txBox="1">
            <a:spLocks/>
          </p:cNvSpPr>
          <p:nvPr/>
        </p:nvSpPr>
        <p:spPr>
          <a:xfrm>
            <a:off x="5684680" y="3731328"/>
            <a:ext cx="828415" cy="593408"/>
          </a:xfrm>
          <a:prstGeom prst="rect">
            <a:avLst/>
          </a:prstGeom>
          <a:ln>
            <a:noFill/>
          </a:ln>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800" noProof="0" dirty="0">
                <a:solidFill>
                  <a:schemeClr val="accent2"/>
                </a:solidFill>
              </a:rPr>
              <a:t>[</a:t>
            </a:r>
            <a:r>
              <a:rPr lang="en-US" sz="1800" dirty="0">
                <a:solidFill>
                  <a:schemeClr val="accent2"/>
                </a:solidFill>
              </a:rPr>
              <a:t>Cat</a:t>
            </a:r>
            <a:r>
              <a:rPr lang="en-US" sz="1800" noProof="0" dirty="0">
                <a:solidFill>
                  <a:schemeClr val="accent2"/>
                </a:solidFill>
              </a:rPr>
              <a:t>]</a:t>
            </a:r>
            <a:endParaRPr lang="en-US" sz="1800" noProof="0" dirty="0">
              <a:solidFill>
                <a:schemeClr val="accent2"/>
              </a:solidFill>
              <a:latin typeface="+mn-lt"/>
            </a:endParaRPr>
          </a:p>
        </p:txBody>
      </p:sp>
      <p:pic>
        <p:nvPicPr>
          <p:cNvPr id="4" name="Picture 3">
            <a:extLst>
              <a:ext uri="{FF2B5EF4-FFF2-40B4-BE49-F238E27FC236}">
                <a16:creationId xmlns:a16="http://schemas.microsoft.com/office/drawing/2014/main" id="{87BF447D-8DB4-53E2-0186-FEF08D15B3C8}"/>
              </a:ext>
            </a:extLst>
          </p:cNvPr>
          <p:cNvPicPr>
            <a:picLocks noChangeAspect="1"/>
          </p:cNvPicPr>
          <p:nvPr/>
        </p:nvPicPr>
        <p:blipFill>
          <a:blip r:embed="rId3"/>
          <a:stretch>
            <a:fillRect/>
          </a:stretch>
        </p:blipFill>
        <p:spPr>
          <a:xfrm>
            <a:off x="2320948" y="4954728"/>
            <a:ext cx="1137920" cy="497840"/>
          </a:xfrm>
          <a:prstGeom prst="rect">
            <a:avLst/>
          </a:prstGeom>
        </p:spPr>
      </p:pic>
      <p:pic>
        <p:nvPicPr>
          <p:cNvPr id="7" name="Picture 6">
            <a:extLst>
              <a:ext uri="{FF2B5EF4-FFF2-40B4-BE49-F238E27FC236}">
                <a16:creationId xmlns:a16="http://schemas.microsoft.com/office/drawing/2014/main" id="{AAC8754D-E776-CE30-0007-6BF733F04B4C}"/>
              </a:ext>
            </a:extLst>
          </p:cNvPr>
          <p:cNvPicPr>
            <a:picLocks noChangeAspect="1"/>
          </p:cNvPicPr>
          <p:nvPr/>
        </p:nvPicPr>
        <p:blipFill>
          <a:blip r:embed="rId4"/>
          <a:stretch>
            <a:fillRect/>
          </a:stretch>
        </p:blipFill>
        <p:spPr>
          <a:xfrm>
            <a:off x="8498400" y="4936713"/>
            <a:ext cx="1137920" cy="497840"/>
          </a:xfrm>
          <a:prstGeom prst="rect">
            <a:avLst/>
          </a:prstGeom>
        </p:spPr>
      </p:pic>
      <p:sp>
        <p:nvSpPr>
          <p:cNvPr id="2" name="Slide Number Placeholder 1">
            <a:extLst>
              <a:ext uri="{FF2B5EF4-FFF2-40B4-BE49-F238E27FC236}">
                <a16:creationId xmlns:a16="http://schemas.microsoft.com/office/drawing/2014/main" id="{E2C9F39C-E65C-5421-5C46-2606D84C8199}"/>
              </a:ext>
            </a:extLst>
          </p:cNvPr>
          <p:cNvSpPr>
            <a:spLocks noGrp="1"/>
          </p:cNvSpPr>
          <p:nvPr>
            <p:ph type="sldNum" sz="quarter" idx="12"/>
          </p:nvPr>
        </p:nvSpPr>
        <p:spPr/>
        <p:txBody>
          <a:bodyPr/>
          <a:lstStyle/>
          <a:p>
            <a:fld id="{F239F8D8-5C05-A645-B085-4DA653486E73}" type="slidenum">
              <a:rPr lang="en-US" smtClean="0"/>
              <a:pPr/>
              <a:t>2</a:t>
            </a:fld>
            <a:endParaRPr lang="en-US"/>
          </a:p>
        </p:txBody>
      </p:sp>
    </p:spTree>
    <p:extLst>
      <p:ext uri="{BB962C8B-B14F-4D97-AF65-F5344CB8AC3E}">
        <p14:creationId xmlns:p14="http://schemas.microsoft.com/office/powerpoint/2010/main" val="3253317962"/>
      </p:ext>
    </p:extLst>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22" presetClass="entr" presetSubtype="8" fill="hold" grpId="0" nodeType="withEffect">
                                  <p:stCondLst>
                                    <p:cond delay="0"/>
                                  </p:stCondLst>
                                  <p:childTnLst>
                                    <p:set>
                                      <p:cBhvr>
                                        <p:cTn id="8" dur="1" fill="hold">
                                          <p:stCondLst>
                                            <p:cond delay="0"/>
                                          </p:stCondLst>
                                        </p:cTn>
                                        <p:tgtEl>
                                          <p:spTgt spid="28"/>
                                        </p:tgtEl>
                                        <p:attrNameLst>
                                          <p:attrName>style.visibility</p:attrName>
                                        </p:attrNameLst>
                                      </p:cBhvr>
                                      <p:to>
                                        <p:strVal val="visible"/>
                                      </p:to>
                                    </p:set>
                                    <p:animEffect transition="in" filter="wipe(left)">
                                      <p:cBhvr>
                                        <p:cTn id="9" dur="500"/>
                                        <p:tgtEl>
                                          <p:spTgt spid="28"/>
                                        </p:tgtEl>
                                      </p:cBhvr>
                                    </p:animEffect>
                                  </p:childTnLst>
                                </p:cTn>
                              </p:par>
                              <p:par>
                                <p:cTn id="10" presetID="9" presetClass="emph" presetSubtype="0" grpId="0" nodeType="withEffect">
                                  <p:stCondLst>
                                    <p:cond delay="0"/>
                                  </p:stCondLst>
                                  <p:childTnLst>
                                    <p:set>
                                      <p:cBhvr>
                                        <p:cTn id="11" dur="indefinite"/>
                                        <p:tgtEl>
                                          <p:spTgt spid="18"/>
                                        </p:tgtEl>
                                        <p:attrNameLst>
                                          <p:attrName>style.opacity</p:attrName>
                                        </p:attrNameLst>
                                      </p:cBhvr>
                                      <p:to>
                                        <p:strVal val="0.25"/>
                                      </p:to>
                                    </p:set>
                                    <p:animEffect filter="image" prLst="opacity: 0.25">
                                      <p:cBhvr rctx="IE">
                                        <p:cTn id="12" dur="indefinite"/>
                                        <p:tgtEl>
                                          <p:spTgt spid="18"/>
                                        </p:tgtEl>
                                      </p:cBhvr>
                                    </p:animEffec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8" grpId="0" animBg="1"/>
      <p:bldP spid="35" grpId="0"/>
      <p:bldP spid="3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ítulo 1">
            <a:extLst>
              <a:ext uri="{FF2B5EF4-FFF2-40B4-BE49-F238E27FC236}">
                <a16:creationId xmlns:a16="http://schemas.microsoft.com/office/drawing/2014/main" id="{C4B4CBEB-972B-4E55-9EAE-038A712F509D}"/>
              </a:ext>
            </a:extLst>
          </p:cNvPr>
          <p:cNvSpPr>
            <a:spLocks noGrp="1"/>
          </p:cNvSpPr>
          <p:nvPr>
            <p:ph type="title"/>
          </p:nvPr>
        </p:nvSpPr>
        <p:spPr/>
        <p:txBody>
          <a:bodyPr>
            <a:noAutofit/>
          </a:bodyPr>
          <a:lstStyle/>
          <a:p>
            <a:r>
              <a:rPr lang="en-US" noProof="0" dirty="0">
                <a:solidFill>
                  <a:schemeClr val="accent1"/>
                </a:solidFill>
              </a:rPr>
              <a:t>Typical “organometallic catalyst”</a:t>
            </a:r>
          </a:p>
        </p:txBody>
      </p:sp>
      <p:sp>
        <p:nvSpPr>
          <p:cNvPr id="10" name="Título 1">
            <a:extLst>
              <a:ext uri="{FF2B5EF4-FFF2-40B4-BE49-F238E27FC236}">
                <a16:creationId xmlns:a16="http://schemas.microsoft.com/office/drawing/2014/main" id="{5FFB6628-7260-FA08-9BCF-2B15156F469A}"/>
              </a:ext>
            </a:extLst>
          </p:cNvPr>
          <p:cNvSpPr txBox="1">
            <a:spLocks/>
          </p:cNvSpPr>
          <p:nvPr/>
        </p:nvSpPr>
        <p:spPr>
          <a:xfrm>
            <a:off x="3028242" y="4701160"/>
            <a:ext cx="6135515" cy="59340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800" noProof="0" dirty="0">
                <a:latin typeface="+mn-lt"/>
              </a:rPr>
              <a:t>Catalyst contains both </a:t>
            </a:r>
            <a:r>
              <a:rPr lang="en-US" sz="1800" noProof="0" dirty="0">
                <a:solidFill>
                  <a:schemeClr val="accent4"/>
                </a:solidFill>
                <a:latin typeface="+mn-lt"/>
              </a:rPr>
              <a:t>metal</a:t>
            </a:r>
            <a:r>
              <a:rPr lang="en-US" sz="1800" noProof="0" dirty="0">
                <a:latin typeface="+mn-lt"/>
              </a:rPr>
              <a:t> and </a:t>
            </a:r>
            <a:r>
              <a:rPr lang="en-US" sz="1800" noProof="0" dirty="0">
                <a:solidFill>
                  <a:schemeClr val="tx2"/>
                </a:solidFill>
                <a:latin typeface="+mn-lt"/>
              </a:rPr>
              <a:t>organic</a:t>
            </a:r>
            <a:r>
              <a:rPr lang="en-US" sz="1800" noProof="0" dirty="0">
                <a:latin typeface="+mn-lt"/>
              </a:rPr>
              <a:t> ligands</a:t>
            </a:r>
          </a:p>
        </p:txBody>
      </p:sp>
      <p:pic>
        <p:nvPicPr>
          <p:cNvPr id="3" name="Picture 2">
            <a:extLst>
              <a:ext uri="{FF2B5EF4-FFF2-40B4-BE49-F238E27FC236}">
                <a16:creationId xmlns:a16="http://schemas.microsoft.com/office/drawing/2014/main" id="{D41CDCD5-A9D6-F39F-85FA-08E87252B739}"/>
              </a:ext>
            </a:extLst>
          </p:cNvPr>
          <p:cNvPicPr>
            <a:picLocks noChangeAspect="1"/>
          </p:cNvPicPr>
          <p:nvPr/>
        </p:nvPicPr>
        <p:blipFill>
          <a:blip r:embed="rId3"/>
          <a:stretch>
            <a:fillRect/>
          </a:stretch>
        </p:blipFill>
        <p:spPr>
          <a:xfrm>
            <a:off x="4992759" y="2039755"/>
            <a:ext cx="2552700" cy="2552700"/>
          </a:xfrm>
          <a:prstGeom prst="rect">
            <a:avLst/>
          </a:prstGeom>
        </p:spPr>
      </p:pic>
      <p:sp>
        <p:nvSpPr>
          <p:cNvPr id="2" name="Slide Number Placeholder 1">
            <a:extLst>
              <a:ext uri="{FF2B5EF4-FFF2-40B4-BE49-F238E27FC236}">
                <a16:creationId xmlns:a16="http://schemas.microsoft.com/office/drawing/2014/main" id="{3FDA9A2E-85E9-A811-C16A-D85CB094F41A}"/>
              </a:ext>
            </a:extLst>
          </p:cNvPr>
          <p:cNvSpPr>
            <a:spLocks noGrp="1"/>
          </p:cNvSpPr>
          <p:nvPr>
            <p:ph type="sldNum" sz="quarter" idx="12"/>
          </p:nvPr>
        </p:nvSpPr>
        <p:spPr/>
        <p:txBody>
          <a:bodyPr/>
          <a:lstStyle/>
          <a:p>
            <a:r>
              <a:rPr lang="en-US" dirty="0"/>
              <a:t>4</a:t>
            </a:r>
          </a:p>
        </p:txBody>
      </p:sp>
    </p:spTree>
    <p:extLst>
      <p:ext uri="{BB962C8B-B14F-4D97-AF65-F5344CB8AC3E}">
        <p14:creationId xmlns:p14="http://schemas.microsoft.com/office/powerpoint/2010/main" val="21488648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6EBB7-02A0-B274-0890-6B9D49CB6A1D}"/>
            </a:ext>
          </a:extLst>
        </p:cNvPr>
        <p:cNvGrpSpPr/>
        <p:nvPr/>
      </p:nvGrpSpPr>
      <p:grpSpPr>
        <a:xfrm>
          <a:off x="0" y="0"/>
          <a:ext cx="0" cy="0"/>
          <a:chOff x="0" y="0"/>
          <a:chExt cx="0" cy="0"/>
        </a:xfrm>
      </p:grpSpPr>
      <p:pic>
        <p:nvPicPr>
          <p:cNvPr id="6148" name="Picture 4" descr="Transition Metals - The Periodic Table Classification Of Elements Into  Groups By Electronic Structure - MCAT Content">
            <a:extLst>
              <a:ext uri="{FF2B5EF4-FFF2-40B4-BE49-F238E27FC236}">
                <a16:creationId xmlns:a16="http://schemas.microsoft.com/office/drawing/2014/main" id="{D0CE12C9-CC8B-D920-9354-ED8E3A0F2F1F}"/>
              </a:ext>
            </a:extLst>
          </p:cNvPr>
          <p:cNvPicPr>
            <a:picLocks noChangeAspect="1" noChangeArrowheads="1"/>
          </p:cNvPicPr>
          <p:nvPr/>
        </p:nvPicPr>
        <p:blipFill>
          <a:blip r:embed="rId3">
            <a:duotone>
              <a:schemeClr val="accent4">
                <a:shade val="45000"/>
                <a:satMod val="135000"/>
              </a:schemeClr>
              <a:prstClr val="white"/>
            </a:duotone>
            <a:extLst>
              <a:ext uri="{BEBA8EAE-BF5A-486C-A8C5-ECC9F3942E4B}">
                <a14:imgProps xmlns:a14="http://schemas.microsoft.com/office/drawing/2010/main">
                  <a14:imgLayer r:embed="rId4">
                    <a14:imgEffect>
                      <a14:colorTemperature colorTemp="47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26707" y="3148590"/>
            <a:ext cx="5726402" cy="3709410"/>
          </a:xfrm>
          <a:prstGeom prst="rect">
            <a:avLst/>
          </a:prstGeom>
          <a:noFill/>
          <a:extLst>
            <a:ext uri="{909E8E84-426E-40DD-AFC4-6F175D3DCCD1}">
              <a14:hiddenFill xmlns:a14="http://schemas.microsoft.com/office/drawing/2010/main">
                <a:solidFill>
                  <a:srgbClr val="FFFFFF"/>
                </a:solidFill>
              </a14:hiddenFill>
            </a:ext>
          </a:extLst>
        </p:spPr>
      </p:pic>
      <p:sp>
        <p:nvSpPr>
          <p:cNvPr id="29" name="Título 1">
            <a:extLst>
              <a:ext uri="{FF2B5EF4-FFF2-40B4-BE49-F238E27FC236}">
                <a16:creationId xmlns:a16="http://schemas.microsoft.com/office/drawing/2014/main" id="{F22FFB6F-C410-9BA5-7C38-333A8B2454E6}"/>
              </a:ext>
            </a:extLst>
          </p:cNvPr>
          <p:cNvSpPr>
            <a:spLocks noGrp="1"/>
          </p:cNvSpPr>
          <p:nvPr>
            <p:ph type="title"/>
          </p:nvPr>
        </p:nvSpPr>
        <p:spPr/>
        <p:txBody>
          <a:bodyPr>
            <a:noAutofit/>
          </a:bodyPr>
          <a:lstStyle/>
          <a:p>
            <a:r>
              <a:rPr lang="en-US" noProof="0" dirty="0">
                <a:solidFill>
                  <a:schemeClr val="accent1"/>
                </a:solidFill>
              </a:rPr>
              <a:t>Typical “organometallic catalyst”</a:t>
            </a:r>
          </a:p>
        </p:txBody>
      </p:sp>
      <p:sp>
        <p:nvSpPr>
          <p:cNvPr id="15" name="Título 1">
            <a:extLst>
              <a:ext uri="{FF2B5EF4-FFF2-40B4-BE49-F238E27FC236}">
                <a16:creationId xmlns:a16="http://schemas.microsoft.com/office/drawing/2014/main" id="{7C532B62-380E-1CE6-660F-2E6EEB56E32C}"/>
              </a:ext>
            </a:extLst>
          </p:cNvPr>
          <p:cNvSpPr txBox="1">
            <a:spLocks/>
          </p:cNvSpPr>
          <p:nvPr/>
        </p:nvSpPr>
        <p:spPr>
          <a:xfrm>
            <a:off x="3118656" y="2641513"/>
            <a:ext cx="6135515" cy="59340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800" noProof="0" dirty="0">
                <a:latin typeface="+mn-lt"/>
              </a:rPr>
              <a:t>Catalyst contains both </a:t>
            </a:r>
            <a:r>
              <a:rPr lang="en-US" sz="1800" noProof="0" dirty="0">
                <a:solidFill>
                  <a:schemeClr val="accent4"/>
                </a:solidFill>
                <a:latin typeface="+mn-lt"/>
              </a:rPr>
              <a:t>metal</a:t>
            </a:r>
            <a:r>
              <a:rPr lang="en-US" sz="1800" noProof="0" dirty="0">
                <a:latin typeface="+mn-lt"/>
              </a:rPr>
              <a:t> and </a:t>
            </a:r>
            <a:r>
              <a:rPr lang="en-US" sz="1800" noProof="0" dirty="0">
                <a:solidFill>
                  <a:schemeClr val="tx2"/>
                </a:solidFill>
                <a:latin typeface="+mn-lt"/>
              </a:rPr>
              <a:t>organic</a:t>
            </a:r>
            <a:r>
              <a:rPr lang="en-US" sz="1800" noProof="0" dirty="0">
                <a:latin typeface="+mn-lt"/>
              </a:rPr>
              <a:t> ligands</a:t>
            </a:r>
          </a:p>
        </p:txBody>
      </p:sp>
      <p:pic>
        <p:nvPicPr>
          <p:cNvPr id="19" name="Picture 18">
            <a:extLst>
              <a:ext uri="{FF2B5EF4-FFF2-40B4-BE49-F238E27FC236}">
                <a16:creationId xmlns:a16="http://schemas.microsoft.com/office/drawing/2014/main" id="{BA9DCEBF-0A60-C92F-8795-CEBCBBF24C5A}"/>
              </a:ext>
            </a:extLst>
          </p:cNvPr>
          <p:cNvPicPr>
            <a:picLocks noChangeAspect="1"/>
          </p:cNvPicPr>
          <p:nvPr/>
        </p:nvPicPr>
        <p:blipFill>
          <a:blip r:embed="rId5"/>
          <a:stretch>
            <a:fillRect/>
          </a:stretch>
        </p:blipFill>
        <p:spPr>
          <a:xfrm>
            <a:off x="6017166" y="3429000"/>
            <a:ext cx="5726402" cy="3205076"/>
          </a:xfrm>
          <a:prstGeom prst="rect">
            <a:avLst/>
          </a:prstGeom>
        </p:spPr>
      </p:pic>
      <p:sp>
        <p:nvSpPr>
          <p:cNvPr id="2" name="Rectangle 1">
            <a:extLst>
              <a:ext uri="{FF2B5EF4-FFF2-40B4-BE49-F238E27FC236}">
                <a16:creationId xmlns:a16="http://schemas.microsoft.com/office/drawing/2014/main" id="{9B4D7AC9-C228-34C4-9F56-973051BDD9EE}"/>
              </a:ext>
            </a:extLst>
          </p:cNvPr>
          <p:cNvSpPr/>
          <p:nvPr/>
        </p:nvSpPr>
        <p:spPr>
          <a:xfrm>
            <a:off x="5955320" y="3336012"/>
            <a:ext cx="5850094" cy="3429000"/>
          </a:xfrm>
          <a:prstGeom prst="rect">
            <a:avLst/>
          </a:prstGeom>
          <a:noFill/>
          <a:ln w="19050">
            <a:solidFill>
              <a:srgbClr val="9FBD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ángulo 17">
            <a:extLst>
              <a:ext uri="{FF2B5EF4-FFF2-40B4-BE49-F238E27FC236}">
                <a16:creationId xmlns:a16="http://schemas.microsoft.com/office/drawing/2014/main" id="{0DD9DB86-FD9C-68BE-8D41-C9830A597014}"/>
              </a:ext>
            </a:extLst>
          </p:cNvPr>
          <p:cNvSpPr/>
          <p:nvPr/>
        </p:nvSpPr>
        <p:spPr>
          <a:xfrm>
            <a:off x="7892764" y="3177223"/>
            <a:ext cx="1975207" cy="261831"/>
          </a:xfrm>
          <a:prstGeom prst="rect">
            <a:avLst/>
          </a:prstGeom>
          <a:solidFill>
            <a:schemeClr val="bg1"/>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i="1" dirty="0">
                <a:solidFill>
                  <a:schemeClr val="tx2"/>
                </a:solidFill>
              </a:rPr>
              <a:t>organic ligands</a:t>
            </a:r>
            <a:endParaRPr lang="en-US" i="1" noProof="0" dirty="0">
              <a:solidFill>
                <a:schemeClr val="tx2"/>
              </a:solidFill>
            </a:endParaRPr>
          </a:p>
        </p:txBody>
      </p:sp>
      <p:pic>
        <p:nvPicPr>
          <p:cNvPr id="4" name="Picture 3">
            <a:extLst>
              <a:ext uri="{FF2B5EF4-FFF2-40B4-BE49-F238E27FC236}">
                <a16:creationId xmlns:a16="http://schemas.microsoft.com/office/drawing/2014/main" id="{14835E97-FD32-D916-72C1-7CF0AE82E8A4}"/>
              </a:ext>
            </a:extLst>
          </p:cNvPr>
          <p:cNvPicPr>
            <a:picLocks noChangeAspect="1"/>
          </p:cNvPicPr>
          <p:nvPr/>
        </p:nvPicPr>
        <p:blipFill>
          <a:blip r:embed="rId6"/>
          <a:stretch>
            <a:fillRect/>
          </a:stretch>
        </p:blipFill>
        <p:spPr>
          <a:xfrm>
            <a:off x="5110204" y="427499"/>
            <a:ext cx="2127250" cy="2127250"/>
          </a:xfrm>
          <a:prstGeom prst="rect">
            <a:avLst/>
          </a:prstGeom>
        </p:spPr>
      </p:pic>
      <p:sp>
        <p:nvSpPr>
          <p:cNvPr id="5" name="Slide Number Placeholder 4">
            <a:extLst>
              <a:ext uri="{FF2B5EF4-FFF2-40B4-BE49-F238E27FC236}">
                <a16:creationId xmlns:a16="http://schemas.microsoft.com/office/drawing/2014/main" id="{97295035-6141-55CE-FED1-7653B431CAA2}"/>
              </a:ext>
            </a:extLst>
          </p:cNvPr>
          <p:cNvSpPr>
            <a:spLocks noGrp="1"/>
          </p:cNvSpPr>
          <p:nvPr>
            <p:ph type="sldNum" sz="quarter" idx="12"/>
          </p:nvPr>
        </p:nvSpPr>
        <p:spPr/>
        <p:txBody>
          <a:bodyPr/>
          <a:lstStyle/>
          <a:p>
            <a:r>
              <a:rPr lang="en-US" dirty="0"/>
              <a:t>4</a:t>
            </a:r>
          </a:p>
        </p:txBody>
      </p:sp>
    </p:spTree>
    <p:extLst>
      <p:ext uri="{BB962C8B-B14F-4D97-AF65-F5344CB8AC3E}">
        <p14:creationId xmlns:p14="http://schemas.microsoft.com/office/powerpoint/2010/main" val="172115350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AAA88-554B-9ECF-DC02-D6C27A98FE67}"/>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99A5D131-E8E8-D04D-1189-DF8EF3A16A9C}"/>
              </a:ext>
            </a:extLst>
          </p:cNvPr>
          <p:cNvPicPr>
            <a:picLocks noChangeAspect="1"/>
          </p:cNvPicPr>
          <p:nvPr/>
        </p:nvPicPr>
        <p:blipFill>
          <a:blip r:embed="rId3"/>
          <a:stretch>
            <a:fillRect/>
          </a:stretch>
        </p:blipFill>
        <p:spPr>
          <a:xfrm>
            <a:off x="3597837" y="3371838"/>
            <a:ext cx="5003800" cy="1066800"/>
          </a:xfrm>
          <a:prstGeom prst="rect">
            <a:avLst/>
          </a:prstGeom>
        </p:spPr>
      </p:pic>
      <p:sp>
        <p:nvSpPr>
          <p:cNvPr id="2" name="Title 1">
            <a:extLst>
              <a:ext uri="{FF2B5EF4-FFF2-40B4-BE49-F238E27FC236}">
                <a16:creationId xmlns:a16="http://schemas.microsoft.com/office/drawing/2014/main" id="{48590FB6-4974-38C2-1774-2CD2033176A9}"/>
              </a:ext>
            </a:extLst>
          </p:cNvPr>
          <p:cNvSpPr>
            <a:spLocks noGrp="1"/>
          </p:cNvSpPr>
          <p:nvPr>
            <p:ph type="title"/>
          </p:nvPr>
        </p:nvSpPr>
        <p:spPr/>
        <p:txBody>
          <a:bodyPr/>
          <a:lstStyle/>
          <a:p>
            <a:r>
              <a:rPr lang="en-US" noProof="0" dirty="0"/>
              <a:t>Organometallic reactions</a:t>
            </a:r>
          </a:p>
        </p:txBody>
      </p:sp>
      <p:sp>
        <p:nvSpPr>
          <p:cNvPr id="8" name="Rectángulo 17">
            <a:extLst>
              <a:ext uri="{FF2B5EF4-FFF2-40B4-BE49-F238E27FC236}">
                <a16:creationId xmlns:a16="http://schemas.microsoft.com/office/drawing/2014/main" id="{E3791950-EE07-175B-B8EC-B42C47238A60}"/>
              </a:ext>
            </a:extLst>
          </p:cNvPr>
          <p:cNvSpPr/>
          <p:nvPr/>
        </p:nvSpPr>
        <p:spPr>
          <a:xfrm>
            <a:off x="4390208" y="640014"/>
            <a:ext cx="3445565" cy="261831"/>
          </a:xfrm>
          <a:prstGeom prst="rect">
            <a:avLst/>
          </a:prstGeom>
          <a:solidFill>
            <a:schemeClr val="bg1"/>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i="1" noProof="0" dirty="0">
                <a:solidFill>
                  <a:schemeClr val="accent5">
                    <a:alpha val="35000"/>
                  </a:schemeClr>
                </a:solidFill>
              </a:rPr>
              <a:t>Cross coupling</a:t>
            </a:r>
          </a:p>
        </p:txBody>
      </p:sp>
      <p:sp>
        <p:nvSpPr>
          <p:cNvPr id="3" name="Rectángulo 17">
            <a:extLst>
              <a:ext uri="{FF2B5EF4-FFF2-40B4-BE49-F238E27FC236}">
                <a16:creationId xmlns:a16="http://schemas.microsoft.com/office/drawing/2014/main" id="{2B68FAE7-DFAA-A0B7-449E-D1F48F9CA7A1}"/>
              </a:ext>
            </a:extLst>
          </p:cNvPr>
          <p:cNvSpPr/>
          <p:nvPr/>
        </p:nvSpPr>
        <p:spPr>
          <a:xfrm>
            <a:off x="4373218" y="5808737"/>
            <a:ext cx="3445565" cy="261831"/>
          </a:xfrm>
          <a:prstGeom prst="rect">
            <a:avLst/>
          </a:prstGeom>
          <a:solidFill>
            <a:schemeClr val="bg1"/>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i="1" noProof="0" dirty="0">
                <a:solidFill>
                  <a:srgbClr val="105492"/>
                </a:solidFill>
              </a:rPr>
              <a:t>C-H functionalization</a:t>
            </a:r>
          </a:p>
        </p:txBody>
      </p:sp>
      <p:pic>
        <p:nvPicPr>
          <p:cNvPr id="5" name="Picture 4">
            <a:extLst>
              <a:ext uri="{FF2B5EF4-FFF2-40B4-BE49-F238E27FC236}">
                <a16:creationId xmlns:a16="http://schemas.microsoft.com/office/drawing/2014/main" id="{C27C82C2-4029-245B-FC53-735399D9F6E8}"/>
              </a:ext>
            </a:extLst>
          </p:cNvPr>
          <p:cNvPicPr>
            <a:picLocks noChangeAspect="1"/>
          </p:cNvPicPr>
          <p:nvPr/>
        </p:nvPicPr>
        <p:blipFill>
          <a:blip r:embed="rId4">
            <a:alphaModFix amt="35000"/>
          </a:blip>
          <a:stretch>
            <a:fillRect/>
          </a:stretch>
        </p:blipFill>
        <p:spPr>
          <a:xfrm>
            <a:off x="3073400" y="1221065"/>
            <a:ext cx="6045200" cy="1143000"/>
          </a:xfrm>
          <a:prstGeom prst="rect">
            <a:avLst/>
          </a:prstGeom>
        </p:spPr>
      </p:pic>
      <p:pic>
        <p:nvPicPr>
          <p:cNvPr id="7" name="Picture 6">
            <a:extLst>
              <a:ext uri="{FF2B5EF4-FFF2-40B4-BE49-F238E27FC236}">
                <a16:creationId xmlns:a16="http://schemas.microsoft.com/office/drawing/2014/main" id="{D57413BF-BAE0-DD92-E381-02450685806D}"/>
              </a:ext>
            </a:extLst>
          </p:cNvPr>
          <p:cNvPicPr>
            <a:picLocks noChangeAspect="1"/>
          </p:cNvPicPr>
          <p:nvPr/>
        </p:nvPicPr>
        <p:blipFill>
          <a:blip r:embed="rId5"/>
          <a:stretch>
            <a:fillRect/>
          </a:stretch>
        </p:blipFill>
        <p:spPr>
          <a:xfrm>
            <a:off x="3090390" y="4425823"/>
            <a:ext cx="6045200" cy="1143000"/>
          </a:xfrm>
          <a:prstGeom prst="rect">
            <a:avLst/>
          </a:prstGeom>
        </p:spPr>
      </p:pic>
      <p:sp>
        <p:nvSpPr>
          <p:cNvPr id="11" name="CuadroTexto 19">
            <a:extLst>
              <a:ext uri="{FF2B5EF4-FFF2-40B4-BE49-F238E27FC236}">
                <a16:creationId xmlns:a16="http://schemas.microsoft.com/office/drawing/2014/main" id="{959071E2-B5FA-2844-3805-2F3CB2F36651}"/>
              </a:ext>
            </a:extLst>
          </p:cNvPr>
          <p:cNvSpPr txBox="1"/>
          <p:nvPr/>
        </p:nvSpPr>
        <p:spPr>
          <a:xfrm>
            <a:off x="3968306" y="6310482"/>
            <a:ext cx="4289367" cy="569876"/>
          </a:xfrm>
          <a:prstGeom prst="rect">
            <a:avLst/>
          </a:prstGeom>
          <a:noFill/>
        </p:spPr>
        <p:txBody>
          <a:bodyPr wrap="square" lIns="0" rIns="0" numCol="1">
            <a:noAutofit/>
          </a:bodyPr>
          <a:lstStyle/>
          <a:p>
            <a:pPr marL="342900" indent="-342900">
              <a:lnSpc>
                <a:spcPct val="150000"/>
              </a:lnSpc>
              <a:buFont typeface="Wingdings" pitchFamily="2" charset="2"/>
              <a:buChar char="q"/>
            </a:pPr>
            <a:r>
              <a:rPr lang="en-US" sz="2000" noProof="0" dirty="0">
                <a:solidFill>
                  <a:schemeClr val="tx2"/>
                </a:solidFill>
                <a:effectLst/>
              </a:rPr>
              <a:t>No pre-functionalized substrates</a:t>
            </a:r>
          </a:p>
        </p:txBody>
      </p:sp>
      <p:pic>
        <p:nvPicPr>
          <p:cNvPr id="16" name="Picture 15">
            <a:extLst>
              <a:ext uri="{FF2B5EF4-FFF2-40B4-BE49-F238E27FC236}">
                <a16:creationId xmlns:a16="http://schemas.microsoft.com/office/drawing/2014/main" id="{A0FE4C62-BF16-8350-91EA-67BE60171BB8}"/>
              </a:ext>
            </a:extLst>
          </p:cNvPr>
          <p:cNvPicPr>
            <a:picLocks noChangeAspect="1"/>
          </p:cNvPicPr>
          <p:nvPr/>
        </p:nvPicPr>
        <p:blipFill>
          <a:blip r:embed="rId6"/>
          <a:stretch>
            <a:fillRect/>
          </a:stretch>
        </p:blipFill>
        <p:spPr>
          <a:xfrm>
            <a:off x="3600511" y="2884488"/>
            <a:ext cx="4953000" cy="1117600"/>
          </a:xfrm>
          <a:prstGeom prst="rect">
            <a:avLst/>
          </a:prstGeom>
        </p:spPr>
      </p:pic>
      <p:sp>
        <p:nvSpPr>
          <p:cNvPr id="4" name="Slide Number Placeholder 3">
            <a:extLst>
              <a:ext uri="{FF2B5EF4-FFF2-40B4-BE49-F238E27FC236}">
                <a16:creationId xmlns:a16="http://schemas.microsoft.com/office/drawing/2014/main" id="{468A6CD1-AEE3-8673-E43C-5086B0C2F9AA}"/>
              </a:ext>
            </a:extLst>
          </p:cNvPr>
          <p:cNvSpPr>
            <a:spLocks noGrp="1"/>
          </p:cNvSpPr>
          <p:nvPr>
            <p:ph type="sldNum" sz="quarter" idx="12"/>
          </p:nvPr>
        </p:nvSpPr>
        <p:spPr/>
        <p:txBody>
          <a:bodyPr/>
          <a:lstStyle/>
          <a:p>
            <a:r>
              <a:rPr lang="en-US" dirty="0"/>
              <a:t>5</a:t>
            </a:r>
          </a:p>
        </p:txBody>
      </p:sp>
    </p:spTree>
    <p:extLst>
      <p:ext uri="{BB962C8B-B14F-4D97-AF65-F5344CB8AC3E}">
        <p14:creationId xmlns:p14="http://schemas.microsoft.com/office/powerpoint/2010/main" val="19764111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F0D1C-E51E-F66C-15D3-ECBF710BFF8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73DD4B3-E354-9CB2-8C9D-6B9C07EF9997}"/>
              </a:ext>
            </a:extLst>
          </p:cNvPr>
          <p:cNvSpPr>
            <a:spLocks noGrp="1"/>
          </p:cNvSpPr>
          <p:nvPr>
            <p:ph type="title"/>
          </p:nvPr>
        </p:nvSpPr>
        <p:spPr>
          <a:xfrm>
            <a:off x="2889908" y="70772"/>
            <a:ext cx="6412184" cy="375552"/>
          </a:xfrm>
        </p:spPr>
        <p:txBody>
          <a:bodyPr/>
          <a:lstStyle/>
          <a:p>
            <a:r>
              <a:rPr lang="en-US" dirty="0"/>
              <a:t>Ligand-substrate s</a:t>
            </a:r>
            <a:r>
              <a:rPr lang="en-US" noProof="0" dirty="0" err="1"/>
              <a:t>upramolecular</a:t>
            </a:r>
            <a:r>
              <a:rPr lang="en-US" noProof="0" dirty="0"/>
              <a:t> interactions</a:t>
            </a:r>
          </a:p>
        </p:txBody>
      </p:sp>
      <p:sp>
        <p:nvSpPr>
          <p:cNvPr id="7" name="CuadroTexto 7">
            <a:extLst>
              <a:ext uri="{FF2B5EF4-FFF2-40B4-BE49-F238E27FC236}">
                <a16:creationId xmlns:a16="http://schemas.microsoft.com/office/drawing/2014/main" id="{E0C51A9F-D0DE-1B38-AEB7-6DDDF0DD8B41}"/>
              </a:ext>
            </a:extLst>
          </p:cNvPr>
          <p:cNvSpPr txBox="1"/>
          <p:nvPr/>
        </p:nvSpPr>
        <p:spPr>
          <a:xfrm>
            <a:off x="6720739" y="1244497"/>
            <a:ext cx="1829732" cy="646331"/>
          </a:xfrm>
          <a:prstGeom prst="rect">
            <a:avLst/>
          </a:prstGeom>
          <a:noFill/>
        </p:spPr>
        <p:txBody>
          <a:bodyPr wrap="none" rtlCol="0">
            <a:spAutoFit/>
          </a:bodyPr>
          <a:lstStyle/>
          <a:p>
            <a:pPr algn="ctr"/>
            <a:r>
              <a:rPr lang="en-US" i="1" noProof="0" dirty="0">
                <a:solidFill>
                  <a:schemeClr val="tx2"/>
                </a:solidFill>
              </a:rPr>
              <a:t>Supramolecular</a:t>
            </a:r>
          </a:p>
          <a:p>
            <a:pPr algn="ctr"/>
            <a:r>
              <a:rPr lang="en-US" i="1" noProof="0" dirty="0">
                <a:solidFill>
                  <a:schemeClr val="tx2"/>
                </a:solidFill>
              </a:rPr>
              <a:t>recognition </a:t>
            </a:r>
            <a:r>
              <a:rPr lang="en-US" i="1" dirty="0">
                <a:solidFill>
                  <a:schemeClr val="tx2"/>
                </a:solidFill>
              </a:rPr>
              <a:t>unit</a:t>
            </a:r>
            <a:endParaRPr lang="en-US" i="1" noProof="0" dirty="0">
              <a:solidFill>
                <a:schemeClr val="tx2"/>
              </a:solidFill>
            </a:endParaRPr>
          </a:p>
        </p:txBody>
      </p:sp>
      <p:pic>
        <p:nvPicPr>
          <p:cNvPr id="13" name="Picture 12">
            <a:extLst>
              <a:ext uri="{FF2B5EF4-FFF2-40B4-BE49-F238E27FC236}">
                <a16:creationId xmlns:a16="http://schemas.microsoft.com/office/drawing/2014/main" id="{9FF24A73-D1EA-8015-9FA0-D93642B53ACA}"/>
              </a:ext>
            </a:extLst>
          </p:cNvPr>
          <p:cNvPicPr>
            <a:picLocks noChangeAspect="1"/>
          </p:cNvPicPr>
          <p:nvPr/>
        </p:nvPicPr>
        <p:blipFill>
          <a:blip r:embed="rId3"/>
          <a:stretch>
            <a:fillRect/>
          </a:stretch>
        </p:blipFill>
        <p:spPr>
          <a:xfrm>
            <a:off x="3780590" y="590550"/>
            <a:ext cx="4267200" cy="5676900"/>
          </a:xfrm>
          <a:prstGeom prst="rect">
            <a:avLst/>
          </a:prstGeom>
        </p:spPr>
      </p:pic>
      <p:sp>
        <p:nvSpPr>
          <p:cNvPr id="2" name="Slide Number Placeholder 1">
            <a:extLst>
              <a:ext uri="{FF2B5EF4-FFF2-40B4-BE49-F238E27FC236}">
                <a16:creationId xmlns:a16="http://schemas.microsoft.com/office/drawing/2014/main" id="{50250D7A-B904-14A9-6B4D-10F815410D46}"/>
              </a:ext>
            </a:extLst>
          </p:cNvPr>
          <p:cNvSpPr>
            <a:spLocks noGrp="1"/>
          </p:cNvSpPr>
          <p:nvPr>
            <p:ph type="sldNum" sz="quarter" idx="12"/>
          </p:nvPr>
        </p:nvSpPr>
        <p:spPr/>
        <p:txBody>
          <a:bodyPr/>
          <a:lstStyle/>
          <a:p>
            <a:r>
              <a:rPr lang="en-US" dirty="0"/>
              <a:t>12</a:t>
            </a:r>
          </a:p>
        </p:txBody>
      </p:sp>
    </p:spTree>
    <p:extLst>
      <p:ext uri="{BB962C8B-B14F-4D97-AF65-F5344CB8AC3E}">
        <p14:creationId xmlns:p14="http://schemas.microsoft.com/office/powerpoint/2010/main" val="17097290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2F630C-EB8A-48E6-BDFB-AD47E470A6FD}"/>
              </a:ext>
            </a:extLst>
          </p:cNvPr>
          <p:cNvSpPr>
            <a:spLocks noGrp="1"/>
          </p:cNvSpPr>
          <p:nvPr>
            <p:ph type="title"/>
          </p:nvPr>
        </p:nvSpPr>
        <p:spPr/>
        <p:txBody>
          <a:bodyPr>
            <a:noAutofit/>
          </a:bodyPr>
          <a:lstStyle/>
          <a:p>
            <a:r>
              <a:rPr lang="en-US" noProof="0" dirty="0">
                <a:solidFill>
                  <a:schemeClr val="accent2"/>
                </a:solidFill>
              </a:rPr>
              <a:t>Mechanism: </a:t>
            </a:r>
            <a:r>
              <a:rPr lang="en-US" i="1" noProof="0" dirty="0">
                <a:solidFill>
                  <a:schemeClr val="accent2"/>
                </a:solidFill>
              </a:rPr>
              <a:t>Non-covalent interactions</a:t>
            </a:r>
            <a:endParaRPr lang="en-US" noProof="0" dirty="0">
              <a:solidFill>
                <a:schemeClr val="accent3"/>
              </a:solidFill>
              <a:latin typeface="+mn-lt"/>
            </a:endParaRPr>
          </a:p>
        </p:txBody>
      </p:sp>
      <p:grpSp>
        <p:nvGrpSpPr>
          <p:cNvPr id="9" name="Grupo 8">
            <a:extLst>
              <a:ext uri="{FF2B5EF4-FFF2-40B4-BE49-F238E27FC236}">
                <a16:creationId xmlns:a16="http://schemas.microsoft.com/office/drawing/2014/main" id="{6D2AFAC3-1853-CE04-088A-3790AE2AEC9B}"/>
              </a:ext>
            </a:extLst>
          </p:cNvPr>
          <p:cNvGrpSpPr/>
          <p:nvPr/>
        </p:nvGrpSpPr>
        <p:grpSpPr>
          <a:xfrm>
            <a:off x="4314097" y="953553"/>
            <a:ext cx="4338583" cy="3966969"/>
            <a:chOff x="2524845" y="1298034"/>
            <a:chExt cx="3689976" cy="3373917"/>
          </a:xfrm>
        </p:grpSpPr>
        <p:pic>
          <p:nvPicPr>
            <p:cNvPr id="11" name="Imagen 10" descr="Gráfico, Gráfico de burbujas&#10;&#10;Descripción generada automáticamente">
              <a:extLst>
                <a:ext uri="{FF2B5EF4-FFF2-40B4-BE49-F238E27FC236}">
                  <a16:creationId xmlns:a16="http://schemas.microsoft.com/office/drawing/2014/main" id="{165FF8F1-41E4-37A9-DF2D-5E7723E64F0C}"/>
                </a:ext>
              </a:extLst>
            </p:cNvPr>
            <p:cNvPicPr>
              <a:picLocks noChangeAspect="1"/>
            </p:cNvPicPr>
            <p:nvPr/>
          </p:nvPicPr>
          <p:blipFill rotWithShape="1">
            <a:blip r:embed="rId3">
              <a:extLst>
                <a:ext uri="{28A0092B-C50C-407E-A947-70E740481C1C}">
                  <a14:useLocalDpi xmlns:a14="http://schemas.microsoft.com/office/drawing/2010/main"/>
                </a:ext>
              </a:extLst>
            </a:blip>
            <a:srcRect t="49780" r="42525" b="6834"/>
            <a:stretch/>
          </p:blipFill>
          <p:spPr>
            <a:xfrm>
              <a:off x="2524845" y="1298034"/>
              <a:ext cx="3689976" cy="3373917"/>
            </a:xfrm>
            <a:prstGeom prst="rect">
              <a:avLst/>
            </a:prstGeom>
          </p:spPr>
        </p:pic>
        <p:sp>
          <p:nvSpPr>
            <p:cNvPr id="8" name="Rectángulo 7">
              <a:extLst>
                <a:ext uri="{FF2B5EF4-FFF2-40B4-BE49-F238E27FC236}">
                  <a16:creationId xmlns:a16="http://schemas.microsoft.com/office/drawing/2014/main" id="{513639BD-4A62-D1AC-EE89-FFC2650A3D6D}"/>
                </a:ext>
              </a:extLst>
            </p:cNvPr>
            <p:cNvSpPr/>
            <p:nvPr/>
          </p:nvSpPr>
          <p:spPr>
            <a:xfrm>
              <a:off x="5735782" y="2639698"/>
              <a:ext cx="479039" cy="15786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2" name="CuadroTexto 11">
            <a:extLst>
              <a:ext uri="{FF2B5EF4-FFF2-40B4-BE49-F238E27FC236}">
                <a16:creationId xmlns:a16="http://schemas.microsoft.com/office/drawing/2014/main" id="{577E5B00-A2EC-416F-6628-F509AA98D960}"/>
              </a:ext>
            </a:extLst>
          </p:cNvPr>
          <p:cNvSpPr txBox="1"/>
          <p:nvPr/>
        </p:nvSpPr>
        <p:spPr>
          <a:xfrm>
            <a:off x="2629894" y="5240303"/>
            <a:ext cx="7315201" cy="646331"/>
          </a:xfrm>
          <a:prstGeom prst="rect">
            <a:avLst/>
          </a:prstGeom>
          <a:noFill/>
        </p:spPr>
        <p:txBody>
          <a:bodyPr wrap="square">
            <a:spAutoFit/>
          </a:bodyPr>
          <a:lstStyle/>
          <a:p>
            <a:pPr marL="285750" indent="-285750">
              <a:buFont typeface="Arial" panose="020B0604020202020204" pitchFamily="34" charset="0"/>
              <a:buChar char="•"/>
            </a:pPr>
            <a:r>
              <a:rPr lang="en-US" noProof="0" dirty="0">
                <a:solidFill>
                  <a:srgbClr val="00869E"/>
                </a:solidFill>
              </a:rPr>
              <a:t>N</a:t>
            </a:r>
            <a:r>
              <a:rPr lang="en-US" sz="1800" noProof="0" dirty="0">
                <a:solidFill>
                  <a:srgbClr val="00869E"/>
                </a:solidFill>
                <a:effectLst/>
              </a:rPr>
              <a:t>etwork of attractive interactions between the carbonyl group of the benzamide and the CF</a:t>
            </a:r>
            <a:r>
              <a:rPr lang="en-US" sz="800" noProof="0" dirty="0">
                <a:solidFill>
                  <a:srgbClr val="00869E"/>
                </a:solidFill>
                <a:effectLst/>
              </a:rPr>
              <a:t>3</a:t>
            </a:r>
            <a:r>
              <a:rPr lang="en-US" sz="1800" noProof="0" dirty="0">
                <a:solidFill>
                  <a:srgbClr val="00869E"/>
                </a:solidFill>
                <a:effectLst/>
              </a:rPr>
              <a:t>-pyridine ring of ligand </a:t>
            </a:r>
            <a:endParaRPr lang="en-US" noProof="0" dirty="0">
              <a:solidFill>
                <a:srgbClr val="00869E"/>
              </a:solidFill>
            </a:endParaRPr>
          </a:p>
        </p:txBody>
      </p:sp>
      <p:sp>
        <p:nvSpPr>
          <p:cNvPr id="3" name="TextBox 2">
            <a:extLst>
              <a:ext uri="{FF2B5EF4-FFF2-40B4-BE49-F238E27FC236}">
                <a16:creationId xmlns:a16="http://schemas.microsoft.com/office/drawing/2014/main" id="{B92B0414-804E-23C3-3CC6-C0BC894AFB58}"/>
              </a:ext>
            </a:extLst>
          </p:cNvPr>
          <p:cNvSpPr txBox="1"/>
          <p:nvPr/>
        </p:nvSpPr>
        <p:spPr>
          <a:xfrm>
            <a:off x="0" y="6585228"/>
            <a:ext cx="4592320" cy="276999"/>
          </a:xfrm>
          <a:prstGeom prst="rect">
            <a:avLst/>
          </a:prstGeom>
          <a:noFill/>
        </p:spPr>
        <p:txBody>
          <a:bodyPr wrap="square">
            <a:spAutoFit/>
          </a:bodyPr>
          <a:lstStyle/>
          <a:p>
            <a:r>
              <a:rPr lang="es-ES" sz="1200" dirty="0">
                <a:effectLst/>
                <a:latin typeface="Aptos" panose="020B0004020202020204" pitchFamily="34" charset="0"/>
                <a:ea typeface="Aptos" panose="020B0004020202020204" pitchFamily="34" charset="0"/>
                <a:cs typeface="Times New Roman" panose="02020603050405020304" pitchFamily="18" charset="0"/>
              </a:rPr>
              <a:t>SMD</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sp>
        <p:nvSpPr>
          <p:cNvPr id="5" name="Slide Number Placeholder 4">
            <a:extLst>
              <a:ext uri="{FF2B5EF4-FFF2-40B4-BE49-F238E27FC236}">
                <a16:creationId xmlns:a16="http://schemas.microsoft.com/office/drawing/2014/main" id="{CA903AB7-3AB8-108F-ED22-E53DF6F453DC}"/>
              </a:ext>
            </a:extLst>
          </p:cNvPr>
          <p:cNvSpPr>
            <a:spLocks noGrp="1"/>
          </p:cNvSpPr>
          <p:nvPr>
            <p:ph type="sldNum" sz="quarter" idx="12"/>
          </p:nvPr>
        </p:nvSpPr>
        <p:spPr/>
        <p:txBody>
          <a:bodyPr/>
          <a:lstStyle/>
          <a:p>
            <a:r>
              <a:rPr lang="en-US" dirty="0"/>
              <a:t>54</a:t>
            </a:r>
          </a:p>
        </p:txBody>
      </p:sp>
    </p:spTree>
    <p:extLst>
      <p:ext uri="{BB962C8B-B14F-4D97-AF65-F5344CB8AC3E}">
        <p14:creationId xmlns:p14="http://schemas.microsoft.com/office/powerpoint/2010/main" val="9055562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40">
            <a:extLst>
              <a:ext uri="{FF2B5EF4-FFF2-40B4-BE49-F238E27FC236}">
                <a16:creationId xmlns:a16="http://schemas.microsoft.com/office/drawing/2014/main" id="{970FDA1C-54BC-395A-76C6-6A84250FC4DA}"/>
              </a:ext>
            </a:extLst>
          </p:cNvPr>
          <p:cNvPicPr>
            <a:picLocks noChangeAspect="1"/>
          </p:cNvPicPr>
          <p:nvPr/>
        </p:nvPicPr>
        <p:blipFill rotWithShape="1">
          <a:blip r:embed="rId3">
            <a:extLst>
              <a:ext uri="{28A0092B-C50C-407E-A947-70E740481C1C}">
                <a14:useLocalDpi xmlns:a14="http://schemas.microsoft.com/office/drawing/2010/main"/>
              </a:ext>
            </a:extLst>
          </a:blip>
          <a:srcRect l="49286" t="-1" r="-1119" b="53887"/>
          <a:stretch/>
        </p:blipFill>
        <p:spPr bwMode="auto">
          <a:xfrm>
            <a:off x="3395092" y="1085926"/>
            <a:ext cx="4786382" cy="4384003"/>
          </a:xfrm>
          <a:prstGeom prst="rect">
            <a:avLst/>
          </a:prstGeom>
          <a:noFill/>
          <a:ln>
            <a:noFill/>
          </a:ln>
        </p:spPr>
      </p:pic>
      <p:sp>
        <p:nvSpPr>
          <p:cNvPr id="2" name="Título 1">
            <a:extLst>
              <a:ext uri="{FF2B5EF4-FFF2-40B4-BE49-F238E27FC236}">
                <a16:creationId xmlns:a16="http://schemas.microsoft.com/office/drawing/2014/main" id="{E62F630C-EB8A-48E6-BDFB-AD47E470A6FD}"/>
              </a:ext>
            </a:extLst>
          </p:cNvPr>
          <p:cNvSpPr>
            <a:spLocks noGrp="1"/>
          </p:cNvSpPr>
          <p:nvPr>
            <p:ph type="title"/>
          </p:nvPr>
        </p:nvSpPr>
        <p:spPr/>
        <p:txBody>
          <a:bodyPr>
            <a:noAutofit/>
          </a:bodyPr>
          <a:lstStyle/>
          <a:p>
            <a:r>
              <a:rPr lang="en-US" noProof="0" dirty="0">
                <a:solidFill>
                  <a:schemeClr val="accent2"/>
                </a:solidFill>
              </a:rPr>
              <a:t>Mechanism: </a:t>
            </a:r>
            <a:r>
              <a:rPr lang="en-US" i="1" noProof="0" dirty="0">
                <a:solidFill>
                  <a:schemeClr val="accent2"/>
                </a:solidFill>
              </a:rPr>
              <a:t>NBO analysis</a:t>
            </a:r>
            <a:endParaRPr lang="en-US" noProof="0" dirty="0">
              <a:solidFill>
                <a:schemeClr val="accent3"/>
              </a:solidFill>
              <a:latin typeface="+mn-lt"/>
            </a:endParaRPr>
          </a:p>
        </p:txBody>
      </p:sp>
      <p:sp>
        <p:nvSpPr>
          <p:cNvPr id="9" name="CuadroTexto 8">
            <a:extLst>
              <a:ext uri="{FF2B5EF4-FFF2-40B4-BE49-F238E27FC236}">
                <a16:creationId xmlns:a16="http://schemas.microsoft.com/office/drawing/2014/main" id="{A95DC1A5-5CA2-9E38-5CAE-25D454881CE3}"/>
              </a:ext>
            </a:extLst>
          </p:cNvPr>
          <p:cNvSpPr txBox="1"/>
          <p:nvPr/>
        </p:nvSpPr>
        <p:spPr>
          <a:xfrm>
            <a:off x="8054022" y="1503243"/>
            <a:ext cx="2139191" cy="523220"/>
          </a:xfrm>
          <a:prstGeom prst="rect">
            <a:avLst/>
          </a:prstGeom>
          <a:noFill/>
        </p:spPr>
        <p:txBody>
          <a:bodyPr wrap="square">
            <a:spAutoFit/>
          </a:bodyPr>
          <a:lstStyle/>
          <a:p>
            <a:pPr defTabSz="360000">
              <a:tabLst>
                <a:tab pos="660400" algn="l"/>
              </a:tabLst>
            </a:pPr>
            <a:r>
              <a:rPr lang="en-US" sz="2800" noProof="0" dirty="0">
                <a:solidFill>
                  <a:srgbClr val="F56A20"/>
                </a:solidFill>
                <a:effectLst/>
                <a:latin typeface="TimesTenLTStd"/>
              </a:rPr>
              <a:t>π</a:t>
            </a:r>
            <a:r>
              <a:rPr lang="en-US" sz="1200" noProof="0" dirty="0">
                <a:solidFill>
                  <a:srgbClr val="F56A20"/>
                </a:solidFill>
                <a:effectLst/>
              </a:rPr>
              <a:t>C=O</a:t>
            </a:r>
            <a:r>
              <a:rPr lang="en-US" sz="1200" dirty="0">
                <a:solidFill>
                  <a:srgbClr val="F56A20"/>
                </a:solidFill>
              </a:rPr>
              <a:t>	</a:t>
            </a:r>
            <a:r>
              <a:rPr lang="en-US" sz="2400" noProof="0" dirty="0">
                <a:effectLst/>
                <a:latin typeface="TimesTenLTStd"/>
              </a:rPr>
              <a:t>⇢	</a:t>
            </a:r>
            <a:r>
              <a:rPr lang="en-US" sz="2800" noProof="0" dirty="0">
                <a:solidFill>
                  <a:srgbClr val="759DE8"/>
                </a:solidFill>
                <a:effectLst/>
                <a:latin typeface="TimesTenLTStd"/>
              </a:rPr>
              <a:t>π</a:t>
            </a:r>
            <a:r>
              <a:rPr lang="en-US" sz="2800" noProof="0" dirty="0">
                <a:solidFill>
                  <a:srgbClr val="759DE8"/>
                </a:solidFill>
                <a:effectLst/>
              </a:rPr>
              <a:t>*</a:t>
            </a:r>
            <a:r>
              <a:rPr lang="en-US" sz="1200" noProof="0" dirty="0">
                <a:solidFill>
                  <a:srgbClr val="759DE8"/>
                </a:solidFill>
                <a:effectLst/>
              </a:rPr>
              <a:t>C</a:t>
            </a:r>
            <a:r>
              <a:rPr lang="en-US" sz="1200" noProof="0" dirty="0">
                <a:solidFill>
                  <a:srgbClr val="759DE8"/>
                </a:solidFill>
              </a:rPr>
              <a:t>-</a:t>
            </a:r>
            <a:r>
              <a:rPr lang="en-US" sz="1200" noProof="0" dirty="0">
                <a:solidFill>
                  <a:srgbClr val="759DE8"/>
                </a:solidFill>
                <a:effectLst/>
              </a:rPr>
              <a:t>C</a:t>
            </a:r>
            <a:endParaRPr lang="en-US" sz="1400" noProof="0" dirty="0">
              <a:solidFill>
                <a:srgbClr val="759DE8"/>
              </a:solidFill>
            </a:endParaRPr>
          </a:p>
        </p:txBody>
      </p:sp>
      <p:sp>
        <p:nvSpPr>
          <p:cNvPr id="11" name="CuadroTexto 10">
            <a:extLst>
              <a:ext uri="{FF2B5EF4-FFF2-40B4-BE49-F238E27FC236}">
                <a16:creationId xmlns:a16="http://schemas.microsoft.com/office/drawing/2014/main" id="{F41B59F0-321C-4329-0CC1-426D072B8EED}"/>
              </a:ext>
            </a:extLst>
          </p:cNvPr>
          <p:cNvSpPr txBox="1"/>
          <p:nvPr/>
        </p:nvSpPr>
        <p:spPr>
          <a:xfrm>
            <a:off x="3586651" y="6046032"/>
            <a:ext cx="5018698" cy="369332"/>
          </a:xfrm>
          <a:prstGeom prst="rect">
            <a:avLst/>
          </a:prstGeom>
          <a:noFill/>
        </p:spPr>
        <p:txBody>
          <a:bodyPr wrap="square">
            <a:spAutoFit/>
          </a:bodyPr>
          <a:lstStyle/>
          <a:p>
            <a:pPr marL="285750" indent="-285750">
              <a:buFont typeface="Arial" panose="020B0604020202020204" pitchFamily="34" charset="0"/>
              <a:buChar char="•"/>
            </a:pPr>
            <a:r>
              <a:rPr lang="en-US" sz="1800" noProof="0" dirty="0">
                <a:solidFill>
                  <a:srgbClr val="00869E"/>
                </a:solidFill>
                <a:effectLst/>
              </a:rPr>
              <a:t>Outer-sphere substrate-ligand interactions</a:t>
            </a:r>
            <a:endParaRPr lang="en-US" noProof="0" dirty="0">
              <a:solidFill>
                <a:srgbClr val="00869E"/>
              </a:solidFill>
            </a:endParaRPr>
          </a:p>
        </p:txBody>
      </p:sp>
      <p:sp>
        <p:nvSpPr>
          <p:cNvPr id="3" name="TextBox 2">
            <a:extLst>
              <a:ext uri="{FF2B5EF4-FFF2-40B4-BE49-F238E27FC236}">
                <a16:creationId xmlns:a16="http://schemas.microsoft.com/office/drawing/2014/main" id="{E4343D20-9C38-226B-97D3-CAC62E5DE53F}"/>
              </a:ext>
            </a:extLst>
          </p:cNvPr>
          <p:cNvSpPr txBox="1"/>
          <p:nvPr/>
        </p:nvSpPr>
        <p:spPr>
          <a:xfrm>
            <a:off x="0" y="6585228"/>
            <a:ext cx="4592320" cy="276999"/>
          </a:xfrm>
          <a:prstGeom prst="rect">
            <a:avLst/>
          </a:prstGeom>
          <a:noFill/>
        </p:spPr>
        <p:txBody>
          <a:bodyPr wrap="square">
            <a:spAutoFit/>
          </a:bodyPr>
          <a:lstStyle/>
          <a:p>
            <a:r>
              <a:rPr lang="es-ES" sz="1200" dirty="0">
                <a:effectLst/>
                <a:latin typeface="Aptos" panose="020B0004020202020204" pitchFamily="34" charset="0"/>
                <a:ea typeface="Aptos" panose="020B0004020202020204" pitchFamily="34" charset="0"/>
                <a:cs typeface="Times New Roman" panose="02020603050405020304" pitchFamily="18" charset="0"/>
              </a:rPr>
              <a:t>SMD</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sp>
        <p:nvSpPr>
          <p:cNvPr id="4" name="Slide Number Placeholder 3">
            <a:extLst>
              <a:ext uri="{FF2B5EF4-FFF2-40B4-BE49-F238E27FC236}">
                <a16:creationId xmlns:a16="http://schemas.microsoft.com/office/drawing/2014/main" id="{76C13DB1-667E-C59A-CB0B-1DB2227F4963}"/>
              </a:ext>
            </a:extLst>
          </p:cNvPr>
          <p:cNvSpPr>
            <a:spLocks noGrp="1"/>
          </p:cNvSpPr>
          <p:nvPr>
            <p:ph type="sldNum" sz="quarter" idx="12"/>
          </p:nvPr>
        </p:nvSpPr>
        <p:spPr/>
        <p:txBody>
          <a:bodyPr/>
          <a:lstStyle/>
          <a:p>
            <a:r>
              <a:rPr lang="en-US" dirty="0"/>
              <a:t>55</a:t>
            </a:r>
          </a:p>
        </p:txBody>
      </p:sp>
    </p:spTree>
    <p:extLst>
      <p:ext uri="{BB962C8B-B14F-4D97-AF65-F5344CB8AC3E}">
        <p14:creationId xmlns:p14="http://schemas.microsoft.com/office/powerpoint/2010/main" val="104897251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B3A89-C360-66F6-9B12-EBF565AA70F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C102DD7-FCD8-BDE8-4F59-D162868F7EB5}"/>
              </a:ext>
            </a:extLst>
          </p:cNvPr>
          <p:cNvSpPr>
            <a:spLocks noGrp="1"/>
          </p:cNvSpPr>
          <p:nvPr>
            <p:ph type="title"/>
          </p:nvPr>
        </p:nvSpPr>
        <p:spPr/>
        <p:txBody>
          <a:bodyPr/>
          <a:lstStyle/>
          <a:p>
            <a:r>
              <a:rPr lang="en-US" sz="2000" noProof="0" dirty="0">
                <a:solidFill>
                  <a:schemeClr val="accent2"/>
                </a:solidFill>
              </a:rPr>
              <a:t>Mechanism: </a:t>
            </a:r>
            <a:r>
              <a:rPr lang="en-US" i="1" dirty="0">
                <a:solidFill>
                  <a:schemeClr val="accent2"/>
                </a:solidFill>
              </a:rPr>
              <a:t>isomerization</a:t>
            </a:r>
            <a:r>
              <a:rPr lang="en-US" sz="2000" i="1" noProof="0" dirty="0">
                <a:solidFill>
                  <a:schemeClr val="accent2"/>
                </a:solidFill>
              </a:rPr>
              <a:t> step</a:t>
            </a:r>
            <a:endParaRPr lang="en-US" noProof="0" dirty="0"/>
          </a:p>
        </p:txBody>
      </p:sp>
      <p:pic>
        <p:nvPicPr>
          <p:cNvPr id="7" name="Picture 6">
            <a:extLst>
              <a:ext uri="{FF2B5EF4-FFF2-40B4-BE49-F238E27FC236}">
                <a16:creationId xmlns:a16="http://schemas.microsoft.com/office/drawing/2014/main" id="{437B1428-7567-CB2E-6BE1-9B47F3AC3D67}"/>
              </a:ext>
            </a:extLst>
          </p:cNvPr>
          <p:cNvPicPr>
            <a:picLocks noChangeAspect="1"/>
          </p:cNvPicPr>
          <p:nvPr/>
        </p:nvPicPr>
        <p:blipFill>
          <a:blip r:embed="rId3"/>
          <a:stretch>
            <a:fillRect/>
          </a:stretch>
        </p:blipFill>
        <p:spPr>
          <a:xfrm>
            <a:off x="588668" y="1793588"/>
            <a:ext cx="2590800" cy="716280"/>
          </a:xfrm>
          <a:prstGeom prst="rect">
            <a:avLst/>
          </a:prstGeom>
        </p:spPr>
      </p:pic>
      <p:sp>
        <p:nvSpPr>
          <p:cNvPr id="5" name="TextBox 4">
            <a:extLst>
              <a:ext uri="{FF2B5EF4-FFF2-40B4-BE49-F238E27FC236}">
                <a16:creationId xmlns:a16="http://schemas.microsoft.com/office/drawing/2014/main" id="{ECE8217C-C8D7-CC5C-8FBD-ECA8E1CA7257}"/>
              </a:ext>
            </a:extLst>
          </p:cNvPr>
          <p:cNvSpPr txBox="1"/>
          <p:nvPr/>
        </p:nvSpPr>
        <p:spPr>
          <a:xfrm>
            <a:off x="-48128" y="6601554"/>
            <a:ext cx="4908884" cy="276999"/>
          </a:xfrm>
          <a:prstGeom prst="rect">
            <a:avLst/>
          </a:prstGeom>
          <a:noFill/>
        </p:spPr>
        <p:txBody>
          <a:bodyPr wrap="square">
            <a:spAutoFit/>
          </a:bodyPr>
          <a:lstStyle/>
          <a:p>
            <a:r>
              <a:rPr lang="es-ES" sz="1200" dirty="0">
                <a:latin typeface="Aptos" panose="020B0004020202020204" pitchFamily="34" charset="0"/>
                <a:ea typeface="Aptos" panose="020B0004020202020204" pitchFamily="34" charset="0"/>
                <a:cs typeface="Times New Roman" panose="02020603050405020304" pitchFamily="18" charset="0"/>
              </a:rPr>
              <a:t>IEFPCM</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pic>
        <p:nvPicPr>
          <p:cNvPr id="9" name="Picture 8">
            <a:extLst>
              <a:ext uri="{FF2B5EF4-FFF2-40B4-BE49-F238E27FC236}">
                <a16:creationId xmlns:a16="http://schemas.microsoft.com/office/drawing/2014/main" id="{B6F1916B-EC50-952A-3B25-A7E1135EEB64}"/>
              </a:ext>
            </a:extLst>
          </p:cNvPr>
          <p:cNvPicPr>
            <a:picLocks noChangeAspect="1"/>
          </p:cNvPicPr>
          <p:nvPr/>
        </p:nvPicPr>
        <p:blipFill>
          <a:blip r:embed="rId4"/>
          <a:stretch>
            <a:fillRect/>
          </a:stretch>
        </p:blipFill>
        <p:spPr>
          <a:xfrm>
            <a:off x="588668" y="2663325"/>
            <a:ext cx="1569720" cy="685800"/>
          </a:xfrm>
          <a:prstGeom prst="rect">
            <a:avLst/>
          </a:prstGeom>
        </p:spPr>
      </p:pic>
      <p:pic>
        <p:nvPicPr>
          <p:cNvPr id="10" name="Picture 9">
            <a:extLst>
              <a:ext uri="{FF2B5EF4-FFF2-40B4-BE49-F238E27FC236}">
                <a16:creationId xmlns:a16="http://schemas.microsoft.com/office/drawing/2014/main" id="{903D7C95-718C-B3EA-EB62-B30C3E2A4F50}"/>
              </a:ext>
            </a:extLst>
          </p:cNvPr>
          <p:cNvPicPr>
            <a:picLocks noChangeAspect="1"/>
          </p:cNvPicPr>
          <p:nvPr/>
        </p:nvPicPr>
        <p:blipFill>
          <a:blip r:embed="rId5"/>
          <a:stretch>
            <a:fillRect/>
          </a:stretch>
        </p:blipFill>
        <p:spPr>
          <a:xfrm>
            <a:off x="0" y="1802488"/>
            <a:ext cx="11361420" cy="4622800"/>
          </a:xfrm>
          <a:prstGeom prst="rect">
            <a:avLst/>
          </a:prstGeom>
        </p:spPr>
      </p:pic>
      <p:pic>
        <p:nvPicPr>
          <p:cNvPr id="12" name="Picture 11">
            <a:extLst>
              <a:ext uri="{FF2B5EF4-FFF2-40B4-BE49-F238E27FC236}">
                <a16:creationId xmlns:a16="http://schemas.microsoft.com/office/drawing/2014/main" id="{0903C8E8-0AF6-CB50-0154-6CF2052C122F}"/>
              </a:ext>
            </a:extLst>
          </p:cNvPr>
          <p:cNvPicPr>
            <a:picLocks noChangeAspect="1"/>
          </p:cNvPicPr>
          <p:nvPr/>
        </p:nvPicPr>
        <p:blipFill>
          <a:blip r:embed="rId6"/>
          <a:stretch>
            <a:fillRect/>
          </a:stretch>
        </p:blipFill>
        <p:spPr>
          <a:xfrm>
            <a:off x="3455670" y="4291535"/>
            <a:ext cx="1671320" cy="1671320"/>
          </a:xfrm>
          <a:prstGeom prst="rect">
            <a:avLst/>
          </a:prstGeom>
        </p:spPr>
      </p:pic>
      <p:pic>
        <p:nvPicPr>
          <p:cNvPr id="13" name="Picture 12">
            <a:extLst>
              <a:ext uri="{FF2B5EF4-FFF2-40B4-BE49-F238E27FC236}">
                <a16:creationId xmlns:a16="http://schemas.microsoft.com/office/drawing/2014/main" id="{A206917E-8947-62D2-1768-4643934C9E33}"/>
              </a:ext>
            </a:extLst>
          </p:cNvPr>
          <p:cNvPicPr>
            <a:picLocks noChangeAspect="1"/>
          </p:cNvPicPr>
          <p:nvPr/>
        </p:nvPicPr>
        <p:blipFill>
          <a:blip r:embed="rId7"/>
          <a:stretch>
            <a:fillRect/>
          </a:stretch>
        </p:blipFill>
        <p:spPr>
          <a:xfrm>
            <a:off x="7065012" y="4291535"/>
            <a:ext cx="2044700" cy="1653540"/>
          </a:xfrm>
          <a:prstGeom prst="rect">
            <a:avLst/>
          </a:prstGeom>
        </p:spPr>
      </p:pic>
      <p:pic>
        <p:nvPicPr>
          <p:cNvPr id="14" name="Picture 13">
            <a:extLst>
              <a:ext uri="{FF2B5EF4-FFF2-40B4-BE49-F238E27FC236}">
                <a16:creationId xmlns:a16="http://schemas.microsoft.com/office/drawing/2014/main" id="{DF8F0CE2-5406-8814-AF2B-65A67E9FE04F}"/>
              </a:ext>
            </a:extLst>
          </p:cNvPr>
          <p:cNvPicPr>
            <a:picLocks noChangeAspect="1"/>
          </p:cNvPicPr>
          <p:nvPr/>
        </p:nvPicPr>
        <p:blipFill>
          <a:blip r:embed="rId8"/>
          <a:stretch>
            <a:fillRect/>
          </a:stretch>
        </p:blipFill>
        <p:spPr>
          <a:xfrm>
            <a:off x="3455670" y="616180"/>
            <a:ext cx="5316220" cy="1084580"/>
          </a:xfrm>
          <a:prstGeom prst="rect">
            <a:avLst/>
          </a:prstGeom>
        </p:spPr>
      </p:pic>
      <p:sp>
        <p:nvSpPr>
          <p:cNvPr id="15" name="Rectangle 14">
            <a:extLst>
              <a:ext uri="{FF2B5EF4-FFF2-40B4-BE49-F238E27FC236}">
                <a16:creationId xmlns:a16="http://schemas.microsoft.com/office/drawing/2014/main" id="{0D771622-CD0F-123B-BB58-6479CF552077}"/>
              </a:ext>
            </a:extLst>
          </p:cNvPr>
          <p:cNvSpPr/>
          <p:nvPr/>
        </p:nvSpPr>
        <p:spPr>
          <a:xfrm>
            <a:off x="3223647" y="535397"/>
            <a:ext cx="5780868" cy="1231199"/>
          </a:xfrm>
          <a:prstGeom prst="rect">
            <a:avLst/>
          </a:prstGeom>
          <a:noFill/>
          <a:ln w="28575">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F801A79-1B37-986F-F02D-FCC4921B0856}"/>
              </a:ext>
            </a:extLst>
          </p:cNvPr>
          <p:cNvSpPr>
            <a:spLocks noGrp="1"/>
          </p:cNvSpPr>
          <p:nvPr>
            <p:ph type="sldNum" sz="quarter" idx="12"/>
          </p:nvPr>
        </p:nvSpPr>
        <p:spPr/>
        <p:txBody>
          <a:bodyPr/>
          <a:lstStyle/>
          <a:p>
            <a:r>
              <a:rPr lang="en-US" dirty="0"/>
              <a:t>70</a:t>
            </a:r>
          </a:p>
        </p:txBody>
      </p:sp>
    </p:spTree>
    <p:extLst>
      <p:ext uri="{BB962C8B-B14F-4D97-AF65-F5344CB8AC3E}">
        <p14:creationId xmlns:p14="http://schemas.microsoft.com/office/powerpoint/2010/main" val="25742356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BD0A23A-1B19-B2C7-8532-EB4478593759}"/>
              </a:ext>
            </a:extLst>
          </p:cNvPr>
          <p:cNvSpPr/>
          <p:nvPr/>
        </p:nvSpPr>
        <p:spPr>
          <a:xfrm>
            <a:off x="0" y="1802488"/>
            <a:ext cx="11992708" cy="46903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92FF925-C9D0-6BDD-DD68-54A7F4456EF7}"/>
              </a:ext>
            </a:extLst>
          </p:cNvPr>
          <p:cNvSpPr>
            <a:spLocks noGrp="1"/>
          </p:cNvSpPr>
          <p:nvPr>
            <p:ph type="title"/>
          </p:nvPr>
        </p:nvSpPr>
        <p:spPr/>
        <p:txBody>
          <a:bodyPr/>
          <a:lstStyle/>
          <a:p>
            <a:r>
              <a:rPr lang="en-US" sz="2000" noProof="0" dirty="0">
                <a:solidFill>
                  <a:schemeClr val="accent2"/>
                </a:solidFill>
              </a:rPr>
              <a:t>Mechanism: </a:t>
            </a:r>
            <a:r>
              <a:rPr lang="en-US" i="1" dirty="0">
                <a:solidFill>
                  <a:schemeClr val="accent2"/>
                </a:solidFill>
              </a:rPr>
              <a:t>isomerization</a:t>
            </a:r>
            <a:r>
              <a:rPr lang="en-US" sz="2000" i="1" noProof="0" dirty="0">
                <a:solidFill>
                  <a:schemeClr val="accent2"/>
                </a:solidFill>
              </a:rPr>
              <a:t> step</a:t>
            </a:r>
            <a:endParaRPr lang="en-US" noProof="0" dirty="0"/>
          </a:p>
        </p:txBody>
      </p:sp>
      <p:pic>
        <p:nvPicPr>
          <p:cNvPr id="7" name="Picture 6">
            <a:extLst>
              <a:ext uri="{FF2B5EF4-FFF2-40B4-BE49-F238E27FC236}">
                <a16:creationId xmlns:a16="http://schemas.microsoft.com/office/drawing/2014/main" id="{0D0FF53C-2BB8-BEBA-E926-A059F84A7758}"/>
              </a:ext>
            </a:extLst>
          </p:cNvPr>
          <p:cNvPicPr>
            <a:picLocks noChangeAspect="1"/>
          </p:cNvPicPr>
          <p:nvPr/>
        </p:nvPicPr>
        <p:blipFill>
          <a:blip r:embed="rId3"/>
          <a:stretch>
            <a:fillRect/>
          </a:stretch>
        </p:blipFill>
        <p:spPr>
          <a:xfrm>
            <a:off x="588668" y="1793588"/>
            <a:ext cx="2590800" cy="716280"/>
          </a:xfrm>
          <a:prstGeom prst="rect">
            <a:avLst/>
          </a:prstGeom>
        </p:spPr>
      </p:pic>
      <p:sp>
        <p:nvSpPr>
          <p:cNvPr id="5" name="TextBox 4">
            <a:extLst>
              <a:ext uri="{FF2B5EF4-FFF2-40B4-BE49-F238E27FC236}">
                <a16:creationId xmlns:a16="http://schemas.microsoft.com/office/drawing/2014/main" id="{865A8A49-3FA2-5EAB-8CDC-A158B26E20CC}"/>
              </a:ext>
            </a:extLst>
          </p:cNvPr>
          <p:cNvSpPr txBox="1"/>
          <p:nvPr/>
        </p:nvSpPr>
        <p:spPr>
          <a:xfrm>
            <a:off x="-48128" y="6601554"/>
            <a:ext cx="4908884" cy="276999"/>
          </a:xfrm>
          <a:prstGeom prst="rect">
            <a:avLst/>
          </a:prstGeom>
          <a:noFill/>
        </p:spPr>
        <p:txBody>
          <a:bodyPr wrap="square">
            <a:spAutoFit/>
          </a:bodyPr>
          <a:lstStyle/>
          <a:p>
            <a:r>
              <a:rPr lang="es-ES" sz="1200" dirty="0">
                <a:latin typeface="Aptos" panose="020B0004020202020204" pitchFamily="34" charset="0"/>
                <a:ea typeface="Aptos" panose="020B0004020202020204" pitchFamily="34" charset="0"/>
                <a:cs typeface="Times New Roman" panose="02020603050405020304" pitchFamily="18" charset="0"/>
              </a:rPr>
              <a:t>IEFPCM</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pic>
        <p:nvPicPr>
          <p:cNvPr id="11" name="Picture 10">
            <a:extLst>
              <a:ext uri="{FF2B5EF4-FFF2-40B4-BE49-F238E27FC236}">
                <a16:creationId xmlns:a16="http://schemas.microsoft.com/office/drawing/2014/main" id="{75637B60-7E58-62EB-41F3-77C4F9385703}"/>
              </a:ext>
            </a:extLst>
          </p:cNvPr>
          <p:cNvPicPr>
            <a:picLocks noChangeAspect="1"/>
          </p:cNvPicPr>
          <p:nvPr/>
        </p:nvPicPr>
        <p:blipFill>
          <a:blip r:embed="rId4"/>
          <a:stretch>
            <a:fillRect/>
          </a:stretch>
        </p:blipFill>
        <p:spPr>
          <a:xfrm>
            <a:off x="0" y="1802488"/>
            <a:ext cx="11361420" cy="4622800"/>
          </a:xfrm>
          <a:prstGeom prst="rect">
            <a:avLst/>
          </a:prstGeom>
        </p:spPr>
      </p:pic>
      <p:pic>
        <p:nvPicPr>
          <p:cNvPr id="12" name="Picture 11">
            <a:extLst>
              <a:ext uri="{FF2B5EF4-FFF2-40B4-BE49-F238E27FC236}">
                <a16:creationId xmlns:a16="http://schemas.microsoft.com/office/drawing/2014/main" id="{89A78A1D-7CDF-5441-3FBD-E6835A16D1C7}"/>
              </a:ext>
            </a:extLst>
          </p:cNvPr>
          <p:cNvPicPr>
            <a:picLocks noChangeAspect="1"/>
          </p:cNvPicPr>
          <p:nvPr/>
        </p:nvPicPr>
        <p:blipFill>
          <a:blip r:embed="rId5"/>
          <a:stretch>
            <a:fillRect/>
          </a:stretch>
        </p:blipFill>
        <p:spPr>
          <a:xfrm>
            <a:off x="10517145" y="4392805"/>
            <a:ext cx="1369060" cy="1120140"/>
          </a:xfrm>
          <a:prstGeom prst="rect">
            <a:avLst/>
          </a:prstGeom>
        </p:spPr>
      </p:pic>
      <p:pic>
        <p:nvPicPr>
          <p:cNvPr id="14" name="Picture 13">
            <a:extLst>
              <a:ext uri="{FF2B5EF4-FFF2-40B4-BE49-F238E27FC236}">
                <a16:creationId xmlns:a16="http://schemas.microsoft.com/office/drawing/2014/main" id="{090AEE8E-0888-3356-3B7C-E265BF8AF4E8}"/>
              </a:ext>
            </a:extLst>
          </p:cNvPr>
          <p:cNvPicPr>
            <a:picLocks noChangeAspect="1"/>
          </p:cNvPicPr>
          <p:nvPr/>
        </p:nvPicPr>
        <p:blipFill>
          <a:blip r:embed="rId6"/>
          <a:stretch>
            <a:fillRect/>
          </a:stretch>
        </p:blipFill>
        <p:spPr>
          <a:xfrm>
            <a:off x="9967572" y="1996748"/>
            <a:ext cx="1635760" cy="1280160"/>
          </a:xfrm>
          <a:prstGeom prst="rect">
            <a:avLst/>
          </a:prstGeom>
        </p:spPr>
      </p:pic>
      <p:pic>
        <p:nvPicPr>
          <p:cNvPr id="17" name="Picture 16">
            <a:extLst>
              <a:ext uri="{FF2B5EF4-FFF2-40B4-BE49-F238E27FC236}">
                <a16:creationId xmlns:a16="http://schemas.microsoft.com/office/drawing/2014/main" id="{DA66DDA0-1941-73D6-B7D9-010AB15645EB}"/>
              </a:ext>
            </a:extLst>
          </p:cNvPr>
          <p:cNvPicPr>
            <a:picLocks noChangeAspect="1"/>
          </p:cNvPicPr>
          <p:nvPr/>
        </p:nvPicPr>
        <p:blipFill>
          <a:blip r:embed="rId7"/>
          <a:stretch>
            <a:fillRect/>
          </a:stretch>
        </p:blipFill>
        <p:spPr>
          <a:xfrm>
            <a:off x="7249871" y="4113888"/>
            <a:ext cx="1369060" cy="1084580"/>
          </a:xfrm>
          <a:prstGeom prst="rect">
            <a:avLst/>
          </a:prstGeom>
        </p:spPr>
      </p:pic>
      <p:pic>
        <p:nvPicPr>
          <p:cNvPr id="18" name="Picture 17">
            <a:extLst>
              <a:ext uri="{FF2B5EF4-FFF2-40B4-BE49-F238E27FC236}">
                <a16:creationId xmlns:a16="http://schemas.microsoft.com/office/drawing/2014/main" id="{721DD153-2847-CBCC-8D08-05F7A7CBFCF3}"/>
              </a:ext>
            </a:extLst>
          </p:cNvPr>
          <p:cNvPicPr>
            <a:picLocks noChangeAspect="1"/>
          </p:cNvPicPr>
          <p:nvPr/>
        </p:nvPicPr>
        <p:blipFill>
          <a:blip r:embed="rId8"/>
          <a:stretch>
            <a:fillRect/>
          </a:stretch>
        </p:blipFill>
        <p:spPr>
          <a:xfrm>
            <a:off x="5407759" y="3645593"/>
            <a:ext cx="1600200" cy="1280160"/>
          </a:xfrm>
          <a:prstGeom prst="rect">
            <a:avLst/>
          </a:prstGeom>
        </p:spPr>
      </p:pic>
      <p:pic>
        <p:nvPicPr>
          <p:cNvPr id="20" name="Picture 19">
            <a:extLst>
              <a:ext uri="{FF2B5EF4-FFF2-40B4-BE49-F238E27FC236}">
                <a16:creationId xmlns:a16="http://schemas.microsoft.com/office/drawing/2014/main" id="{B4AEBBD9-CF01-692F-6FC7-35B4A9D8A4C8}"/>
              </a:ext>
            </a:extLst>
          </p:cNvPr>
          <p:cNvPicPr>
            <a:picLocks noChangeAspect="1"/>
          </p:cNvPicPr>
          <p:nvPr/>
        </p:nvPicPr>
        <p:blipFill>
          <a:blip r:embed="rId9"/>
          <a:stretch>
            <a:fillRect/>
          </a:stretch>
        </p:blipFill>
        <p:spPr>
          <a:xfrm>
            <a:off x="3509545" y="4158338"/>
            <a:ext cx="1422400" cy="995680"/>
          </a:xfrm>
          <a:prstGeom prst="rect">
            <a:avLst/>
          </a:prstGeom>
        </p:spPr>
      </p:pic>
      <p:pic>
        <p:nvPicPr>
          <p:cNvPr id="21" name="Picture 20">
            <a:extLst>
              <a:ext uri="{FF2B5EF4-FFF2-40B4-BE49-F238E27FC236}">
                <a16:creationId xmlns:a16="http://schemas.microsoft.com/office/drawing/2014/main" id="{4EAA333A-DF21-4DBE-1465-B9C7EA142452}"/>
              </a:ext>
            </a:extLst>
          </p:cNvPr>
          <p:cNvPicPr>
            <a:picLocks noChangeAspect="1"/>
          </p:cNvPicPr>
          <p:nvPr/>
        </p:nvPicPr>
        <p:blipFill>
          <a:blip r:embed="rId10"/>
          <a:stretch>
            <a:fillRect/>
          </a:stretch>
        </p:blipFill>
        <p:spPr>
          <a:xfrm>
            <a:off x="3455670" y="616180"/>
            <a:ext cx="5316220" cy="1084580"/>
          </a:xfrm>
          <a:prstGeom prst="rect">
            <a:avLst/>
          </a:prstGeom>
        </p:spPr>
      </p:pic>
      <p:sp>
        <p:nvSpPr>
          <p:cNvPr id="22" name="Rectangle 21">
            <a:extLst>
              <a:ext uri="{FF2B5EF4-FFF2-40B4-BE49-F238E27FC236}">
                <a16:creationId xmlns:a16="http://schemas.microsoft.com/office/drawing/2014/main" id="{9BB1F770-DB8F-658B-FF2E-DF7990F9733B}"/>
              </a:ext>
            </a:extLst>
          </p:cNvPr>
          <p:cNvSpPr/>
          <p:nvPr/>
        </p:nvSpPr>
        <p:spPr>
          <a:xfrm>
            <a:off x="3223647" y="535397"/>
            <a:ext cx="5780868" cy="1231199"/>
          </a:xfrm>
          <a:prstGeom prst="rect">
            <a:avLst/>
          </a:prstGeom>
          <a:noFill/>
          <a:ln w="28575">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84DB1CE3-1DB0-C76E-9911-AD81B28AA5D4}"/>
              </a:ext>
            </a:extLst>
          </p:cNvPr>
          <p:cNvPicPr>
            <a:picLocks noChangeAspect="1"/>
          </p:cNvPicPr>
          <p:nvPr/>
        </p:nvPicPr>
        <p:blipFill>
          <a:blip r:embed="rId11"/>
          <a:stretch>
            <a:fillRect/>
          </a:stretch>
        </p:blipFill>
        <p:spPr>
          <a:xfrm>
            <a:off x="588668" y="2663325"/>
            <a:ext cx="1569720" cy="685800"/>
          </a:xfrm>
          <a:prstGeom prst="rect">
            <a:avLst/>
          </a:prstGeom>
        </p:spPr>
      </p:pic>
      <p:sp>
        <p:nvSpPr>
          <p:cNvPr id="3" name="Slide Number Placeholder 2">
            <a:extLst>
              <a:ext uri="{FF2B5EF4-FFF2-40B4-BE49-F238E27FC236}">
                <a16:creationId xmlns:a16="http://schemas.microsoft.com/office/drawing/2014/main" id="{5C359415-632D-5DE2-BC03-12D6E8B5B577}"/>
              </a:ext>
            </a:extLst>
          </p:cNvPr>
          <p:cNvSpPr>
            <a:spLocks noGrp="1"/>
          </p:cNvSpPr>
          <p:nvPr>
            <p:ph type="sldNum" sz="quarter" idx="12"/>
          </p:nvPr>
        </p:nvSpPr>
        <p:spPr/>
        <p:txBody>
          <a:bodyPr/>
          <a:lstStyle/>
          <a:p>
            <a:r>
              <a:rPr lang="en-US" dirty="0"/>
              <a:t>70</a:t>
            </a:r>
          </a:p>
        </p:txBody>
      </p:sp>
    </p:spTree>
    <p:extLst>
      <p:ext uri="{BB962C8B-B14F-4D97-AF65-F5344CB8AC3E}">
        <p14:creationId xmlns:p14="http://schemas.microsoft.com/office/powerpoint/2010/main" val="517541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7675-3C60-2098-AED3-4231BC7F68B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CE8A497E-20C4-51F7-5224-8AF3FE468C21}"/>
              </a:ext>
            </a:extLst>
          </p:cNvPr>
          <p:cNvPicPr>
            <a:picLocks noChangeAspect="1"/>
          </p:cNvPicPr>
          <p:nvPr/>
        </p:nvPicPr>
        <p:blipFill>
          <a:blip r:embed="rId3"/>
          <a:stretch>
            <a:fillRect/>
          </a:stretch>
        </p:blipFill>
        <p:spPr>
          <a:xfrm>
            <a:off x="8388049" y="3139475"/>
            <a:ext cx="1973580" cy="1884680"/>
          </a:xfrm>
          <a:prstGeom prst="rect">
            <a:avLst/>
          </a:prstGeom>
        </p:spPr>
      </p:pic>
      <p:pic>
        <p:nvPicPr>
          <p:cNvPr id="25" name="Picture 24">
            <a:extLst>
              <a:ext uri="{FF2B5EF4-FFF2-40B4-BE49-F238E27FC236}">
                <a16:creationId xmlns:a16="http://schemas.microsoft.com/office/drawing/2014/main" id="{B8169197-B308-5997-DDEB-1FA5B9FB3C06}"/>
              </a:ext>
            </a:extLst>
          </p:cNvPr>
          <p:cNvPicPr>
            <a:picLocks noChangeAspect="1"/>
          </p:cNvPicPr>
          <p:nvPr/>
        </p:nvPicPr>
        <p:blipFill>
          <a:blip r:embed="rId4"/>
          <a:stretch>
            <a:fillRect/>
          </a:stretch>
        </p:blipFill>
        <p:spPr>
          <a:xfrm>
            <a:off x="1620064" y="3356232"/>
            <a:ext cx="1955800" cy="1653540"/>
          </a:xfrm>
          <a:prstGeom prst="rect">
            <a:avLst/>
          </a:prstGeom>
        </p:spPr>
      </p:pic>
      <p:pic>
        <p:nvPicPr>
          <p:cNvPr id="9" name="Picture 8">
            <a:extLst>
              <a:ext uri="{FF2B5EF4-FFF2-40B4-BE49-F238E27FC236}">
                <a16:creationId xmlns:a16="http://schemas.microsoft.com/office/drawing/2014/main" id="{C9F1C77D-C45C-9D71-82A2-BA82B8797305}"/>
              </a:ext>
            </a:extLst>
          </p:cNvPr>
          <p:cNvPicPr>
            <a:picLocks noChangeAspect="1"/>
          </p:cNvPicPr>
          <p:nvPr/>
        </p:nvPicPr>
        <p:blipFill>
          <a:blip r:embed="rId5"/>
          <a:stretch>
            <a:fillRect/>
          </a:stretch>
        </p:blipFill>
        <p:spPr>
          <a:xfrm>
            <a:off x="6644772" y="962278"/>
            <a:ext cx="5547360" cy="1137920"/>
          </a:xfrm>
          <a:prstGeom prst="rect">
            <a:avLst/>
          </a:prstGeom>
        </p:spPr>
      </p:pic>
      <p:sp>
        <p:nvSpPr>
          <p:cNvPr id="2" name="Título 1">
            <a:extLst>
              <a:ext uri="{FF2B5EF4-FFF2-40B4-BE49-F238E27FC236}">
                <a16:creationId xmlns:a16="http://schemas.microsoft.com/office/drawing/2014/main" id="{6D7D164C-9E66-6795-E05C-4840E8477E6C}"/>
              </a:ext>
            </a:extLst>
          </p:cNvPr>
          <p:cNvSpPr>
            <a:spLocks noGrp="1"/>
          </p:cNvSpPr>
          <p:nvPr>
            <p:ph type="title"/>
          </p:nvPr>
        </p:nvSpPr>
        <p:spPr>
          <a:xfrm>
            <a:off x="2889908" y="134272"/>
            <a:ext cx="6412184" cy="375552"/>
          </a:xfrm>
        </p:spPr>
        <p:txBody>
          <a:bodyPr/>
          <a:lstStyle/>
          <a:p>
            <a:r>
              <a:rPr lang="en-US" dirty="0"/>
              <a:t>General conclusions</a:t>
            </a:r>
          </a:p>
        </p:txBody>
      </p:sp>
      <p:sp>
        <p:nvSpPr>
          <p:cNvPr id="3" name="Elipse 2">
            <a:extLst>
              <a:ext uri="{FF2B5EF4-FFF2-40B4-BE49-F238E27FC236}">
                <a16:creationId xmlns:a16="http://schemas.microsoft.com/office/drawing/2014/main" id="{806E6969-74F4-0858-FCFF-BEF7D4B19C65}"/>
              </a:ext>
            </a:extLst>
          </p:cNvPr>
          <p:cNvSpPr/>
          <p:nvPr/>
        </p:nvSpPr>
        <p:spPr>
          <a:xfrm>
            <a:off x="1236167" y="2920958"/>
            <a:ext cx="2542540" cy="2541600"/>
          </a:xfrm>
          <a:prstGeom prst="ellipse">
            <a:avLst/>
          </a:prstGeom>
          <a:noFill/>
          <a:ln w="28575">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8" name="CuadroTexto 7">
            <a:extLst>
              <a:ext uri="{FF2B5EF4-FFF2-40B4-BE49-F238E27FC236}">
                <a16:creationId xmlns:a16="http://schemas.microsoft.com/office/drawing/2014/main" id="{3F6A26E6-791E-CBF5-6B7E-CC9992496B9E}"/>
              </a:ext>
            </a:extLst>
          </p:cNvPr>
          <p:cNvSpPr txBox="1"/>
          <p:nvPr/>
        </p:nvSpPr>
        <p:spPr>
          <a:xfrm>
            <a:off x="730707" y="5672189"/>
            <a:ext cx="3048000" cy="369332"/>
          </a:xfrm>
          <a:prstGeom prst="rect">
            <a:avLst/>
          </a:prstGeom>
          <a:noFill/>
          <a:ln>
            <a:noFill/>
          </a:ln>
        </p:spPr>
        <p:txBody>
          <a:bodyPr wrap="square">
            <a:spAutoFit/>
          </a:bodyPr>
          <a:lstStyle/>
          <a:p>
            <a:pPr marL="285750" indent="-285750">
              <a:buFont typeface="Courier New" panose="02070309020205020404" pitchFamily="49" charset="0"/>
              <a:buChar char="o"/>
            </a:pPr>
            <a:r>
              <a:rPr lang="es-ES" dirty="0" err="1">
                <a:solidFill>
                  <a:schemeClr val="accent3"/>
                </a:solidFill>
              </a:rPr>
              <a:t>f</a:t>
            </a:r>
            <a:r>
              <a:rPr lang="es-ES" sz="1800" dirty="0" err="1">
                <a:solidFill>
                  <a:schemeClr val="accent3"/>
                </a:solidFill>
                <a:effectLst/>
              </a:rPr>
              <a:t>avours</a:t>
            </a:r>
            <a:r>
              <a:rPr lang="es-ES" sz="1800" dirty="0">
                <a:solidFill>
                  <a:schemeClr val="accent3"/>
                </a:solidFill>
                <a:effectLst/>
              </a:rPr>
              <a:t> </a:t>
            </a:r>
            <a:r>
              <a:rPr lang="es-ES" sz="1800" i="1" dirty="0" err="1">
                <a:solidFill>
                  <a:schemeClr val="accent3"/>
                </a:solidFill>
                <a:effectLst/>
              </a:rPr>
              <a:t>ortho</a:t>
            </a:r>
            <a:r>
              <a:rPr lang="es-ES" sz="1800" dirty="0">
                <a:solidFill>
                  <a:schemeClr val="accent3"/>
                </a:solidFill>
                <a:effectLst/>
              </a:rPr>
              <a:t> </a:t>
            </a:r>
            <a:r>
              <a:rPr lang="es-ES" sz="1800" dirty="0" err="1">
                <a:solidFill>
                  <a:schemeClr val="accent3"/>
                </a:solidFill>
                <a:effectLst/>
              </a:rPr>
              <a:t>borylation</a:t>
            </a:r>
            <a:endParaRPr lang="es-ES" sz="1800" dirty="0">
              <a:solidFill>
                <a:schemeClr val="accent3"/>
              </a:solidFill>
              <a:effectLst/>
            </a:endParaRPr>
          </a:p>
        </p:txBody>
      </p:sp>
      <p:sp>
        <p:nvSpPr>
          <p:cNvPr id="11" name="Elipse 10">
            <a:extLst>
              <a:ext uri="{FF2B5EF4-FFF2-40B4-BE49-F238E27FC236}">
                <a16:creationId xmlns:a16="http://schemas.microsoft.com/office/drawing/2014/main" id="{30184CC0-C690-A185-C0E0-13E910B85FF7}"/>
              </a:ext>
            </a:extLst>
          </p:cNvPr>
          <p:cNvSpPr/>
          <p:nvPr/>
        </p:nvSpPr>
        <p:spPr>
          <a:xfrm>
            <a:off x="8095937" y="2920958"/>
            <a:ext cx="2542540" cy="2541600"/>
          </a:xfrm>
          <a:prstGeom prst="ellipse">
            <a:avLst/>
          </a:prstGeom>
          <a:noFill/>
          <a:ln w="28575">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13" name="CuadroTexto 12">
            <a:extLst>
              <a:ext uri="{FF2B5EF4-FFF2-40B4-BE49-F238E27FC236}">
                <a16:creationId xmlns:a16="http://schemas.microsoft.com/office/drawing/2014/main" id="{18B5B76F-BD98-2D4B-9D6A-8981F6A6C87E}"/>
              </a:ext>
            </a:extLst>
          </p:cNvPr>
          <p:cNvSpPr txBox="1"/>
          <p:nvPr/>
        </p:nvSpPr>
        <p:spPr>
          <a:xfrm>
            <a:off x="7907833" y="5672189"/>
            <a:ext cx="3048000" cy="369332"/>
          </a:xfrm>
          <a:prstGeom prst="rect">
            <a:avLst/>
          </a:prstGeom>
          <a:noFill/>
        </p:spPr>
        <p:txBody>
          <a:bodyPr wrap="square">
            <a:spAutoFit/>
          </a:bodyPr>
          <a:lstStyle/>
          <a:p>
            <a:pPr marL="285750" indent="-285750">
              <a:buFont typeface="Courier New" panose="02070309020205020404" pitchFamily="49" charset="0"/>
              <a:buChar char="o"/>
            </a:pPr>
            <a:r>
              <a:rPr lang="es-ES" dirty="0" err="1">
                <a:solidFill>
                  <a:schemeClr val="accent3"/>
                </a:solidFill>
              </a:rPr>
              <a:t>a</a:t>
            </a:r>
            <a:r>
              <a:rPr lang="es-ES" sz="1800" dirty="0" err="1">
                <a:solidFill>
                  <a:schemeClr val="accent3"/>
                </a:solidFill>
                <a:effectLst/>
              </a:rPr>
              <a:t>llows</a:t>
            </a:r>
            <a:r>
              <a:rPr lang="es-ES" sz="1800" dirty="0">
                <a:solidFill>
                  <a:schemeClr val="accent3"/>
                </a:solidFill>
                <a:effectLst/>
              </a:rPr>
              <a:t> N-Me </a:t>
            </a:r>
            <a:r>
              <a:rPr lang="es-ES" sz="1800" dirty="0" err="1">
                <a:solidFill>
                  <a:schemeClr val="accent3"/>
                </a:solidFill>
                <a:effectLst/>
              </a:rPr>
              <a:t>borylation</a:t>
            </a:r>
            <a:endParaRPr lang="es-ES" sz="1800" dirty="0">
              <a:solidFill>
                <a:schemeClr val="accent3"/>
              </a:solidFill>
              <a:effectLst/>
            </a:endParaRPr>
          </a:p>
        </p:txBody>
      </p:sp>
      <p:pic>
        <p:nvPicPr>
          <p:cNvPr id="15" name="Picture 14">
            <a:extLst>
              <a:ext uri="{FF2B5EF4-FFF2-40B4-BE49-F238E27FC236}">
                <a16:creationId xmlns:a16="http://schemas.microsoft.com/office/drawing/2014/main" id="{3313FA80-D444-22AC-3FBA-0510E2A748AA}"/>
              </a:ext>
            </a:extLst>
          </p:cNvPr>
          <p:cNvPicPr>
            <a:picLocks noChangeAspect="1"/>
          </p:cNvPicPr>
          <p:nvPr/>
        </p:nvPicPr>
        <p:blipFill>
          <a:blip r:embed="rId6"/>
          <a:stretch>
            <a:fillRect/>
          </a:stretch>
        </p:blipFill>
        <p:spPr>
          <a:xfrm>
            <a:off x="5097920" y="3071388"/>
            <a:ext cx="1996440" cy="1112520"/>
          </a:xfrm>
          <a:prstGeom prst="rect">
            <a:avLst/>
          </a:prstGeom>
        </p:spPr>
      </p:pic>
      <p:pic>
        <p:nvPicPr>
          <p:cNvPr id="17" name="Picture 16">
            <a:extLst>
              <a:ext uri="{FF2B5EF4-FFF2-40B4-BE49-F238E27FC236}">
                <a16:creationId xmlns:a16="http://schemas.microsoft.com/office/drawing/2014/main" id="{6C93224F-E048-CEC2-7A97-C0A6E04B0AC8}"/>
              </a:ext>
            </a:extLst>
          </p:cNvPr>
          <p:cNvPicPr>
            <a:picLocks noChangeAspect="1"/>
          </p:cNvPicPr>
          <p:nvPr/>
        </p:nvPicPr>
        <p:blipFill>
          <a:blip r:embed="rId7"/>
          <a:stretch>
            <a:fillRect/>
          </a:stretch>
        </p:blipFill>
        <p:spPr>
          <a:xfrm>
            <a:off x="4982648" y="4672907"/>
            <a:ext cx="2255520" cy="1051560"/>
          </a:xfrm>
          <a:prstGeom prst="rect">
            <a:avLst/>
          </a:prstGeom>
        </p:spPr>
      </p:pic>
      <p:pic>
        <p:nvPicPr>
          <p:cNvPr id="10" name="Picture 9">
            <a:extLst>
              <a:ext uri="{FF2B5EF4-FFF2-40B4-BE49-F238E27FC236}">
                <a16:creationId xmlns:a16="http://schemas.microsoft.com/office/drawing/2014/main" id="{CA4350F7-272F-34EA-ECEB-54B8BE0F9EC5}"/>
              </a:ext>
            </a:extLst>
          </p:cNvPr>
          <p:cNvPicPr>
            <a:picLocks noChangeAspect="1"/>
          </p:cNvPicPr>
          <p:nvPr/>
        </p:nvPicPr>
        <p:blipFill>
          <a:blip r:embed="rId8"/>
          <a:stretch>
            <a:fillRect/>
          </a:stretch>
        </p:blipFill>
        <p:spPr>
          <a:xfrm>
            <a:off x="30346" y="1060320"/>
            <a:ext cx="5280660" cy="1120140"/>
          </a:xfrm>
          <a:prstGeom prst="rect">
            <a:avLst/>
          </a:prstGeom>
        </p:spPr>
      </p:pic>
      <p:sp>
        <p:nvSpPr>
          <p:cNvPr id="4" name="Slide Number Placeholder 3">
            <a:extLst>
              <a:ext uri="{FF2B5EF4-FFF2-40B4-BE49-F238E27FC236}">
                <a16:creationId xmlns:a16="http://schemas.microsoft.com/office/drawing/2014/main" id="{87EAABD1-D541-41C1-2402-4C442B7BC812}"/>
              </a:ext>
            </a:extLst>
          </p:cNvPr>
          <p:cNvSpPr>
            <a:spLocks noGrp="1"/>
          </p:cNvSpPr>
          <p:nvPr>
            <p:ph type="sldNum" sz="quarter" idx="12"/>
          </p:nvPr>
        </p:nvSpPr>
        <p:spPr/>
        <p:txBody>
          <a:bodyPr/>
          <a:lstStyle/>
          <a:p>
            <a:r>
              <a:rPr lang="en-US" dirty="0"/>
              <a:t>73</a:t>
            </a:r>
          </a:p>
        </p:txBody>
      </p:sp>
    </p:spTree>
    <p:extLst>
      <p:ext uri="{BB962C8B-B14F-4D97-AF65-F5344CB8AC3E}">
        <p14:creationId xmlns:p14="http://schemas.microsoft.com/office/powerpoint/2010/main" val="34905728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F9435-E35D-0F10-0147-49080B78F332}"/>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B1B0F087-75CC-B847-C5FF-F514CF012054}"/>
              </a:ext>
            </a:extLst>
          </p:cNvPr>
          <p:cNvSpPr/>
          <p:nvPr/>
        </p:nvSpPr>
        <p:spPr>
          <a:xfrm>
            <a:off x="1378857" y="1553029"/>
            <a:ext cx="5547360" cy="508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B1A1349D-7B46-A10A-BF98-28B084D1E70C}"/>
              </a:ext>
            </a:extLst>
          </p:cNvPr>
          <p:cNvPicPr>
            <a:picLocks noChangeAspect="1"/>
          </p:cNvPicPr>
          <p:nvPr/>
        </p:nvPicPr>
        <p:blipFill>
          <a:blip r:embed="rId3"/>
          <a:stretch>
            <a:fillRect/>
          </a:stretch>
        </p:blipFill>
        <p:spPr>
          <a:xfrm>
            <a:off x="3447687" y="4953265"/>
            <a:ext cx="1409700" cy="1346200"/>
          </a:xfrm>
          <a:prstGeom prst="rect">
            <a:avLst/>
          </a:prstGeom>
        </p:spPr>
      </p:pic>
      <p:pic>
        <p:nvPicPr>
          <p:cNvPr id="25" name="Picture 24">
            <a:extLst>
              <a:ext uri="{FF2B5EF4-FFF2-40B4-BE49-F238E27FC236}">
                <a16:creationId xmlns:a16="http://schemas.microsoft.com/office/drawing/2014/main" id="{3A30D69E-F29A-B47A-5CBA-B82D9714702D}"/>
              </a:ext>
            </a:extLst>
          </p:cNvPr>
          <p:cNvPicPr>
            <a:picLocks noChangeAspect="1"/>
          </p:cNvPicPr>
          <p:nvPr/>
        </p:nvPicPr>
        <p:blipFill>
          <a:blip r:embed="rId4"/>
          <a:stretch>
            <a:fillRect/>
          </a:stretch>
        </p:blipFill>
        <p:spPr>
          <a:xfrm>
            <a:off x="3454037" y="2781062"/>
            <a:ext cx="1397000" cy="1181100"/>
          </a:xfrm>
          <a:prstGeom prst="rect">
            <a:avLst/>
          </a:prstGeom>
        </p:spPr>
      </p:pic>
      <p:sp>
        <p:nvSpPr>
          <p:cNvPr id="2" name="Título 1">
            <a:extLst>
              <a:ext uri="{FF2B5EF4-FFF2-40B4-BE49-F238E27FC236}">
                <a16:creationId xmlns:a16="http://schemas.microsoft.com/office/drawing/2014/main" id="{62295FED-1F3B-ED5D-6D5B-C023622B1CD2}"/>
              </a:ext>
            </a:extLst>
          </p:cNvPr>
          <p:cNvSpPr>
            <a:spLocks noGrp="1"/>
          </p:cNvSpPr>
          <p:nvPr>
            <p:ph type="title"/>
          </p:nvPr>
        </p:nvSpPr>
        <p:spPr>
          <a:xfrm>
            <a:off x="2889908" y="134272"/>
            <a:ext cx="6412184" cy="375552"/>
          </a:xfrm>
        </p:spPr>
        <p:txBody>
          <a:bodyPr/>
          <a:lstStyle/>
          <a:p>
            <a:r>
              <a:rPr lang="en-US" dirty="0"/>
              <a:t>General conclusions</a:t>
            </a:r>
          </a:p>
        </p:txBody>
      </p:sp>
      <p:sp>
        <p:nvSpPr>
          <p:cNvPr id="3" name="Elipse 2">
            <a:extLst>
              <a:ext uri="{FF2B5EF4-FFF2-40B4-BE49-F238E27FC236}">
                <a16:creationId xmlns:a16="http://schemas.microsoft.com/office/drawing/2014/main" id="{A34DB591-3BF6-126B-870B-8B39068FF3E6}"/>
              </a:ext>
            </a:extLst>
          </p:cNvPr>
          <p:cNvSpPr/>
          <p:nvPr/>
        </p:nvSpPr>
        <p:spPr>
          <a:xfrm>
            <a:off x="3297537" y="2533834"/>
            <a:ext cx="1710000" cy="1710000"/>
          </a:xfrm>
          <a:prstGeom prst="ellipse">
            <a:avLst/>
          </a:prstGeom>
          <a:noFill/>
          <a:ln w="28575">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11" name="Elipse 10">
            <a:extLst>
              <a:ext uri="{FF2B5EF4-FFF2-40B4-BE49-F238E27FC236}">
                <a16:creationId xmlns:a16="http://schemas.microsoft.com/office/drawing/2014/main" id="{32F86C10-2911-F8BD-16E0-A5C32F670DEC}"/>
              </a:ext>
            </a:extLst>
          </p:cNvPr>
          <p:cNvSpPr/>
          <p:nvPr/>
        </p:nvSpPr>
        <p:spPr>
          <a:xfrm>
            <a:off x="3297537" y="4782875"/>
            <a:ext cx="1710000" cy="1710000"/>
          </a:xfrm>
          <a:prstGeom prst="ellipse">
            <a:avLst/>
          </a:prstGeom>
          <a:noFill/>
          <a:ln w="28575">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4" name="Slide Number Placeholder 3">
            <a:extLst>
              <a:ext uri="{FF2B5EF4-FFF2-40B4-BE49-F238E27FC236}">
                <a16:creationId xmlns:a16="http://schemas.microsoft.com/office/drawing/2014/main" id="{EA6481DF-26B5-D477-BC7D-99C0986FEBF3}"/>
              </a:ext>
            </a:extLst>
          </p:cNvPr>
          <p:cNvSpPr>
            <a:spLocks noGrp="1"/>
          </p:cNvSpPr>
          <p:nvPr>
            <p:ph type="sldNum" sz="quarter" idx="12"/>
          </p:nvPr>
        </p:nvSpPr>
        <p:spPr/>
        <p:txBody>
          <a:bodyPr/>
          <a:lstStyle/>
          <a:p>
            <a:r>
              <a:rPr lang="en-US" dirty="0"/>
              <a:t>73</a:t>
            </a:r>
          </a:p>
        </p:txBody>
      </p:sp>
      <p:pic>
        <p:nvPicPr>
          <p:cNvPr id="5" name="Picture 4">
            <a:extLst>
              <a:ext uri="{FF2B5EF4-FFF2-40B4-BE49-F238E27FC236}">
                <a16:creationId xmlns:a16="http://schemas.microsoft.com/office/drawing/2014/main" id="{011FCD37-E271-C8B6-0DA9-D0A5D01B570C}"/>
              </a:ext>
            </a:extLst>
          </p:cNvPr>
          <p:cNvPicPr>
            <a:picLocks noChangeAspect="1"/>
          </p:cNvPicPr>
          <p:nvPr/>
        </p:nvPicPr>
        <p:blipFill>
          <a:blip r:embed="rId5"/>
          <a:stretch>
            <a:fillRect/>
          </a:stretch>
        </p:blipFill>
        <p:spPr>
          <a:xfrm>
            <a:off x="1521097" y="1755849"/>
            <a:ext cx="5262880" cy="960120"/>
          </a:xfrm>
          <a:prstGeom prst="rect">
            <a:avLst/>
          </a:prstGeom>
        </p:spPr>
      </p:pic>
      <p:pic>
        <p:nvPicPr>
          <p:cNvPr id="6" name="Picture 5">
            <a:extLst>
              <a:ext uri="{FF2B5EF4-FFF2-40B4-BE49-F238E27FC236}">
                <a16:creationId xmlns:a16="http://schemas.microsoft.com/office/drawing/2014/main" id="{4EA39A0D-E5E9-1E8E-01B0-E34A51F59EF1}"/>
              </a:ext>
            </a:extLst>
          </p:cNvPr>
          <p:cNvPicPr>
            <a:picLocks noChangeAspect="1"/>
          </p:cNvPicPr>
          <p:nvPr/>
        </p:nvPicPr>
        <p:blipFill>
          <a:blip r:embed="rId6"/>
          <a:stretch>
            <a:fillRect/>
          </a:stretch>
        </p:blipFill>
        <p:spPr>
          <a:xfrm>
            <a:off x="1378857" y="4075891"/>
            <a:ext cx="5547360" cy="853440"/>
          </a:xfrm>
          <a:prstGeom prst="rect">
            <a:avLst/>
          </a:prstGeom>
        </p:spPr>
      </p:pic>
    </p:spTree>
    <p:extLst>
      <p:ext uri="{BB962C8B-B14F-4D97-AF65-F5344CB8AC3E}">
        <p14:creationId xmlns:p14="http://schemas.microsoft.com/office/powerpoint/2010/main" val="15505624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6B9E929-B82E-7CA1-1765-E3ED34CA29EC}"/>
              </a:ext>
            </a:extLst>
          </p:cNvPr>
          <p:cNvSpPr/>
          <p:nvPr/>
        </p:nvSpPr>
        <p:spPr>
          <a:xfrm>
            <a:off x="2641600" y="1291771"/>
            <a:ext cx="5196114" cy="41365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descr="Imagen que contiene collar, cadena, tabla, hombre&#10;&#10;Descripción generada automáticamente">
            <a:extLst>
              <a:ext uri="{FF2B5EF4-FFF2-40B4-BE49-F238E27FC236}">
                <a16:creationId xmlns:a16="http://schemas.microsoft.com/office/drawing/2014/main" id="{DB35A2AF-1855-CEDC-0B5A-FEB3BF712F5C}"/>
              </a:ext>
            </a:extLst>
          </p:cNvPr>
          <p:cNvPicPr>
            <a:picLocks noChangeAspect="1"/>
          </p:cNvPicPr>
          <p:nvPr/>
        </p:nvPicPr>
        <p:blipFill rotWithShape="1">
          <a:blip r:embed="rId2"/>
          <a:srcRect t="12919" b="23767"/>
          <a:stretch/>
        </p:blipFill>
        <p:spPr bwMode="auto">
          <a:xfrm>
            <a:off x="2656202" y="1305310"/>
            <a:ext cx="5181512" cy="4126868"/>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05290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70DBD-79C4-B2B9-B8A9-332D40078ECF}"/>
              </a:ext>
            </a:extLst>
          </p:cNvPr>
          <p:cNvSpPr>
            <a:spLocks noGrp="1"/>
          </p:cNvSpPr>
          <p:nvPr>
            <p:ph type="title"/>
          </p:nvPr>
        </p:nvSpPr>
        <p:spPr/>
        <p:txBody>
          <a:bodyPr/>
          <a:lstStyle/>
          <a:p>
            <a:endParaRPr lang="en-US"/>
          </a:p>
        </p:txBody>
      </p:sp>
      <p:pic>
        <p:nvPicPr>
          <p:cNvPr id="4" name="Picture 3" descr="A diagram of a metal ring with pink ropes&#10;&#10;AI-generated content may be incorrect.">
            <a:extLst>
              <a:ext uri="{FF2B5EF4-FFF2-40B4-BE49-F238E27FC236}">
                <a16:creationId xmlns:a16="http://schemas.microsoft.com/office/drawing/2014/main" id="{03AA24D4-9772-67BD-9A79-28F2BF2F5394}"/>
              </a:ext>
            </a:extLst>
          </p:cNvPr>
          <p:cNvPicPr>
            <a:picLocks noChangeAspect="1"/>
          </p:cNvPicPr>
          <p:nvPr/>
        </p:nvPicPr>
        <p:blipFill>
          <a:blip r:embed="rId2"/>
          <a:srcRect r="2948"/>
          <a:stretch>
            <a:fillRect/>
          </a:stretch>
        </p:blipFill>
        <p:spPr>
          <a:xfrm>
            <a:off x="9302092" y="407017"/>
            <a:ext cx="1310858" cy="3021983"/>
          </a:xfrm>
          <a:prstGeom prst="rect">
            <a:avLst/>
          </a:prstGeom>
        </p:spPr>
      </p:pic>
      <p:pic>
        <p:nvPicPr>
          <p:cNvPr id="6" name="Picture 5" descr="A diagram of a catalyst system&#10;&#10;AI-generated content may be incorrect.">
            <a:extLst>
              <a:ext uri="{FF2B5EF4-FFF2-40B4-BE49-F238E27FC236}">
                <a16:creationId xmlns:a16="http://schemas.microsoft.com/office/drawing/2014/main" id="{572765D7-EB60-43E0-78DD-58D9C8B6B438}"/>
              </a:ext>
            </a:extLst>
          </p:cNvPr>
          <p:cNvPicPr>
            <a:picLocks noChangeAspect="1"/>
          </p:cNvPicPr>
          <p:nvPr/>
        </p:nvPicPr>
        <p:blipFill>
          <a:blip r:embed="rId3"/>
          <a:stretch>
            <a:fillRect/>
          </a:stretch>
        </p:blipFill>
        <p:spPr>
          <a:xfrm>
            <a:off x="490764" y="2228850"/>
            <a:ext cx="7772400" cy="1982434"/>
          </a:xfrm>
          <a:prstGeom prst="rect">
            <a:avLst/>
          </a:prstGeom>
        </p:spPr>
      </p:pic>
      <p:sp>
        <p:nvSpPr>
          <p:cNvPr id="7" name="Rectangle 6">
            <a:extLst>
              <a:ext uri="{FF2B5EF4-FFF2-40B4-BE49-F238E27FC236}">
                <a16:creationId xmlns:a16="http://schemas.microsoft.com/office/drawing/2014/main" id="{F753733F-02B3-959F-3FA0-888972701EDE}"/>
              </a:ext>
            </a:extLst>
          </p:cNvPr>
          <p:cNvSpPr/>
          <p:nvPr/>
        </p:nvSpPr>
        <p:spPr>
          <a:xfrm>
            <a:off x="2438400" y="3868455"/>
            <a:ext cx="3178629" cy="3483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92574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descr="Diagrama&#10;&#10;Descripción generada automáticamente con confianza media">
            <a:extLst>
              <a:ext uri="{FF2B5EF4-FFF2-40B4-BE49-F238E27FC236}">
                <a16:creationId xmlns:a16="http://schemas.microsoft.com/office/drawing/2014/main" id="{FBB47BCD-CEC0-21BC-3436-FC2A6F240E1E}"/>
              </a:ext>
            </a:extLst>
          </p:cNvPr>
          <p:cNvPicPr>
            <a:picLocks noChangeAspect="1"/>
          </p:cNvPicPr>
          <p:nvPr/>
        </p:nvPicPr>
        <p:blipFill rotWithShape="1">
          <a:blip r:embed="rId3">
            <a:extLst>
              <a:ext uri="{28A0092B-C50C-407E-A947-70E740481C1C}">
                <a14:useLocalDpi xmlns:a14="http://schemas.microsoft.com/office/drawing/2010/main" val="0"/>
              </a:ext>
            </a:extLst>
          </a:blip>
          <a:srcRect l="29793" t="9314" r="688" b="13928"/>
          <a:stretch/>
        </p:blipFill>
        <p:spPr>
          <a:xfrm>
            <a:off x="1235184" y="-140677"/>
            <a:ext cx="8113263" cy="6270640"/>
          </a:xfrm>
          <a:prstGeom prst="rect">
            <a:avLst/>
          </a:prstGeom>
        </p:spPr>
      </p:pic>
      <p:sp>
        <p:nvSpPr>
          <p:cNvPr id="3" name="CuadroTexto 2">
            <a:extLst>
              <a:ext uri="{FF2B5EF4-FFF2-40B4-BE49-F238E27FC236}">
                <a16:creationId xmlns:a16="http://schemas.microsoft.com/office/drawing/2014/main" id="{8C3F6087-AF3E-0759-8055-9A85A9769037}"/>
              </a:ext>
            </a:extLst>
          </p:cNvPr>
          <p:cNvSpPr txBox="1"/>
          <p:nvPr/>
        </p:nvSpPr>
        <p:spPr>
          <a:xfrm>
            <a:off x="6952129" y="-1748118"/>
            <a:ext cx="184731" cy="369332"/>
          </a:xfrm>
          <a:prstGeom prst="rect">
            <a:avLst/>
          </a:prstGeom>
          <a:noFill/>
        </p:spPr>
        <p:txBody>
          <a:bodyPr wrap="none" rtlCol="0">
            <a:spAutoFit/>
          </a:bodyPr>
          <a:lstStyle/>
          <a:p>
            <a:endParaRPr lang="en-GB" dirty="0"/>
          </a:p>
        </p:txBody>
      </p:sp>
      <p:pic>
        <p:nvPicPr>
          <p:cNvPr id="12" name="Imagen 11" descr="Imagen que contiene bola de billar, tabla, cuarto&#10;&#10;Descripción generada automáticamente">
            <a:extLst>
              <a:ext uri="{FF2B5EF4-FFF2-40B4-BE49-F238E27FC236}">
                <a16:creationId xmlns:a16="http://schemas.microsoft.com/office/drawing/2014/main" id="{9BB8E55A-44C8-6A77-8A89-1761A2C5D554}"/>
              </a:ext>
            </a:extLst>
          </p:cNvPr>
          <p:cNvPicPr>
            <a:picLocks noChangeAspect="1"/>
          </p:cNvPicPr>
          <p:nvPr/>
        </p:nvPicPr>
        <p:blipFill>
          <a:blip r:embed="rId4">
            <a:extLst>
              <a:ext uri="{28A0092B-C50C-407E-A947-70E740481C1C}">
                <a14:useLocalDpi xmlns:a14="http://schemas.microsoft.com/office/drawing/2010/main" val="0"/>
              </a:ext>
            </a:extLst>
          </a:blip>
          <a:srcRect l="9111" t="16381" r="23021" b="28002"/>
          <a:stretch>
            <a:fillRect/>
          </a:stretch>
        </p:blipFill>
        <p:spPr>
          <a:xfrm>
            <a:off x="609600" y="2126511"/>
            <a:ext cx="5486400" cy="3147237"/>
          </a:xfrm>
          <a:prstGeom prst="rect">
            <a:avLst/>
          </a:prstGeom>
        </p:spPr>
      </p:pic>
    </p:spTree>
    <p:extLst>
      <p:ext uri="{BB962C8B-B14F-4D97-AF65-F5344CB8AC3E}">
        <p14:creationId xmlns:p14="http://schemas.microsoft.com/office/powerpoint/2010/main" val="3065848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89957-25D1-B332-F96A-CFA80D0726E6}"/>
            </a:ext>
          </a:extLst>
        </p:cNvPr>
        <p:cNvGrpSpPr/>
        <p:nvPr/>
      </p:nvGrpSpPr>
      <p:grpSpPr>
        <a:xfrm>
          <a:off x="0" y="0"/>
          <a:ext cx="0" cy="0"/>
          <a:chOff x="0" y="0"/>
          <a:chExt cx="0" cy="0"/>
        </a:xfrm>
      </p:grpSpPr>
      <p:pic>
        <p:nvPicPr>
          <p:cNvPr id="13" name="Imagen 12" descr="Diagrama&#10;&#10;Descripción generada automáticamente con confianza media">
            <a:extLst>
              <a:ext uri="{FF2B5EF4-FFF2-40B4-BE49-F238E27FC236}">
                <a16:creationId xmlns:a16="http://schemas.microsoft.com/office/drawing/2014/main" id="{CDF661C4-8544-32FD-724E-046580FFADA4}"/>
              </a:ext>
            </a:extLst>
          </p:cNvPr>
          <p:cNvPicPr>
            <a:picLocks noChangeAspect="1"/>
          </p:cNvPicPr>
          <p:nvPr/>
        </p:nvPicPr>
        <p:blipFill rotWithShape="1">
          <a:blip r:embed="rId3">
            <a:extLst>
              <a:ext uri="{28A0092B-C50C-407E-A947-70E740481C1C}">
                <a14:useLocalDpi xmlns:a14="http://schemas.microsoft.com/office/drawing/2010/main" val="0"/>
              </a:ext>
            </a:extLst>
          </a:blip>
          <a:srcRect l="29793" t="9314" r="688" b="13928"/>
          <a:stretch/>
        </p:blipFill>
        <p:spPr>
          <a:xfrm flipH="1">
            <a:off x="-93787" y="-741384"/>
            <a:ext cx="12285787" cy="9495532"/>
          </a:xfrm>
          <a:prstGeom prst="rect">
            <a:avLst/>
          </a:prstGeom>
        </p:spPr>
      </p:pic>
      <p:sp>
        <p:nvSpPr>
          <p:cNvPr id="3" name="CuadroTexto 2">
            <a:extLst>
              <a:ext uri="{FF2B5EF4-FFF2-40B4-BE49-F238E27FC236}">
                <a16:creationId xmlns:a16="http://schemas.microsoft.com/office/drawing/2014/main" id="{5D5EFF9B-DFA3-9625-8EA9-540EABFFA44B}"/>
              </a:ext>
            </a:extLst>
          </p:cNvPr>
          <p:cNvSpPr txBox="1"/>
          <p:nvPr/>
        </p:nvSpPr>
        <p:spPr>
          <a:xfrm>
            <a:off x="6952129" y="-1748118"/>
            <a:ext cx="184731" cy="369332"/>
          </a:xfrm>
          <a:prstGeom prst="rect">
            <a:avLst/>
          </a:prstGeom>
          <a:noFill/>
        </p:spPr>
        <p:txBody>
          <a:bodyPr wrap="none" rtlCol="0">
            <a:spAutoFit/>
          </a:bodyPr>
          <a:lstStyle/>
          <a:p>
            <a:endParaRPr lang="en-GB" dirty="0"/>
          </a:p>
        </p:txBody>
      </p:sp>
      <p:pic>
        <p:nvPicPr>
          <p:cNvPr id="2" name="Picture 1">
            <a:extLst>
              <a:ext uri="{FF2B5EF4-FFF2-40B4-BE49-F238E27FC236}">
                <a16:creationId xmlns:a16="http://schemas.microsoft.com/office/drawing/2014/main" id="{5E545FDA-9562-43E0-AC1A-27BECA073E3C}"/>
              </a:ext>
            </a:extLst>
          </p:cNvPr>
          <p:cNvPicPr>
            <a:picLocks noChangeAspect="1"/>
          </p:cNvPicPr>
          <p:nvPr/>
        </p:nvPicPr>
        <p:blipFill>
          <a:blip r:embed="rId4"/>
          <a:stretch>
            <a:fillRect/>
          </a:stretch>
        </p:blipFill>
        <p:spPr>
          <a:xfrm>
            <a:off x="4561897" y="2661983"/>
            <a:ext cx="3356308" cy="3356308"/>
          </a:xfrm>
          <a:prstGeom prst="rect">
            <a:avLst/>
          </a:prstGeom>
        </p:spPr>
      </p:pic>
    </p:spTree>
    <p:extLst>
      <p:ext uri="{BB962C8B-B14F-4D97-AF65-F5344CB8AC3E}">
        <p14:creationId xmlns:p14="http://schemas.microsoft.com/office/powerpoint/2010/main" val="4223527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76841C-42E2-D7DC-9D6B-C0A01F211BD1}"/>
              </a:ext>
            </a:extLst>
          </p:cNvPr>
          <p:cNvSpPr/>
          <p:nvPr/>
        </p:nvSpPr>
        <p:spPr>
          <a:xfrm>
            <a:off x="871870" y="2211572"/>
            <a:ext cx="10079665" cy="16799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E24A1F35-E6AD-00AF-7781-83FE28E3D21E}"/>
              </a:ext>
            </a:extLst>
          </p:cNvPr>
          <p:cNvPicPr>
            <a:picLocks noChangeAspect="1"/>
          </p:cNvPicPr>
          <p:nvPr/>
        </p:nvPicPr>
        <p:blipFill>
          <a:blip r:embed="rId2"/>
          <a:stretch>
            <a:fillRect/>
          </a:stretch>
        </p:blipFill>
        <p:spPr>
          <a:xfrm>
            <a:off x="881524" y="2223977"/>
            <a:ext cx="9984951" cy="1658400"/>
          </a:xfrm>
          <a:prstGeom prst="rect">
            <a:avLst/>
          </a:prstGeom>
        </p:spPr>
      </p:pic>
    </p:spTree>
    <p:extLst>
      <p:ext uri="{BB962C8B-B14F-4D97-AF65-F5344CB8AC3E}">
        <p14:creationId xmlns:p14="http://schemas.microsoft.com/office/powerpoint/2010/main" val="33813937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2451F2B9-2DDE-BB27-3797-BFC1B3051599}"/>
              </a:ext>
            </a:extLst>
          </p:cNvPr>
          <p:cNvGrpSpPr/>
          <p:nvPr/>
        </p:nvGrpSpPr>
        <p:grpSpPr>
          <a:xfrm>
            <a:off x="1116281" y="510689"/>
            <a:ext cx="5217226" cy="2918311"/>
            <a:chOff x="878774" y="427512"/>
            <a:chExt cx="10402784" cy="5818909"/>
          </a:xfrm>
        </p:grpSpPr>
        <p:sp>
          <p:nvSpPr>
            <p:cNvPr id="3" name="Rectangle 2">
              <a:extLst>
                <a:ext uri="{FF2B5EF4-FFF2-40B4-BE49-F238E27FC236}">
                  <a16:creationId xmlns:a16="http://schemas.microsoft.com/office/drawing/2014/main" id="{21B71F24-F8A6-E722-F2BB-C69E64169127}"/>
                </a:ext>
              </a:extLst>
            </p:cNvPr>
            <p:cNvSpPr/>
            <p:nvPr/>
          </p:nvSpPr>
          <p:spPr>
            <a:xfrm>
              <a:off x="878774" y="427512"/>
              <a:ext cx="10402784" cy="58189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8DE19DA5-E76C-A691-D96A-BF67BCBBDB71}"/>
                </a:ext>
              </a:extLst>
            </p:cNvPr>
            <p:cNvPicPr>
              <a:picLocks noChangeAspect="1"/>
            </p:cNvPicPr>
            <p:nvPr/>
          </p:nvPicPr>
          <p:blipFill>
            <a:blip r:embed="rId2"/>
            <a:stretch>
              <a:fillRect/>
            </a:stretch>
          </p:blipFill>
          <p:spPr>
            <a:xfrm>
              <a:off x="1819168" y="932785"/>
              <a:ext cx="1066800" cy="1026160"/>
            </a:xfrm>
            <a:prstGeom prst="rect">
              <a:avLst/>
            </a:prstGeom>
          </p:spPr>
        </p:pic>
        <p:pic>
          <p:nvPicPr>
            <p:cNvPr id="5" name="Imagen 12" descr="Un collar de flores&#10;&#10;Descripción generada automáticamente con confianza baja">
              <a:extLst>
                <a:ext uri="{FF2B5EF4-FFF2-40B4-BE49-F238E27FC236}">
                  <a16:creationId xmlns:a16="http://schemas.microsoft.com/office/drawing/2014/main" id="{4F5B7F27-62D0-3684-5705-3375594B83BF}"/>
                </a:ext>
              </a:extLst>
            </p:cNvPr>
            <p:cNvPicPr>
              <a:picLocks noChangeAspect="1"/>
            </p:cNvPicPr>
            <p:nvPr/>
          </p:nvPicPr>
          <p:blipFill rotWithShape="1">
            <a:blip r:embed="rId3"/>
            <a:srcRect l="16214" t="17096" r="15183" b="18014"/>
            <a:stretch/>
          </p:blipFill>
          <p:spPr bwMode="auto">
            <a:xfrm>
              <a:off x="4279237" y="883299"/>
              <a:ext cx="1673225" cy="1186815"/>
            </a:xfrm>
            <a:prstGeom prst="rect">
              <a:avLst/>
            </a:prstGeom>
            <a:ln>
              <a:noFill/>
            </a:ln>
            <a:extLst>
              <a:ext uri="{53640926-AAD7-44D8-BBD7-CCE9431645EC}">
                <a14:shadowObscured xmlns:a14="http://schemas.microsoft.com/office/drawing/2010/main"/>
              </a:ext>
            </a:extLst>
          </p:spPr>
        </p:pic>
        <p:pic>
          <p:nvPicPr>
            <p:cNvPr id="6" name="Imagen 3" descr="Imagen que contiene collar, cadena, tabla, hombre&#10;&#10;Descripción generada automáticamente">
              <a:extLst>
                <a:ext uri="{FF2B5EF4-FFF2-40B4-BE49-F238E27FC236}">
                  <a16:creationId xmlns:a16="http://schemas.microsoft.com/office/drawing/2014/main" id="{173CCBA4-D245-7CBC-CB3D-B369ED4A5635}"/>
                </a:ext>
              </a:extLst>
            </p:cNvPr>
            <p:cNvPicPr>
              <a:picLocks noChangeAspect="1"/>
            </p:cNvPicPr>
            <p:nvPr/>
          </p:nvPicPr>
          <p:blipFill rotWithShape="1">
            <a:blip r:embed="rId4"/>
            <a:srcRect t="12919" b="23767"/>
            <a:stretch/>
          </p:blipFill>
          <p:spPr bwMode="auto">
            <a:xfrm>
              <a:off x="6831182" y="469914"/>
              <a:ext cx="2009140" cy="1600200"/>
            </a:xfrm>
            <a:prstGeom prst="rect">
              <a:avLst/>
            </a:prstGeom>
            <a:ln>
              <a:noFill/>
            </a:ln>
            <a:extLst>
              <a:ext uri="{53640926-AAD7-44D8-BBD7-CCE9431645EC}">
                <a14:shadowObscured xmlns:a14="http://schemas.microsoft.com/office/drawing/2010/main"/>
              </a:ext>
            </a:extLst>
          </p:spPr>
        </p:pic>
        <p:pic>
          <p:nvPicPr>
            <p:cNvPr id="7" name="Picture 6">
              <a:extLst>
                <a:ext uri="{FF2B5EF4-FFF2-40B4-BE49-F238E27FC236}">
                  <a16:creationId xmlns:a16="http://schemas.microsoft.com/office/drawing/2014/main" id="{ADB219C4-341E-E323-3FCD-379F6DB53DA7}"/>
                </a:ext>
              </a:extLst>
            </p:cNvPr>
            <p:cNvPicPr>
              <a:picLocks noChangeAspect="1"/>
            </p:cNvPicPr>
            <p:nvPr/>
          </p:nvPicPr>
          <p:blipFill>
            <a:blip r:embed="rId5"/>
            <a:srcRect l="23946" t="10048" r="14330" b="14604"/>
            <a:stretch/>
          </p:blipFill>
          <p:spPr>
            <a:xfrm>
              <a:off x="9719718" y="581082"/>
              <a:ext cx="1556701" cy="1377863"/>
            </a:xfrm>
            <a:prstGeom prst="rect">
              <a:avLst/>
            </a:prstGeom>
          </p:spPr>
        </p:pic>
        <p:sp>
          <p:nvSpPr>
            <p:cNvPr id="11" name="Notched Right Arrow 10">
              <a:extLst>
                <a:ext uri="{FF2B5EF4-FFF2-40B4-BE49-F238E27FC236}">
                  <a16:creationId xmlns:a16="http://schemas.microsoft.com/office/drawing/2014/main" id="{4A748930-CB73-0378-2BA7-1D0AAC482E6E}"/>
                </a:ext>
              </a:extLst>
            </p:cNvPr>
            <p:cNvSpPr/>
            <p:nvPr/>
          </p:nvSpPr>
          <p:spPr>
            <a:xfrm>
              <a:off x="3164297" y="1205773"/>
              <a:ext cx="1061156" cy="534480"/>
            </a:xfrm>
            <a:prstGeom prst="notchedRightArrow">
              <a:avLst/>
            </a:prstGeom>
            <a:noFill/>
            <a:ln>
              <a:solidFill>
                <a:srgbClr val="A8171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Notched Right Arrow 11">
              <a:extLst>
                <a:ext uri="{FF2B5EF4-FFF2-40B4-BE49-F238E27FC236}">
                  <a16:creationId xmlns:a16="http://schemas.microsoft.com/office/drawing/2014/main" id="{6FBCCD07-02F3-09C3-3C9F-60C7AD20E089}"/>
                </a:ext>
              </a:extLst>
            </p:cNvPr>
            <p:cNvSpPr/>
            <p:nvPr/>
          </p:nvSpPr>
          <p:spPr>
            <a:xfrm>
              <a:off x="5991956" y="1205773"/>
              <a:ext cx="1061156" cy="534480"/>
            </a:xfrm>
            <a:prstGeom prst="notchedRightArrow">
              <a:avLst/>
            </a:prstGeom>
            <a:noFill/>
            <a:ln>
              <a:solidFill>
                <a:srgbClr val="3270A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Notched Right Arrow 12">
              <a:extLst>
                <a:ext uri="{FF2B5EF4-FFF2-40B4-BE49-F238E27FC236}">
                  <a16:creationId xmlns:a16="http://schemas.microsoft.com/office/drawing/2014/main" id="{65EB35FB-3961-E85D-48FD-0D44D2FE7799}"/>
                </a:ext>
              </a:extLst>
            </p:cNvPr>
            <p:cNvSpPr/>
            <p:nvPr/>
          </p:nvSpPr>
          <p:spPr>
            <a:xfrm>
              <a:off x="8595930" y="1205773"/>
              <a:ext cx="1061156" cy="534480"/>
            </a:xfrm>
            <a:prstGeom prst="notchedRightArrow">
              <a:avLst/>
            </a:prstGeom>
            <a:noFill/>
            <a:ln>
              <a:solidFill>
                <a:srgbClr val="A8171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Imagen 6" descr="Imagen que contiene Texto&#10;&#10;Descripción generada automáticamente">
              <a:extLst>
                <a:ext uri="{FF2B5EF4-FFF2-40B4-BE49-F238E27FC236}">
                  <a16:creationId xmlns:a16="http://schemas.microsoft.com/office/drawing/2014/main" id="{21A5ADD5-5510-764A-B0FC-DC132B3C0730}"/>
                </a:ext>
              </a:extLst>
            </p:cNvPr>
            <p:cNvPicPr>
              <a:picLocks noChangeAspect="1"/>
            </p:cNvPicPr>
            <p:nvPr/>
          </p:nvPicPr>
          <p:blipFill rotWithShape="1">
            <a:blip r:embed="rId6"/>
            <a:srcRect l="-1" r="75014"/>
            <a:stretch/>
          </p:blipFill>
          <p:spPr>
            <a:xfrm>
              <a:off x="3427126" y="783865"/>
              <a:ext cx="480060" cy="422910"/>
            </a:xfrm>
            <a:prstGeom prst="rect">
              <a:avLst/>
            </a:prstGeom>
          </p:spPr>
        </p:pic>
        <p:pic>
          <p:nvPicPr>
            <p:cNvPr id="19" name="Imagen 6" descr="Imagen que contiene Texto&#10;&#10;Descripción generada automáticamente">
              <a:extLst>
                <a:ext uri="{FF2B5EF4-FFF2-40B4-BE49-F238E27FC236}">
                  <a16:creationId xmlns:a16="http://schemas.microsoft.com/office/drawing/2014/main" id="{E78F3BCF-7949-6443-18FD-4023010CB578}"/>
                </a:ext>
              </a:extLst>
            </p:cNvPr>
            <p:cNvPicPr>
              <a:picLocks noChangeAspect="1"/>
            </p:cNvPicPr>
            <p:nvPr/>
          </p:nvPicPr>
          <p:blipFill rotWithShape="1">
            <a:blip r:embed="rId6"/>
            <a:srcRect l="-1" r="75014"/>
            <a:stretch/>
          </p:blipFill>
          <p:spPr>
            <a:xfrm>
              <a:off x="8909706" y="783865"/>
              <a:ext cx="480060" cy="422910"/>
            </a:xfrm>
            <a:prstGeom prst="rect">
              <a:avLst/>
            </a:prstGeom>
          </p:spPr>
        </p:pic>
        <p:pic>
          <p:nvPicPr>
            <p:cNvPr id="20" name="Imagen 14" descr="Diagrama&#10;&#10;Descripción generada automáticamente">
              <a:extLst>
                <a:ext uri="{FF2B5EF4-FFF2-40B4-BE49-F238E27FC236}">
                  <a16:creationId xmlns:a16="http://schemas.microsoft.com/office/drawing/2014/main" id="{70377AF3-6F2D-DACB-9A43-776BE2C7553E}"/>
                </a:ext>
              </a:extLst>
            </p:cNvPr>
            <p:cNvPicPr>
              <a:picLocks noChangeAspect="1"/>
            </p:cNvPicPr>
            <p:nvPr/>
          </p:nvPicPr>
          <p:blipFill rotWithShape="1">
            <a:blip r:embed="rId7"/>
            <a:srcRect l="38504" t="28020" r="38924" b="31201"/>
            <a:stretch/>
          </p:blipFill>
          <p:spPr>
            <a:xfrm>
              <a:off x="6310444" y="721330"/>
              <a:ext cx="424180" cy="519430"/>
            </a:xfrm>
            <a:prstGeom prst="rect">
              <a:avLst/>
            </a:prstGeom>
          </p:spPr>
        </p:pic>
        <p:pic>
          <p:nvPicPr>
            <p:cNvPr id="2" name="Picture 1">
              <a:extLst>
                <a:ext uri="{FF2B5EF4-FFF2-40B4-BE49-F238E27FC236}">
                  <a16:creationId xmlns:a16="http://schemas.microsoft.com/office/drawing/2014/main" id="{906E00B5-69F3-0AC7-7C9B-94F41EFF8D5F}"/>
                </a:ext>
              </a:extLst>
            </p:cNvPr>
            <p:cNvPicPr>
              <a:picLocks noChangeAspect="1"/>
            </p:cNvPicPr>
            <p:nvPr/>
          </p:nvPicPr>
          <p:blipFill>
            <a:blip r:embed="rId8"/>
            <a:stretch>
              <a:fillRect/>
            </a:stretch>
          </p:blipFill>
          <p:spPr>
            <a:xfrm>
              <a:off x="915580" y="1476707"/>
              <a:ext cx="10360839" cy="4747346"/>
            </a:xfrm>
            <a:prstGeom prst="rect">
              <a:avLst/>
            </a:prstGeom>
          </p:spPr>
        </p:pic>
      </p:grpSp>
      <p:sp>
        <p:nvSpPr>
          <p:cNvPr id="9" name="Rectangle 8">
            <a:extLst>
              <a:ext uri="{FF2B5EF4-FFF2-40B4-BE49-F238E27FC236}">
                <a16:creationId xmlns:a16="http://schemas.microsoft.com/office/drawing/2014/main" id="{749C6A49-CCAF-6D26-AFD2-4AE7A15C36AC}"/>
              </a:ext>
            </a:extLst>
          </p:cNvPr>
          <p:cNvSpPr/>
          <p:nvPr/>
        </p:nvSpPr>
        <p:spPr>
          <a:xfrm>
            <a:off x="7819292" y="901004"/>
            <a:ext cx="1805354" cy="693334"/>
          </a:xfrm>
          <a:prstGeom prst="rect">
            <a:avLst/>
          </a:prstGeom>
          <a:solidFill>
            <a:srgbClr val="85CF4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22E4E10-1285-3DDB-D316-1CA0B4010B92}"/>
              </a:ext>
            </a:extLst>
          </p:cNvPr>
          <p:cNvSpPr/>
          <p:nvPr/>
        </p:nvSpPr>
        <p:spPr>
          <a:xfrm>
            <a:off x="8065477" y="2297723"/>
            <a:ext cx="1304835" cy="363415"/>
          </a:xfrm>
          <a:prstGeom prst="rect">
            <a:avLst/>
          </a:prstGeom>
          <a:solidFill>
            <a:srgbClr val="2642D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671035"/>
      </p:ext>
    </p:extLst>
  </p:cSld>
  <p:clrMapOvr>
    <a:masterClrMapping/>
  </p:clrMapOvr>
</p:sld>
</file>

<file path=ppt/theme/theme1.xml><?xml version="1.0" encoding="utf-8"?>
<a:theme xmlns:a="http://schemas.openxmlformats.org/drawingml/2006/main" name="Office Theme">
  <a:themeElements>
    <a:clrScheme name="Thesis">
      <a:dk1>
        <a:srgbClr val="000000"/>
      </a:dk1>
      <a:lt1>
        <a:srgbClr val="FFFFFF"/>
      </a:lt1>
      <a:dk2>
        <a:srgbClr val="135292"/>
      </a:dk2>
      <a:lt2>
        <a:srgbClr val="B34D0B"/>
      </a:lt2>
      <a:accent1>
        <a:srgbClr val="A9A9A9"/>
      </a:accent1>
      <a:accent2>
        <a:srgbClr val="6B5997"/>
      </a:accent2>
      <a:accent3>
        <a:srgbClr val="3E7892"/>
      </a:accent3>
      <a:accent4>
        <a:srgbClr val="5F896D"/>
      </a:accent4>
      <a:accent5>
        <a:srgbClr val="8F3B60"/>
      </a:accent5>
      <a:accent6>
        <a:srgbClr val="F2E8DF"/>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756</TotalTime>
  <Words>901</Words>
  <Application>Microsoft Macintosh PowerPoint</Application>
  <PresentationFormat>Widescreen</PresentationFormat>
  <Paragraphs>85</Paragraphs>
  <Slides>18</Slides>
  <Notes>13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Aptos</vt:lpstr>
      <vt:lpstr>Aptos Display</vt:lpstr>
      <vt:lpstr>Arial</vt:lpstr>
      <vt:lpstr>Avenir Book</vt:lpstr>
      <vt:lpstr>Calibri</vt:lpstr>
      <vt:lpstr>Courier New</vt:lpstr>
      <vt:lpstr>Symbol</vt:lpstr>
      <vt:lpstr>TimesTenLTStd</vt:lpstr>
      <vt:lpstr>Wingdings</vt:lpstr>
      <vt:lpstr>Office Theme</vt:lpstr>
      <vt:lpstr>PowerPoint Presentation</vt:lpstr>
      <vt:lpstr>Catalysis</vt:lpstr>
      <vt:lpstr>Typical “organometallic catalyst”</vt:lpstr>
      <vt:lpstr>Typical “organometallic catalyst”</vt:lpstr>
      <vt:lpstr>Organometallic reactions</vt:lpstr>
      <vt:lpstr>Ligand-substrate supramolecular interactions</vt:lpstr>
      <vt:lpstr>Mechanism: Non-covalent interactions</vt:lpstr>
      <vt:lpstr>Mechanism: NBO analysis</vt:lpstr>
      <vt:lpstr>Mechanism: isomerization step</vt:lpstr>
      <vt:lpstr>Mechanism: isomerization step</vt:lpstr>
      <vt:lpstr>General conclusions</vt:lpstr>
      <vt:lpstr>General conclusions</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MARCOS ATANES DANIEL</dc:creator>
  <cp:lastModifiedBy>MARCOS ATANES DANIEL</cp:lastModifiedBy>
  <cp:revision>4</cp:revision>
  <dcterms:created xsi:type="dcterms:W3CDTF">2025-12-24T18:11:37Z</dcterms:created>
  <dcterms:modified xsi:type="dcterms:W3CDTF">2026-01-02T19:10:26Z</dcterms:modified>
</cp:coreProperties>
</file>