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589" r:id="rId3"/>
    <p:sldId id="575" r:id="rId4"/>
    <p:sldId id="1092" r:id="rId5"/>
    <p:sldId id="1199" r:id="rId6"/>
    <p:sldId id="1103" r:id="rId7"/>
    <p:sldId id="579" r:id="rId8"/>
    <p:sldId id="975" r:id="rId9"/>
    <p:sldId id="1156" r:id="rId10"/>
    <p:sldId id="118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725"/>
  </p:normalViewPr>
  <p:slideViewPr>
    <p:cSldViewPr snapToGrid="0" showGuides="1">
      <p:cViewPr varScale="1">
        <p:scale>
          <a:sx n="109" d="100"/>
          <a:sy n="109" d="100"/>
        </p:scale>
        <p:origin x="608"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0A8D8B-0BAD-384D-A95D-5CCDA0C68B2E}" type="datetimeFigureOut">
              <a:rPr lang="en-US" smtClean="0"/>
              <a:t>12/24/25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908BB6-EFEF-634D-82CA-0BF433FE04C3}" type="slidenum">
              <a:rPr lang="en-US" smtClean="0"/>
              <a:t>‹#›</a:t>
            </a:fld>
            <a:endParaRPr lang="en-US"/>
          </a:p>
        </p:txBody>
      </p:sp>
    </p:spTree>
    <p:extLst>
      <p:ext uri="{BB962C8B-B14F-4D97-AF65-F5344CB8AC3E}">
        <p14:creationId xmlns:p14="http://schemas.microsoft.com/office/powerpoint/2010/main" val="3119445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lvl="0" indent="0" algn="just">
              <a:lnSpc>
                <a:spcPct val="115000"/>
              </a:lnSpc>
              <a:spcAft>
                <a:spcPts val="600"/>
              </a:spcAft>
              <a:buClr>
                <a:srgbClr val="000000"/>
              </a:buClr>
              <a:buFont typeface="Symbol" pitchFamily="2" charset="2"/>
              <a:buNone/>
              <a:tabLst>
                <a:tab pos="180340" algn="l"/>
              </a:tabLst>
            </a:pPr>
            <a:r>
              <a:rPr lang="en-US" sz="2800" dirty="0"/>
              <a:t>In this context, the discovery of catalytic reactions is especially relevant. A catalyst accelerates a reaction without being consumed, meaning it can be used in </a:t>
            </a:r>
            <a:r>
              <a:rPr lang="en-US" sz="2800" dirty="0" err="1"/>
              <a:t>substoichiometric</a:t>
            </a:r>
            <a:r>
              <a:rPr lang="en-US" sz="2800" dirty="0"/>
              <a:t> amounts and therefore helps to minimize waste. Moreover, catalysts can open up unconventional reaction pathways by lowering activation barriers, enabling transformations that would otherwise be unfeasible, such as could be the case of palladium </a:t>
            </a:r>
            <a:r>
              <a:rPr lang="en-US" sz="2800" dirty="0" err="1"/>
              <a:t>catalists</a:t>
            </a:r>
            <a:r>
              <a:rPr lang="en-US" sz="2800" dirty="0"/>
              <a:t> in the amination of aryl bromides. </a:t>
            </a:r>
          </a:p>
          <a:p>
            <a:pPr marL="0" lvl="0" indent="0" algn="just">
              <a:lnSpc>
                <a:spcPct val="115000"/>
              </a:lnSpc>
              <a:spcAft>
                <a:spcPts val="600"/>
              </a:spcAft>
              <a:buClr>
                <a:srgbClr val="000000"/>
              </a:buClr>
              <a:buFont typeface="Symbol" pitchFamily="2" charset="2"/>
              <a:buNone/>
              <a:tabLst>
                <a:tab pos="180340" algn="l"/>
              </a:tabLst>
            </a:pP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E445D19A-FA26-469A-BDB5-85895D056583}" type="slidenum">
              <a:rPr lang="es-ES" smtClean="0"/>
              <a:t>2</a:t>
            </a:fld>
            <a:endParaRPr lang="es-ES"/>
          </a:p>
        </p:txBody>
      </p:sp>
    </p:spTree>
    <p:extLst>
      <p:ext uri="{BB962C8B-B14F-4D97-AF65-F5344CB8AC3E}">
        <p14:creationId xmlns:p14="http://schemas.microsoft.com/office/powerpoint/2010/main" val="2012274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err="1"/>
              <a:t>These</a:t>
            </a:r>
            <a:r>
              <a:rPr lang="es-ES" dirty="0"/>
              <a:t> </a:t>
            </a:r>
            <a:r>
              <a:rPr lang="es-ES" dirty="0" err="1"/>
              <a:t>organometallic</a:t>
            </a:r>
            <a:r>
              <a:rPr lang="es-ES" dirty="0"/>
              <a:t> </a:t>
            </a:r>
            <a:r>
              <a:rPr lang="es-ES" dirty="0" err="1"/>
              <a:t>catalysts</a:t>
            </a:r>
            <a:r>
              <a:rPr lang="es-ES" dirty="0"/>
              <a:t> </a:t>
            </a:r>
            <a:r>
              <a:rPr lang="es-ES" dirty="0" err="1"/>
              <a:t>which</a:t>
            </a:r>
            <a:r>
              <a:rPr lang="es-ES" dirty="0"/>
              <a:t> </a:t>
            </a:r>
            <a:r>
              <a:rPr lang="es-ES" dirty="0" err="1"/>
              <a:t>feature</a:t>
            </a:r>
            <a:r>
              <a:rPr lang="es-ES" dirty="0"/>
              <a:t> </a:t>
            </a:r>
            <a:r>
              <a:rPr lang="es-ES" dirty="0" err="1"/>
              <a:t>both</a:t>
            </a:r>
            <a:r>
              <a:rPr lang="es-ES" dirty="0"/>
              <a:t> a metal center and a </a:t>
            </a:r>
            <a:r>
              <a:rPr lang="es-ES" dirty="0" err="1"/>
              <a:t>organic</a:t>
            </a:r>
            <a:r>
              <a:rPr lang="es-ES" dirty="0"/>
              <a:t> </a:t>
            </a:r>
            <a:r>
              <a:rPr lang="es-ES" dirty="0" err="1"/>
              <a:t>ligand</a:t>
            </a:r>
            <a:r>
              <a:rPr lang="es-ES" dirty="0"/>
              <a:t> </a:t>
            </a:r>
            <a:r>
              <a:rPr lang="es-ES" dirty="0" err="1"/>
              <a:t>sphere</a:t>
            </a:r>
            <a:r>
              <a:rPr lang="es-ES" dirty="0"/>
              <a:t> </a:t>
            </a:r>
            <a:r>
              <a:rPr lang="es-ES" dirty="0" err="1"/>
              <a:t>have</a:t>
            </a:r>
            <a:r>
              <a:rPr lang="es-ES" dirty="0"/>
              <a:t> </a:t>
            </a:r>
            <a:r>
              <a:rPr lang="es-ES" dirty="0" err="1"/>
              <a:t>been</a:t>
            </a:r>
            <a:r>
              <a:rPr lang="es-ES" dirty="0"/>
              <a:t> </a:t>
            </a:r>
            <a:r>
              <a:rPr lang="es-ES" dirty="0" err="1"/>
              <a:t>particularly</a:t>
            </a:r>
            <a:r>
              <a:rPr lang="es-ES" dirty="0"/>
              <a:t> </a:t>
            </a:r>
            <a:r>
              <a:rPr lang="es-ES" dirty="0" err="1"/>
              <a:t>impactful</a:t>
            </a:r>
            <a:endParaRPr lang="es-ES" dirty="0"/>
          </a:p>
        </p:txBody>
      </p:sp>
      <p:sp>
        <p:nvSpPr>
          <p:cNvPr id="4" name="Marcador de número de diapositiva 3"/>
          <p:cNvSpPr>
            <a:spLocks noGrp="1"/>
          </p:cNvSpPr>
          <p:nvPr>
            <p:ph type="sldNum" sz="quarter" idx="5"/>
          </p:nvPr>
        </p:nvSpPr>
        <p:spPr/>
        <p:txBody>
          <a:bodyPr/>
          <a:lstStyle/>
          <a:p>
            <a:fld id="{E445D19A-FA26-469A-BDB5-85895D056583}" type="slidenum">
              <a:rPr lang="es-ES" smtClean="0"/>
              <a:t>3</a:t>
            </a:fld>
            <a:endParaRPr lang="es-ES"/>
          </a:p>
        </p:txBody>
      </p:sp>
    </p:spTree>
    <p:extLst>
      <p:ext uri="{BB962C8B-B14F-4D97-AF65-F5344CB8AC3E}">
        <p14:creationId xmlns:p14="http://schemas.microsoft.com/office/powerpoint/2010/main" val="4197546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5A54B-1B24-4C61-039F-A37FDF294E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C0E2F7-9CEF-2DE3-1079-7EF2D57F0C1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C15226-1F17-7A35-00B3-3ED4D8D94C0C}"/>
              </a:ext>
            </a:extLst>
          </p:cNvPr>
          <p:cNvSpPr>
            <a:spLocks noGrp="1"/>
          </p:cNvSpPr>
          <p:nvPr>
            <p:ph type="body" idx="1"/>
          </p:nvPr>
        </p:nvSpPr>
        <p:spPr/>
        <p:txBody>
          <a:bodyPr/>
          <a:lstStyle/>
          <a:p>
            <a:r>
              <a:rPr lang="es-ES" sz="1800" dirty="0"/>
              <a:t>In </a:t>
            </a:r>
            <a:r>
              <a:rPr lang="es-ES" sz="1800" dirty="0" err="1"/>
              <a:t>great</a:t>
            </a:r>
            <a:r>
              <a:rPr lang="es-ES" sz="1800" dirty="0"/>
              <a:t> </a:t>
            </a:r>
            <a:r>
              <a:rPr lang="es-ES" sz="1800" dirty="0" err="1"/>
              <a:t>part</a:t>
            </a:r>
            <a:r>
              <a:rPr lang="es-ES" sz="1800" dirty="0"/>
              <a:t> </a:t>
            </a:r>
            <a:r>
              <a:rPr lang="es-ES" sz="1800" dirty="0" err="1"/>
              <a:t>because</a:t>
            </a:r>
            <a:r>
              <a:rPr lang="es-ES" sz="1800" dirty="0"/>
              <a:t> </a:t>
            </a:r>
            <a:r>
              <a:rPr lang="es-ES" sz="1800" dirty="0" err="1"/>
              <a:t>of</a:t>
            </a:r>
            <a:r>
              <a:rPr lang="es-ES" sz="1800" dirty="0"/>
              <a:t> </a:t>
            </a:r>
            <a:r>
              <a:rPr lang="es-ES" sz="1800" dirty="0" err="1"/>
              <a:t>the</a:t>
            </a:r>
            <a:r>
              <a:rPr lang="es-ES" sz="1800" dirty="0"/>
              <a:t> </a:t>
            </a:r>
            <a:r>
              <a:rPr lang="es-ES" sz="1800" dirty="0" err="1"/>
              <a:t>wide</a:t>
            </a:r>
            <a:r>
              <a:rPr lang="es-ES" sz="1800" dirty="0"/>
              <a:t> </a:t>
            </a:r>
            <a:r>
              <a:rPr lang="en-US" sz="1800" dirty="0"/>
              <a:t>variety of transition metals available, each one exhibiting different properties, and the versatility provided by the broad arrange of ligands that can be used.</a:t>
            </a:r>
            <a:endParaRPr lang="es-ES" dirty="0"/>
          </a:p>
        </p:txBody>
      </p:sp>
      <p:sp>
        <p:nvSpPr>
          <p:cNvPr id="4" name="Marcador de número de diapositiva 3">
            <a:extLst>
              <a:ext uri="{FF2B5EF4-FFF2-40B4-BE49-F238E27FC236}">
                <a16:creationId xmlns:a16="http://schemas.microsoft.com/office/drawing/2014/main" id="{53E5BA70-A15D-495C-05F1-DF19271593CC}"/>
              </a:ext>
            </a:extLst>
          </p:cNvPr>
          <p:cNvSpPr>
            <a:spLocks noGrp="1"/>
          </p:cNvSpPr>
          <p:nvPr>
            <p:ph type="sldNum" sz="quarter" idx="5"/>
          </p:nvPr>
        </p:nvSpPr>
        <p:spPr/>
        <p:txBody>
          <a:bodyPr/>
          <a:lstStyle/>
          <a:p>
            <a:fld id="{E445D19A-FA26-469A-BDB5-85895D056583}" type="slidenum">
              <a:rPr lang="es-ES" smtClean="0"/>
              <a:t>4</a:t>
            </a:fld>
            <a:endParaRPr lang="es-ES"/>
          </a:p>
        </p:txBody>
      </p:sp>
    </p:spTree>
    <p:extLst>
      <p:ext uri="{BB962C8B-B14F-4D97-AF65-F5344CB8AC3E}">
        <p14:creationId xmlns:p14="http://schemas.microsoft.com/office/powerpoint/2010/main" val="2444742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C7D34-CE28-F3E0-CF04-995367E0EF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A86485-46B1-2A0D-CB1E-351C0FDF091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5F8268-EDC4-AA85-1400-96FD1FAF1BE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Aptos" panose="020B0004020202020204" pitchFamily="34" charset="0"/>
                <a:ea typeface="Aptos" panose="020B0004020202020204" pitchFamily="34" charset="0"/>
                <a:cs typeface="Calibri" panose="020F0502020204030204" pitchFamily="34" charset="0"/>
              </a:rPr>
              <a:t>In this context, in recent decades, many chemists have turned their attention to direct, one step metal-promoted C–H functionalization reactions because they allow a much more rapid increase in molecular complexity from native/non-functionalized precursors. This strategy involves the activation of a C–H bond with the transition metal catalyst to form an organometallic intermediate that can then be further functionalized.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s-ES" dirty="0"/>
          </a:p>
        </p:txBody>
      </p:sp>
      <p:sp>
        <p:nvSpPr>
          <p:cNvPr id="4" name="Marcador de número de diapositiva 3">
            <a:extLst>
              <a:ext uri="{FF2B5EF4-FFF2-40B4-BE49-F238E27FC236}">
                <a16:creationId xmlns:a16="http://schemas.microsoft.com/office/drawing/2014/main" id="{D216D8EA-A394-4BC0-F6F6-530CAD6A9F57}"/>
              </a:ext>
            </a:extLst>
          </p:cNvPr>
          <p:cNvSpPr>
            <a:spLocks noGrp="1"/>
          </p:cNvSpPr>
          <p:nvPr>
            <p:ph type="sldNum" sz="quarter" idx="5"/>
          </p:nvPr>
        </p:nvSpPr>
        <p:spPr/>
        <p:txBody>
          <a:bodyPr/>
          <a:lstStyle/>
          <a:p>
            <a:fld id="{C449AEC8-B143-4E4C-9BE2-62BDDEA5472D}" type="slidenum">
              <a:rPr lang="es-ES" smtClean="0"/>
              <a:t>5</a:t>
            </a:fld>
            <a:endParaRPr lang="es-ES"/>
          </a:p>
        </p:txBody>
      </p:sp>
    </p:spTree>
    <p:extLst>
      <p:ext uri="{BB962C8B-B14F-4D97-AF65-F5344CB8AC3E}">
        <p14:creationId xmlns:p14="http://schemas.microsoft.com/office/powerpoint/2010/main" val="3540047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recent years there has been also a significant progress in the design of bidentate neutral </a:t>
            </a:r>
            <a:r>
              <a:rPr lang="en-US" b="1" dirty="0"/>
              <a:t>ligands that, equipped with supramolecular recognition sites</a:t>
            </a:r>
            <a:r>
              <a:rPr lang="en-US" dirty="0"/>
              <a:t>, which interact with functional groups on the substrate and help position the iridium center for </a:t>
            </a:r>
            <a:r>
              <a:rPr lang="en-US" b="1" dirty="0"/>
              <a:t>meta- or para-selective C–H activation</a:t>
            </a:r>
            <a:r>
              <a:rPr lang="en-US" dirty="0"/>
              <a:t>.</a:t>
            </a:r>
          </a:p>
        </p:txBody>
      </p:sp>
      <p:sp>
        <p:nvSpPr>
          <p:cNvPr id="4" name="Slide Number Placeholder 3"/>
          <p:cNvSpPr>
            <a:spLocks noGrp="1"/>
          </p:cNvSpPr>
          <p:nvPr>
            <p:ph type="sldNum" sz="quarter" idx="5"/>
          </p:nvPr>
        </p:nvSpPr>
        <p:spPr/>
        <p:txBody>
          <a:bodyPr/>
          <a:lstStyle/>
          <a:p>
            <a:fld id="{E445D19A-FA26-469A-BDB5-85895D056583}" type="slidenum">
              <a:rPr lang="es-ES" smtClean="0"/>
              <a:t>6</a:t>
            </a:fld>
            <a:endParaRPr lang="es-ES"/>
          </a:p>
        </p:txBody>
      </p:sp>
    </p:spTree>
    <p:extLst>
      <p:ext uri="{BB962C8B-B14F-4D97-AF65-F5344CB8AC3E}">
        <p14:creationId xmlns:p14="http://schemas.microsoft.com/office/powerpoint/2010/main" val="2736193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closer examination revealed an extensive network of attractive interactions between the amide carbonyl and the CF₃-substituted pyridine ring, stabilizing the transition state.</a:t>
            </a:r>
            <a:endParaRPr lang="es-ES" dirty="0"/>
          </a:p>
        </p:txBody>
      </p:sp>
      <p:sp>
        <p:nvSpPr>
          <p:cNvPr id="4" name="Marcador de número de diapositiva 3"/>
          <p:cNvSpPr>
            <a:spLocks noGrp="1"/>
          </p:cNvSpPr>
          <p:nvPr>
            <p:ph type="sldNum" sz="quarter" idx="5"/>
          </p:nvPr>
        </p:nvSpPr>
        <p:spPr/>
        <p:txBody>
          <a:bodyPr/>
          <a:lstStyle/>
          <a:p>
            <a:fld id="{E445D19A-FA26-469A-BDB5-85895D056583}" type="slidenum">
              <a:rPr lang="es-ES" smtClean="0"/>
              <a:t>7</a:t>
            </a:fld>
            <a:endParaRPr lang="es-ES"/>
          </a:p>
        </p:txBody>
      </p:sp>
    </p:spTree>
    <p:extLst>
      <p:ext uri="{BB962C8B-B14F-4D97-AF65-F5344CB8AC3E}">
        <p14:creationId xmlns:p14="http://schemas.microsoft.com/office/powerpoint/2010/main" val="897798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Natural Bond Orbital (NBO) analysis indicated that dispersion interactions between the amide carbonyl </a:t>
            </a:r>
            <a:r>
              <a:rPr lang="el-GR" dirty="0"/>
              <a:t>π-</a:t>
            </a:r>
            <a:r>
              <a:rPr lang="en-US" dirty="0"/>
              <a:t>bonding orbital and the CF₃-pyridine </a:t>
            </a:r>
            <a:r>
              <a:rPr lang="el-GR" dirty="0"/>
              <a:t>π*-</a:t>
            </a:r>
            <a:r>
              <a:rPr lang="en-US" dirty="0"/>
              <a:t>antibonding orbital led to a shorter distance between the carbonyl group and the pyridine ring that </a:t>
            </a:r>
            <a:r>
              <a:rPr lang="en-US" dirty="0" err="1"/>
              <a:t>enhancesselectivity</a:t>
            </a:r>
            <a:r>
              <a:rPr lang="en-US" dirty="0"/>
              <a:t>. The electron-withdrawing nature of CF₃ strengthened these interactions, driving the preference for ortho borylation.</a:t>
            </a:r>
            <a:endParaRPr lang="es-ES" dirty="0"/>
          </a:p>
        </p:txBody>
      </p:sp>
      <p:sp>
        <p:nvSpPr>
          <p:cNvPr id="4" name="Marcador de número de diapositiva 3"/>
          <p:cNvSpPr>
            <a:spLocks noGrp="1"/>
          </p:cNvSpPr>
          <p:nvPr>
            <p:ph type="sldNum" sz="quarter" idx="5"/>
          </p:nvPr>
        </p:nvSpPr>
        <p:spPr/>
        <p:txBody>
          <a:bodyPr/>
          <a:lstStyle/>
          <a:p>
            <a:fld id="{E445D19A-FA26-469A-BDB5-85895D056583}" type="slidenum">
              <a:rPr lang="es-ES" smtClean="0"/>
              <a:t>8</a:t>
            </a:fld>
            <a:endParaRPr lang="es-ES"/>
          </a:p>
        </p:txBody>
      </p:sp>
    </p:spTree>
    <p:extLst>
      <p:ext uri="{BB962C8B-B14F-4D97-AF65-F5344CB8AC3E}">
        <p14:creationId xmlns:p14="http://schemas.microsoft.com/office/powerpoint/2010/main" val="1747684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ligand repositioning alters the complex topology, transitioning from one distorted pentagonal bipyramidal structure to another, where the alkyl and boron groups are better aligned for reductive elimination.</a:t>
            </a:r>
          </a:p>
        </p:txBody>
      </p:sp>
      <p:sp>
        <p:nvSpPr>
          <p:cNvPr id="4" name="Slide Number Placeholder 3"/>
          <p:cNvSpPr>
            <a:spLocks noGrp="1"/>
          </p:cNvSpPr>
          <p:nvPr>
            <p:ph type="sldNum" sz="quarter" idx="5"/>
          </p:nvPr>
        </p:nvSpPr>
        <p:spPr/>
        <p:txBody>
          <a:bodyPr/>
          <a:lstStyle/>
          <a:p>
            <a:fld id="{E445D19A-FA26-469A-BDB5-85895D056583}" type="slidenum">
              <a:rPr lang="es-ES" smtClean="0"/>
              <a:t>9</a:t>
            </a:fld>
            <a:endParaRPr lang="es-ES"/>
          </a:p>
        </p:txBody>
      </p:sp>
    </p:spTree>
    <p:extLst>
      <p:ext uri="{BB962C8B-B14F-4D97-AF65-F5344CB8AC3E}">
        <p14:creationId xmlns:p14="http://schemas.microsoft.com/office/powerpoint/2010/main" val="4056170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51AC6-E80E-24E4-77E3-EBCE7CBCD4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C032D1-FF7A-3BF5-B6A2-0EDE93183A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9D8E8D-E23B-57AA-3871-C54E9DD7DF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Aptos" panose="020B0004020202020204" pitchFamily="34" charset="0"/>
              </a:rPr>
              <a:t>So finally, as general conclusions I can say that the work of this PhD thesis has allowed us to discover two new types of chemo- and regioselective iridium-catalyzed borylation reactions, one for the </a:t>
            </a:r>
            <a:r>
              <a:rPr lang="en-US" sz="1800" i="1" kern="100" dirty="0">
                <a:effectLst/>
                <a:latin typeface="Aptos" panose="020B0004020202020204" pitchFamily="34" charset="0"/>
                <a:ea typeface="Aptos" panose="020B0004020202020204" pitchFamily="34" charset="0"/>
                <a:cs typeface="Aptos" panose="020B0004020202020204" pitchFamily="34" charset="0"/>
              </a:rPr>
              <a:t>ortho</a:t>
            </a:r>
            <a:r>
              <a:rPr lang="en-US" sz="1800" kern="100" dirty="0">
                <a:effectLst/>
                <a:latin typeface="Aptos" panose="020B0004020202020204" pitchFamily="34" charset="0"/>
                <a:ea typeface="Aptos" panose="020B0004020202020204" pitchFamily="34" charset="0"/>
                <a:cs typeface="Aptos" panose="020B0004020202020204" pitchFamily="34" charset="0"/>
              </a:rPr>
              <a:t>-borylation of aromatic amides and other for the N-methyl borylation of aliphatic amides.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ptos" panose="020B0004020202020204" pitchFamily="34" charset="0"/>
              <a:ea typeface="Aptos" panose="020B0004020202020204" pitchFamily="34" charset="0"/>
              <a:cs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Aptos" panose="020B0004020202020204" pitchFamily="34" charset="0"/>
              </a:rPr>
              <a:t>Through experimental and computational mechanistic studies, we have identified the existence of unconventional dispersion non-covalent interactions between the substrate and the designed CF</a:t>
            </a:r>
            <a:r>
              <a:rPr lang="en-US" sz="1800" kern="100" baseline="-25000" dirty="0">
                <a:effectLst/>
                <a:latin typeface="Aptos" panose="020B0004020202020204" pitchFamily="34" charset="0"/>
                <a:ea typeface="Aptos" panose="020B0004020202020204" pitchFamily="34" charset="0"/>
                <a:cs typeface="Aptos" panose="020B0004020202020204" pitchFamily="34" charset="0"/>
              </a:rPr>
              <a:t>3</a:t>
            </a:r>
            <a:r>
              <a:rPr lang="en-US" sz="1800" kern="100" dirty="0">
                <a:effectLst/>
                <a:latin typeface="Aptos" panose="020B0004020202020204" pitchFamily="34" charset="0"/>
                <a:ea typeface="Aptos" panose="020B0004020202020204" pitchFamily="34" charset="0"/>
                <a:cs typeface="Aptos" panose="020B0004020202020204" pitchFamily="34" charset="0"/>
              </a:rPr>
              <a:t>-containing bipyridine ligands as the key factor responsible for the controlled reactivity and exceptional selectivity of these reactions.</a:t>
            </a:r>
          </a:p>
          <a:p>
            <a:endParaRPr lang="en-US" dirty="0"/>
          </a:p>
        </p:txBody>
      </p:sp>
      <p:sp>
        <p:nvSpPr>
          <p:cNvPr id="4" name="Marcador de número de diapositiva 3">
            <a:extLst>
              <a:ext uri="{FF2B5EF4-FFF2-40B4-BE49-F238E27FC236}">
                <a16:creationId xmlns:a16="http://schemas.microsoft.com/office/drawing/2014/main" id="{E8D26B60-1D39-34A7-1764-A18FD5FE11A8}"/>
              </a:ext>
            </a:extLst>
          </p:cNvPr>
          <p:cNvSpPr>
            <a:spLocks noGrp="1"/>
          </p:cNvSpPr>
          <p:nvPr>
            <p:ph type="sldNum" sz="quarter" idx="5"/>
          </p:nvPr>
        </p:nvSpPr>
        <p:spPr/>
        <p:txBody>
          <a:bodyPr/>
          <a:lstStyle/>
          <a:p>
            <a:fld id="{E445D19A-FA26-469A-BDB5-85895D056583}" type="slidenum">
              <a:rPr lang="es-ES" smtClean="0"/>
              <a:t>10</a:t>
            </a:fld>
            <a:endParaRPr lang="es-ES"/>
          </a:p>
        </p:txBody>
      </p:sp>
    </p:spTree>
    <p:extLst>
      <p:ext uri="{BB962C8B-B14F-4D97-AF65-F5344CB8AC3E}">
        <p14:creationId xmlns:p14="http://schemas.microsoft.com/office/powerpoint/2010/main" val="3411099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47714-406A-1BA8-BD57-9DD626FE86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E67523-4D65-5FF8-0286-5E8BDBEBE5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B91CE3-414A-740E-7BE3-1DB072BD5F4E}"/>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5" name="Footer Placeholder 4">
            <a:extLst>
              <a:ext uri="{FF2B5EF4-FFF2-40B4-BE49-F238E27FC236}">
                <a16:creationId xmlns:a16="http://schemas.microsoft.com/office/drawing/2014/main" id="{1E73A482-69A2-FCE8-BA6C-85C71F804C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357431-255C-66B0-7DED-81678FA4730C}"/>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3743175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C6690-B236-06B3-A607-2F64A30675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5DBD7D-2FF9-1ABD-EF1D-B2787D7E7E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B39C77-9801-B047-309C-DC0475849BDE}"/>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5" name="Footer Placeholder 4">
            <a:extLst>
              <a:ext uri="{FF2B5EF4-FFF2-40B4-BE49-F238E27FC236}">
                <a16:creationId xmlns:a16="http://schemas.microsoft.com/office/drawing/2014/main" id="{B28C37B4-5B41-8A82-1A82-C03F2DFC3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696F0F-74E2-2447-1F89-FB26A8B821BC}"/>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2364485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A53D8-1FD2-0CC4-4B3E-273B4E59B1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1137C5-1805-BCB2-141C-F3E2C6CB16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166F68-95E4-24FF-C3B4-8A0F199B5DAD}"/>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5" name="Footer Placeholder 4">
            <a:extLst>
              <a:ext uri="{FF2B5EF4-FFF2-40B4-BE49-F238E27FC236}">
                <a16:creationId xmlns:a16="http://schemas.microsoft.com/office/drawing/2014/main" id="{D9BB49E1-B355-F9DE-F718-4049831BA8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90C47E-7088-6401-9EE7-98B339A18747}"/>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192907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65552-08ED-AC25-23E0-C4B2AD9436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43ACF6-D6BA-C741-C751-11A9311509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9773C1-4112-3D05-9418-B353A0CCDD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3F260E-2134-670D-033B-3E49EF1B7056}"/>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6" name="Footer Placeholder 5">
            <a:extLst>
              <a:ext uri="{FF2B5EF4-FFF2-40B4-BE49-F238E27FC236}">
                <a16:creationId xmlns:a16="http://schemas.microsoft.com/office/drawing/2014/main" id="{AF0C2769-39B6-C5AE-84C8-5067538BCD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F6F397-F90D-023B-B153-4C4B6140C307}"/>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2976359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2BFAA-B9D2-3940-B797-388787C9CA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BC63E9-C8B8-FD61-1541-845CA2B2B1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92FACC-806B-12CD-AC21-2192E8BFDA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E1C168-0930-A981-F31B-C58179BD1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8DB15A-BE53-69C6-1093-BC4F5FFCB6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3D117D-E4E3-9D32-177B-BFCA20DC71E1}"/>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8" name="Footer Placeholder 7">
            <a:extLst>
              <a:ext uri="{FF2B5EF4-FFF2-40B4-BE49-F238E27FC236}">
                <a16:creationId xmlns:a16="http://schemas.microsoft.com/office/drawing/2014/main" id="{4BB5E064-8FEB-304B-FAB5-23A7AC34ED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2A3435-BEEA-B2FD-9FD1-73010B74F7DD}"/>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2159677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D9FB7-C6C0-A93A-B24F-0D208FD63B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6D2E3D-FA9B-82EC-E6EF-125E4CFC2DC2}"/>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4" name="Footer Placeholder 3">
            <a:extLst>
              <a:ext uri="{FF2B5EF4-FFF2-40B4-BE49-F238E27FC236}">
                <a16:creationId xmlns:a16="http://schemas.microsoft.com/office/drawing/2014/main" id="{9B494B15-0E58-3BC8-6810-211431B8E5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229E9A-2033-0527-1449-D76A251859A2}"/>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412333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317153-75AD-8F37-D560-695FB0268633}"/>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3" name="Footer Placeholder 2">
            <a:extLst>
              <a:ext uri="{FF2B5EF4-FFF2-40B4-BE49-F238E27FC236}">
                <a16:creationId xmlns:a16="http://schemas.microsoft.com/office/drawing/2014/main" id="{7F5947B4-7297-4AB6-B7D6-3122568115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32CFE6-2CB4-79BF-D91F-36CD867D20D4}"/>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177072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E29EC-679F-7A65-4180-6A9319A001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088D7D-1940-2EB1-B6ED-E5D9105A4A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3F2C51-2E40-8E06-A5A6-83C0B8BCB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296B3-4479-6121-3AC9-DC0C3946B4E3}"/>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6" name="Footer Placeholder 5">
            <a:extLst>
              <a:ext uri="{FF2B5EF4-FFF2-40B4-BE49-F238E27FC236}">
                <a16:creationId xmlns:a16="http://schemas.microsoft.com/office/drawing/2014/main" id="{A47C945E-1D1E-7897-9B09-7A2D5326B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98B416-3E5C-F4D4-3A69-345592968B5D}"/>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2398311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D25C6-9725-249D-F456-CD35CFE3B4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BC2A80-76B9-C788-79C6-C7DEAE11A5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E7E11F-AA88-AAE7-3168-330A0E1CCB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9BE09-81E8-25D4-593F-D39158CD5BAF}"/>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6" name="Footer Placeholder 5">
            <a:extLst>
              <a:ext uri="{FF2B5EF4-FFF2-40B4-BE49-F238E27FC236}">
                <a16:creationId xmlns:a16="http://schemas.microsoft.com/office/drawing/2014/main" id="{9AD26F19-5F1A-63DF-5546-F784013382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2CE984-DC55-69BE-345C-4AA2B1771AD6}"/>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2410546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F1780-F6C9-0539-A308-A48F459750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F553DB-0693-16EE-97CA-A97EBDCC78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8B855D-DD09-B9EA-2946-356D36788E32}"/>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5" name="Footer Placeholder 4">
            <a:extLst>
              <a:ext uri="{FF2B5EF4-FFF2-40B4-BE49-F238E27FC236}">
                <a16:creationId xmlns:a16="http://schemas.microsoft.com/office/drawing/2014/main" id="{D83F4845-FA4D-A79F-A237-3552922AD3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6C3F3-8581-F2D3-B8B5-590D2AF6599C}"/>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3448979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9CD610-0509-5F05-809B-01DEE48DCE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F46810-8324-4639-344D-F2896F81C6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C454F5-9FB3-A15B-4A27-4DEE85A0B502}"/>
              </a:ext>
            </a:extLst>
          </p:cNvPr>
          <p:cNvSpPr>
            <a:spLocks noGrp="1"/>
          </p:cNvSpPr>
          <p:nvPr>
            <p:ph type="dt" sz="half" idx="10"/>
          </p:nvPr>
        </p:nvSpPr>
        <p:spPr/>
        <p:txBody>
          <a:bodyPr/>
          <a:lstStyle/>
          <a:p>
            <a:fld id="{022C2084-AD87-5C47-9A18-A1CA9E0EEEF4}" type="datetimeFigureOut">
              <a:rPr lang="en-US" smtClean="0"/>
              <a:t>12/24/25</a:t>
            </a:fld>
            <a:endParaRPr lang="en-US"/>
          </a:p>
        </p:txBody>
      </p:sp>
      <p:sp>
        <p:nvSpPr>
          <p:cNvPr id="5" name="Footer Placeholder 4">
            <a:extLst>
              <a:ext uri="{FF2B5EF4-FFF2-40B4-BE49-F238E27FC236}">
                <a16:creationId xmlns:a16="http://schemas.microsoft.com/office/drawing/2014/main" id="{1CD9EC36-BF6F-674D-AB45-0A5DF66B5E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0085FA-DBA5-2497-3845-D6AE12B878A8}"/>
              </a:ext>
            </a:extLst>
          </p:cNvPr>
          <p:cNvSpPr>
            <a:spLocks noGrp="1"/>
          </p:cNvSpPr>
          <p:nvPr>
            <p:ph type="sldNum" sz="quarter" idx="12"/>
          </p:nvPr>
        </p:nvSpPr>
        <p:spPr/>
        <p:txBody>
          <a:bodyPr/>
          <a:lstStyle/>
          <a:p>
            <a:fld id="{27EA6020-A31D-0B44-A655-2592C1F93005}" type="slidenum">
              <a:rPr lang="en-US" smtClean="0"/>
              <a:t>‹#›</a:t>
            </a:fld>
            <a:endParaRPr lang="en-US"/>
          </a:p>
        </p:txBody>
      </p:sp>
    </p:spTree>
    <p:extLst>
      <p:ext uri="{BB962C8B-B14F-4D97-AF65-F5344CB8AC3E}">
        <p14:creationId xmlns:p14="http://schemas.microsoft.com/office/powerpoint/2010/main" val="126770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apositiva-5">
    <p:spTree>
      <p:nvGrpSpPr>
        <p:cNvPr id="1" name=""/>
        <p:cNvGrpSpPr/>
        <p:nvPr/>
      </p:nvGrpSpPr>
      <p:grpSpPr>
        <a:xfrm>
          <a:off x="0" y="0"/>
          <a:ext cx="0" cy="0"/>
          <a:chOff x="0" y="0"/>
          <a:chExt cx="0" cy="0"/>
        </a:xfrm>
      </p:grpSpPr>
      <p:sp>
        <p:nvSpPr>
          <p:cNvPr id="2" name="Title 1"/>
          <p:cNvSpPr>
            <a:spLocks noGrp="1"/>
          </p:cNvSpPr>
          <p:nvPr>
            <p:ph type="title"/>
          </p:nvPr>
        </p:nvSpPr>
        <p:spPr>
          <a:xfrm>
            <a:off x="2889908" y="134272"/>
            <a:ext cx="6412184" cy="375552"/>
          </a:xfrm>
          <a:prstGeom prst="rect">
            <a:avLst/>
          </a:prstGeom>
          <a:noFill/>
        </p:spPr>
        <p:txBody>
          <a:bodyPr wrap="square" rtlCol="0">
            <a:spAutoFit/>
          </a:bodyPr>
          <a:lstStyle>
            <a:lvl1pPr algn="ctr">
              <a:defRPr lang="en-US" sz="2000" b="1" dirty="0">
                <a:solidFill>
                  <a:schemeClr val="bg2"/>
                </a:solidFill>
                <a:latin typeface="Avenir Book" panose="02000503020000020003" pitchFamily="2" charset="0"/>
                <a:ea typeface="+mn-ea"/>
                <a:cs typeface="Arial" panose="020B0604020202020204" pitchFamily="34" charset="0"/>
              </a:defRPr>
            </a:lvl1pPr>
          </a:lstStyle>
          <a:p>
            <a:pPr marL="0" lvl="0" defTabSz="457200"/>
            <a:r>
              <a:rPr lang="en-US"/>
              <a:t>Click to edit Master title style</a:t>
            </a:r>
            <a:endParaRPr lang="en-US" dirty="0"/>
          </a:p>
        </p:txBody>
      </p:sp>
      <p:sp>
        <p:nvSpPr>
          <p:cNvPr id="4" name="Marcador de número de diapositiva 7">
            <a:extLst>
              <a:ext uri="{FF2B5EF4-FFF2-40B4-BE49-F238E27FC236}">
                <a16:creationId xmlns:a16="http://schemas.microsoft.com/office/drawing/2014/main" id="{40991876-DF20-F3A7-8507-9E242412904D}"/>
              </a:ext>
            </a:extLst>
          </p:cNvPr>
          <p:cNvSpPr>
            <a:spLocks noGrp="1"/>
          </p:cNvSpPr>
          <p:nvPr>
            <p:ph type="sldNum" sz="quarter" idx="12"/>
          </p:nvPr>
        </p:nvSpPr>
        <p:spPr>
          <a:xfrm>
            <a:off x="9448800" y="6492875"/>
            <a:ext cx="2743200" cy="365125"/>
          </a:xfrm>
        </p:spPr>
        <p:txBody>
          <a:bodyPr/>
          <a:lstStyle>
            <a:lvl1pPr>
              <a:defRPr sz="1200">
                <a:latin typeface="Avenir Book" panose="02000503020000020003" pitchFamily="2" charset="0"/>
              </a:defRPr>
            </a:lvl1pPr>
          </a:lstStyle>
          <a:p>
            <a:fld id="{F239F8D8-5C05-A645-B085-4DA653486E73}" type="slidenum">
              <a:rPr lang="en-US" smtClean="0"/>
              <a:pPr/>
              <a:t>‹#›</a:t>
            </a:fld>
            <a:endParaRPr lang="en-US"/>
          </a:p>
        </p:txBody>
      </p:sp>
    </p:spTree>
    <p:extLst>
      <p:ext uri="{BB962C8B-B14F-4D97-AF65-F5344CB8AC3E}">
        <p14:creationId xmlns:p14="http://schemas.microsoft.com/office/powerpoint/2010/main" val="3853555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64CCA9-C33C-B43D-BFC9-6F3AC42006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E8B592-D1BC-D486-CC86-B742DE32F8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486B16-DB51-6CD2-EF29-76BF8F4FB3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2C2084-AD87-5C47-9A18-A1CA9E0EEEF4}" type="datetimeFigureOut">
              <a:rPr lang="en-US" smtClean="0"/>
              <a:t>12/24/25</a:t>
            </a:fld>
            <a:endParaRPr lang="en-US"/>
          </a:p>
        </p:txBody>
      </p:sp>
      <p:sp>
        <p:nvSpPr>
          <p:cNvPr id="5" name="Footer Placeholder 4">
            <a:extLst>
              <a:ext uri="{FF2B5EF4-FFF2-40B4-BE49-F238E27FC236}">
                <a16:creationId xmlns:a16="http://schemas.microsoft.com/office/drawing/2014/main" id="{42486E1A-20BD-FD63-4A94-2923F43BC6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62ACC0-FA69-1C50-36EB-23B0E7192B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EA6020-A31D-0B44-A655-2592C1F93005}" type="slidenum">
              <a:rPr lang="en-US" smtClean="0"/>
              <a:t>‹#›</a:t>
            </a:fld>
            <a:endParaRPr lang="en-US"/>
          </a:p>
        </p:txBody>
      </p:sp>
    </p:spTree>
    <p:extLst>
      <p:ext uri="{BB962C8B-B14F-4D97-AF65-F5344CB8AC3E}">
        <p14:creationId xmlns:p14="http://schemas.microsoft.com/office/powerpoint/2010/main" val="23769403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0.png"/><Relationship Id="rId18" Type="http://schemas.openxmlformats.org/officeDocument/2006/relationships/image" Target="../media/image13.emf"/><Relationship Id="rId3" Type="http://schemas.openxmlformats.org/officeDocument/2006/relationships/image" Target="../media/image2.emf"/><Relationship Id="rId7" Type="http://schemas.openxmlformats.org/officeDocument/2006/relationships/image" Target="../media/image5.png"/><Relationship Id="rId12" Type="http://schemas.openxmlformats.org/officeDocument/2006/relationships/image" Target="../media/image9.emf"/><Relationship Id="rId17" Type="http://schemas.microsoft.com/office/2007/relationships/hdphoto" Target="../media/hdphoto4.wdp"/><Relationship Id="rId2" Type="http://schemas.openxmlformats.org/officeDocument/2006/relationships/image" Target="../media/image1.png"/><Relationship Id="rId16"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4.emf"/><Relationship Id="rId11" Type="http://schemas.openxmlformats.org/officeDocument/2006/relationships/image" Target="../media/image8.svg"/><Relationship Id="rId5" Type="http://schemas.microsoft.com/office/2007/relationships/hdphoto" Target="../media/hdphoto1.wdp"/><Relationship Id="rId15" Type="http://schemas.openxmlformats.org/officeDocument/2006/relationships/image" Target="../media/image11.emf"/><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emf"/><Relationship Id="rId14" Type="http://schemas.microsoft.com/office/2007/relationships/hdphoto" Target="../media/hdphoto3.wdp"/></Relationships>
</file>

<file path=ppt/slides/_rels/slide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5.emf"/></Relationships>
</file>

<file path=ppt/slides/_rels/slide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6.emf"/><Relationship Id="rId5" Type="http://schemas.openxmlformats.org/officeDocument/2006/relationships/image" Target="../media/image18.emf"/><Relationship Id="rId4" Type="http://schemas.microsoft.com/office/2007/relationships/hdphoto" Target="../media/hdphoto5.wdp"/></Relationships>
</file>

<file path=ppt/slides/_rels/slide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image" Target="../media/image26.emf"/><Relationship Id="rId7" Type="http://schemas.openxmlformats.org/officeDocument/2006/relationships/image" Target="../media/image30.emf"/><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slides/_rels/slide10.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image" Target="../media/image32.emf"/><Relationship Id="rId7" Type="http://schemas.openxmlformats.org/officeDocument/2006/relationships/image" Target="../media/image36.emf"/><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5.emf"/><Relationship Id="rId5" Type="http://schemas.openxmlformats.org/officeDocument/2006/relationships/image" Target="../media/image34.emf"/><Relationship Id="rId4" Type="http://schemas.openxmlformats.org/officeDocument/2006/relationships/image" Target="../media/image3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37559345-065B-DACA-82E9-1B6BA14DF960}"/>
              </a:ext>
            </a:extLst>
          </p:cNvPr>
          <p:cNvSpPr/>
          <p:nvPr/>
        </p:nvSpPr>
        <p:spPr>
          <a:xfrm>
            <a:off x="5302615" y="2507358"/>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solidFill>
            <a:schemeClr val="bg1"/>
          </a:solidFill>
          <a:ln w="63500">
            <a:solidFill>
              <a:schemeClr val="bg2">
                <a:lumMod val="20000"/>
                <a:lumOff val="8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7163" tIns="284097" rIns="247164" bIns="284096" numCol="1" spcCol="1270" anchor="ctr" anchorCtr="0">
            <a:noAutofit/>
          </a:bodyPr>
          <a:lstStyle/>
          <a:p>
            <a:pPr marL="0" lvl="0" indent="0" algn="ctr" defTabSz="1600200">
              <a:lnSpc>
                <a:spcPct val="90000"/>
              </a:lnSpc>
              <a:spcBef>
                <a:spcPct val="0"/>
              </a:spcBef>
              <a:spcAft>
                <a:spcPct val="35000"/>
              </a:spcAft>
              <a:buNone/>
            </a:pPr>
            <a:endParaRPr lang="en-US" sz="3600" kern="1200" noProof="0" dirty="0"/>
          </a:p>
        </p:txBody>
      </p:sp>
      <p:sp>
        <p:nvSpPr>
          <p:cNvPr id="5" name="Título 1">
            <a:extLst>
              <a:ext uri="{FF2B5EF4-FFF2-40B4-BE49-F238E27FC236}">
                <a16:creationId xmlns:a16="http://schemas.microsoft.com/office/drawing/2014/main" id="{DB807599-BEFD-39F8-4316-4411F3D5958C}"/>
              </a:ext>
            </a:extLst>
          </p:cNvPr>
          <p:cNvSpPr txBox="1">
            <a:spLocks/>
          </p:cNvSpPr>
          <p:nvPr/>
        </p:nvSpPr>
        <p:spPr>
          <a:xfrm>
            <a:off x="5385845" y="3105836"/>
            <a:ext cx="1420310" cy="646331"/>
          </a:xfrm>
          <a:prstGeom prst="rect">
            <a:avLst/>
          </a:prstGeom>
        </p:spPr>
        <p:txBody>
          <a:bodyPr vert="horz" lIns="91440" tIns="45720" rIns="91440" bIns="45720" rtlCol="0" anchor="b">
            <a:normAutofit fontScale="3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atin typeface="+mn-lt"/>
              </a:rPr>
              <a:t>Organic</a:t>
            </a:r>
            <a:br>
              <a:rPr lang="en-US">
                <a:latin typeface="+mn-lt"/>
              </a:rPr>
            </a:br>
            <a:r>
              <a:rPr lang="en-US">
                <a:latin typeface="+mn-lt"/>
              </a:rPr>
              <a:t>chemistry</a:t>
            </a:r>
            <a:endParaRPr lang="en-US" sz="1100" dirty="0">
              <a:latin typeface="+mn-lt"/>
            </a:endParaRPr>
          </a:p>
        </p:txBody>
      </p:sp>
      <p:grpSp>
        <p:nvGrpSpPr>
          <p:cNvPr id="6" name="Group 5">
            <a:extLst>
              <a:ext uri="{FF2B5EF4-FFF2-40B4-BE49-F238E27FC236}">
                <a16:creationId xmlns:a16="http://schemas.microsoft.com/office/drawing/2014/main" id="{E1B8A259-5E01-8B93-51BD-527DAC6DE3B8}"/>
              </a:ext>
            </a:extLst>
          </p:cNvPr>
          <p:cNvGrpSpPr/>
          <p:nvPr/>
        </p:nvGrpSpPr>
        <p:grpSpPr>
          <a:xfrm>
            <a:off x="83128" y="942781"/>
            <a:ext cx="4207782" cy="3407860"/>
            <a:chOff x="83128" y="942781"/>
            <a:chExt cx="4207782" cy="3407860"/>
          </a:xfrm>
        </p:grpSpPr>
        <p:grpSp>
          <p:nvGrpSpPr>
            <p:cNvPr id="7" name="Group 6">
              <a:extLst>
                <a:ext uri="{FF2B5EF4-FFF2-40B4-BE49-F238E27FC236}">
                  <a16:creationId xmlns:a16="http://schemas.microsoft.com/office/drawing/2014/main" id="{787E967C-C227-A2CB-7CA8-69F0DBB607C0}"/>
                </a:ext>
              </a:extLst>
            </p:cNvPr>
            <p:cNvGrpSpPr/>
            <p:nvPr/>
          </p:nvGrpSpPr>
          <p:grpSpPr>
            <a:xfrm>
              <a:off x="83128" y="942781"/>
              <a:ext cx="4207782" cy="3407860"/>
              <a:chOff x="83128" y="942781"/>
              <a:chExt cx="4207782" cy="3407860"/>
            </a:xfrm>
            <a:solidFill>
              <a:schemeClr val="accent1">
                <a:lumMod val="20000"/>
                <a:lumOff val="80000"/>
              </a:schemeClr>
            </a:solidFill>
          </p:grpSpPr>
          <p:sp>
            <p:nvSpPr>
              <p:cNvPr id="10" name="Freeform 9">
                <a:extLst>
                  <a:ext uri="{FF2B5EF4-FFF2-40B4-BE49-F238E27FC236}">
                    <a16:creationId xmlns:a16="http://schemas.microsoft.com/office/drawing/2014/main" id="{30211784-8C24-5DF0-C506-F282D125FBD9}"/>
                  </a:ext>
                </a:extLst>
              </p:cNvPr>
              <p:cNvSpPr/>
              <p:nvPr/>
            </p:nvSpPr>
            <p:spPr>
              <a:xfrm>
                <a:off x="2687253" y="942781"/>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blipFill>
                <a:blip r:embed="rId2"/>
                <a:stretch>
                  <a:fillRect/>
                </a:stretch>
              </a:bli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3843" tIns="390777" rIns="353844" bIns="390776" numCol="1" spcCol="1270" anchor="ctr" anchorCtr="0">
                <a:noAutofit/>
              </a:bodyPr>
              <a:lstStyle/>
              <a:p>
                <a:pPr marL="0" lvl="0" indent="0" algn="ctr" defTabSz="1244600">
                  <a:lnSpc>
                    <a:spcPct val="90000"/>
                  </a:lnSpc>
                  <a:spcBef>
                    <a:spcPct val="0"/>
                  </a:spcBef>
                  <a:spcAft>
                    <a:spcPct val="35000"/>
                  </a:spcAft>
                  <a:buNone/>
                </a:pPr>
                <a:endParaRPr lang="en-US" sz="2800" kern="1200" noProof="0" dirty="0"/>
              </a:p>
            </p:txBody>
          </p:sp>
          <p:sp>
            <p:nvSpPr>
              <p:cNvPr id="11" name="Freeform 10">
                <a:extLst>
                  <a:ext uri="{FF2B5EF4-FFF2-40B4-BE49-F238E27FC236}">
                    <a16:creationId xmlns:a16="http://schemas.microsoft.com/office/drawing/2014/main" id="{4D72E920-478A-3B8E-4B6F-D5CDA19B4B81}"/>
                  </a:ext>
                </a:extLst>
              </p:cNvPr>
              <p:cNvSpPr/>
              <p:nvPr/>
            </p:nvSpPr>
            <p:spPr>
              <a:xfrm>
                <a:off x="935761" y="942781"/>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solidFill>
                <a:schemeClr val="accent6"/>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390777" rIns="0" bIns="390776" numCol="1" spcCol="1270" anchor="ctr" anchorCtr="0">
                <a:noAutofit/>
              </a:bodyPr>
              <a:lstStyle/>
              <a:p>
                <a:pPr marL="0" lvl="0" indent="0" algn="ctr" defTabSz="1600200">
                  <a:lnSpc>
                    <a:spcPct val="90000"/>
                  </a:lnSpc>
                  <a:spcBef>
                    <a:spcPct val="0"/>
                  </a:spcBef>
                  <a:spcAft>
                    <a:spcPct val="35000"/>
                  </a:spcAft>
                  <a:buNone/>
                </a:pPr>
                <a:r>
                  <a:rPr lang="en-US" sz="1600" kern="1200" noProof="0" dirty="0">
                    <a:solidFill>
                      <a:schemeClr val="tx1"/>
                    </a:solidFill>
                  </a:rPr>
                  <a:t>Organic dyes</a:t>
                </a:r>
              </a:p>
            </p:txBody>
          </p:sp>
          <p:sp>
            <p:nvSpPr>
              <p:cNvPr id="12" name="Freeform 11">
                <a:extLst>
                  <a:ext uri="{FF2B5EF4-FFF2-40B4-BE49-F238E27FC236}">
                    <a16:creationId xmlns:a16="http://schemas.microsoft.com/office/drawing/2014/main" id="{F4EBC8BD-68AF-0D33-1896-75F6A51D4CCC}"/>
                  </a:ext>
                </a:extLst>
              </p:cNvPr>
              <p:cNvSpPr/>
              <p:nvPr/>
            </p:nvSpPr>
            <p:spPr>
              <a:xfrm>
                <a:off x="83128" y="2507358"/>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noFill/>
              <a:ln w="63500">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7163" tIns="284097" rIns="247164" bIns="284096" numCol="1" spcCol="1270" anchor="ctr" anchorCtr="0">
                <a:noAutofit/>
              </a:bodyPr>
              <a:lstStyle/>
              <a:p>
                <a:pPr marL="0" lvl="0" indent="0" algn="ctr" defTabSz="1600200">
                  <a:lnSpc>
                    <a:spcPct val="90000"/>
                  </a:lnSpc>
                  <a:spcBef>
                    <a:spcPct val="0"/>
                  </a:spcBef>
                  <a:spcAft>
                    <a:spcPct val="35000"/>
                  </a:spcAft>
                  <a:buNone/>
                </a:pPr>
                <a:endParaRPr lang="en-US" sz="3600" kern="1200" noProof="0" dirty="0"/>
              </a:p>
            </p:txBody>
          </p:sp>
        </p:grpSp>
        <p:pic>
          <p:nvPicPr>
            <p:cNvPr id="8" name="Picture 7">
              <a:extLst>
                <a:ext uri="{FF2B5EF4-FFF2-40B4-BE49-F238E27FC236}">
                  <a16:creationId xmlns:a16="http://schemas.microsoft.com/office/drawing/2014/main" id="{DB0FAE10-3F6D-47B9-3BC0-3C34346975EB}"/>
                </a:ext>
              </a:extLst>
            </p:cNvPr>
            <p:cNvPicPr>
              <a:picLocks noChangeAspect="1"/>
            </p:cNvPicPr>
            <p:nvPr/>
          </p:nvPicPr>
          <p:blipFill>
            <a:blip r:embed="rId3"/>
            <a:stretch>
              <a:fillRect/>
            </a:stretch>
          </p:blipFill>
          <p:spPr>
            <a:xfrm>
              <a:off x="161056" y="2999854"/>
              <a:ext cx="1447800" cy="800100"/>
            </a:xfrm>
            <a:prstGeom prst="rect">
              <a:avLst/>
            </a:prstGeom>
          </p:spPr>
        </p:pic>
        <p:sp>
          <p:nvSpPr>
            <p:cNvPr id="9" name="Título 1">
              <a:extLst>
                <a:ext uri="{FF2B5EF4-FFF2-40B4-BE49-F238E27FC236}">
                  <a16:creationId xmlns:a16="http://schemas.microsoft.com/office/drawing/2014/main" id="{5660E84C-BF3B-1080-88BA-8C64596BFAE1}"/>
                </a:ext>
              </a:extLst>
            </p:cNvPr>
            <p:cNvSpPr txBox="1">
              <a:spLocks/>
            </p:cNvSpPr>
            <p:nvPr/>
          </p:nvSpPr>
          <p:spPr>
            <a:xfrm>
              <a:off x="442861" y="3752167"/>
              <a:ext cx="862655" cy="286232"/>
            </a:xfrm>
            <a:prstGeom prst="rect">
              <a:avLst/>
            </a:prstGeom>
            <a:noFill/>
          </p:spPr>
          <p:txBody>
            <a:bodyPr vert="horz" wrap="square" lIns="91440" tIns="45720" rIns="91440" bIns="45720" rtlCol="0" anchor="ctr">
              <a:spAutoFit/>
            </a:bodyPr>
            <a:lstStyle>
              <a:lvl1pPr algn="ctr" defTabSz="914400" rtl="0" eaLnBrk="1" latinLnBrk="0" hangingPunct="1">
                <a:lnSpc>
                  <a:spcPct val="90000"/>
                </a:lnSpc>
                <a:spcBef>
                  <a:spcPct val="0"/>
                </a:spcBef>
                <a:buNone/>
                <a:defRPr lang="en-US" sz="2000" b="1" kern="1200" dirty="0">
                  <a:solidFill>
                    <a:schemeClr val="bg2"/>
                  </a:solidFill>
                  <a:latin typeface="Avenir Book" panose="02000503020000020003" pitchFamily="2" charset="0"/>
                  <a:ea typeface="+mn-ea"/>
                  <a:cs typeface="Arial" panose="020B0604020202020204" pitchFamily="34" charset="0"/>
                </a:defRPr>
              </a:lvl1pPr>
            </a:lstStyle>
            <a:p>
              <a:r>
                <a:rPr lang="en-US" sz="1400" b="0" i="1" dirty="0">
                  <a:solidFill>
                    <a:schemeClr val="accent1"/>
                  </a:solidFill>
                  <a:latin typeface="+mn-lt"/>
                </a:rPr>
                <a:t>indigo</a:t>
              </a:r>
              <a:endParaRPr lang="en-US" sz="900" b="0" i="1" dirty="0">
                <a:solidFill>
                  <a:schemeClr val="accent1"/>
                </a:solidFill>
                <a:latin typeface="+mn-lt"/>
              </a:endParaRPr>
            </a:p>
          </p:txBody>
        </p:sp>
      </p:grpSp>
      <p:grpSp>
        <p:nvGrpSpPr>
          <p:cNvPr id="13" name="Group 12">
            <a:extLst>
              <a:ext uri="{FF2B5EF4-FFF2-40B4-BE49-F238E27FC236}">
                <a16:creationId xmlns:a16="http://schemas.microsoft.com/office/drawing/2014/main" id="{FBF27813-3878-AE23-5108-FC2FF23FE363}"/>
              </a:ext>
            </a:extLst>
          </p:cNvPr>
          <p:cNvGrpSpPr/>
          <p:nvPr/>
        </p:nvGrpSpPr>
        <p:grpSpPr>
          <a:xfrm>
            <a:off x="7897219" y="2507358"/>
            <a:ext cx="4211654" cy="3407862"/>
            <a:chOff x="7897219" y="2507358"/>
            <a:chExt cx="4211654" cy="3407862"/>
          </a:xfrm>
        </p:grpSpPr>
        <p:grpSp>
          <p:nvGrpSpPr>
            <p:cNvPr id="14" name="Group 13">
              <a:extLst>
                <a:ext uri="{FF2B5EF4-FFF2-40B4-BE49-F238E27FC236}">
                  <a16:creationId xmlns:a16="http://schemas.microsoft.com/office/drawing/2014/main" id="{7F32C9AF-87BD-36B0-A864-E63734FB3ED7}"/>
                </a:ext>
              </a:extLst>
            </p:cNvPr>
            <p:cNvGrpSpPr/>
            <p:nvPr/>
          </p:nvGrpSpPr>
          <p:grpSpPr>
            <a:xfrm>
              <a:off x="7897219" y="2507358"/>
              <a:ext cx="4211654" cy="3407862"/>
              <a:chOff x="7897219" y="2507358"/>
              <a:chExt cx="4211654" cy="3407862"/>
            </a:xfrm>
            <a:solidFill>
              <a:schemeClr val="accent1">
                <a:lumMod val="20000"/>
                <a:lumOff val="80000"/>
              </a:schemeClr>
            </a:solidFill>
          </p:grpSpPr>
          <p:sp>
            <p:nvSpPr>
              <p:cNvPr id="17" name="Freeform 16">
                <a:extLst>
                  <a:ext uri="{FF2B5EF4-FFF2-40B4-BE49-F238E27FC236}">
                    <a16:creationId xmlns:a16="http://schemas.microsoft.com/office/drawing/2014/main" id="{452E8F4A-E586-371C-5D8C-7C6DEBE12183}"/>
                  </a:ext>
                </a:extLst>
              </p:cNvPr>
              <p:cNvSpPr/>
              <p:nvPr/>
            </p:nvSpPr>
            <p:spPr>
              <a:xfrm>
                <a:off x="10505216" y="2507358"/>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noFill/>
              <a:ln w="63500">
                <a:solidFill>
                  <a:schemeClr val="accent5">
                    <a:lumMod val="20000"/>
                    <a:lumOff val="8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390777" rIns="0" bIns="390776" numCol="1" spcCol="1270" anchor="ctr" anchorCtr="0">
                <a:noAutofit/>
              </a:bodyPr>
              <a:lstStyle/>
              <a:p>
                <a:pPr marL="0" lvl="0" indent="0" algn="ctr" defTabSz="1244600">
                  <a:lnSpc>
                    <a:spcPct val="90000"/>
                  </a:lnSpc>
                  <a:spcBef>
                    <a:spcPct val="0"/>
                  </a:spcBef>
                  <a:spcAft>
                    <a:spcPct val="35000"/>
                  </a:spcAft>
                  <a:buNone/>
                </a:pPr>
                <a:endParaRPr lang="en-US" sz="1600" i="1" kern="1200" noProof="0" dirty="0">
                  <a:solidFill>
                    <a:schemeClr val="tx2"/>
                  </a:solidFill>
                </a:endParaRPr>
              </a:p>
            </p:txBody>
          </p:sp>
          <p:sp>
            <p:nvSpPr>
              <p:cNvPr id="18" name="Freeform 17">
                <a:extLst>
                  <a:ext uri="{FF2B5EF4-FFF2-40B4-BE49-F238E27FC236}">
                    <a16:creationId xmlns:a16="http://schemas.microsoft.com/office/drawing/2014/main" id="{E2F7A277-EC33-4B8D-102E-33278B712205}"/>
                  </a:ext>
                </a:extLst>
              </p:cNvPr>
              <p:cNvSpPr/>
              <p:nvPr/>
            </p:nvSpPr>
            <p:spPr>
              <a:xfrm>
                <a:off x="7897219" y="4071937"/>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a:bli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284097" rIns="0" bIns="284096" numCol="1" spcCol="1270" anchor="ctr" anchorCtr="0">
                <a:noAutofit/>
              </a:bodyPr>
              <a:lstStyle/>
              <a:p>
                <a:pPr marL="0" lvl="0" indent="0" algn="ctr" defTabSz="1600200">
                  <a:lnSpc>
                    <a:spcPct val="90000"/>
                  </a:lnSpc>
                  <a:spcBef>
                    <a:spcPct val="0"/>
                  </a:spcBef>
                  <a:spcAft>
                    <a:spcPct val="35000"/>
                  </a:spcAft>
                  <a:buNone/>
                </a:pPr>
                <a:endParaRPr lang="en-US" sz="1600" kern="1200" noProof="0" dirty="0">
                  <a:solidFill>
                    <a:schemeClr val="tx1"/>
                  </a:solidFill>
                </a:endParaRPr>
              </a:p>
            </p:txBody>
          </p:sp>
          <p:sp>
            <p:nvSpPr>
              <p:cNvPr id="19" name="Freeform 18">
                <a:extLst>
                  <a:ext uri="{FF2B5EF4-FFF2-40B4-BE49-F238E27FC236}">
                    <a16:creationId xmlns:a16="http://schemas.microsoft.com/office/drawing/2014/main" id="{CBE7D323-A0DA-AA24-0CA7-59D7A9BA376B}"/>
                  </a:ext>
                </a:extLst>
              </p:cNvPr>
              <p:cNvSpPr/>
              <p:nvPr/>
            </p:nvSpPr>
            <p:spPr>
              <a:xfrm>
                <a:off x="9635926" y="4071937"/>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solidFill>
                <a:schemeClr val="accent5">
                  <a:lumMod val="20000"/>
                  <a:lumOff val="8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451737" rIns="0" bIns="451736" numCol="1" spcCol="1270" anchor="ctr" anchorCtr="0">
                <a:noAutofit/>
              </a:bodyPr>
              <a:lstStyle/>
              <a:p>
                <a:pPr marL="0" lvl="0" indent="0" algn="ctr" defTabSz="1955800">
                  <a:lnSpc>
                    <a:spcPct val="90000"/>
                  </a:lnSpc>
                  <a:spcBef>
                    <a:spcPct val="0"/>
                  </a:spcBef>
                  <a:spcAft>
                    <a:spcPct val="35000"/>
                  </a:spcAft>
                  <a:buNone/>
                </a:pPr>
                <a:r>
                  <a:rPr lang="en-US" sz="1600" kern="1200" noProof="0" dirty="0">
                    <a:solidFill>
                      <a:schemeClr val="tx1"/>
                    </a:solidFill>
                  </a:rPr>
                  <a:t>Cosmetics</a:t>
                </a:r>
              </a:p>
            </p:txBody>
          </p:sp>
        </p:grpSp>
        <p:pic>
          <p:nvPicPr>
            <p:cNvPr id="15" name="Picture 14">
              <a:extLst>
                <a:ext uri="{FF2B5EF4-FFF2-40B4-BE49-F238E27FC236}">
                  <a16:creationId xmlns:a16="http://schemas.microsoft.com/office/drawing/2014/main" id="{8969836F-BE5B-6921-17C2-830E6C28570F}"/>
                </a:ext>
              </a:extLst>
            </p:cNvPr>
            <p:cNvPicPr>
              <a:picLocks noChangeAspect="1"/>
            </p:cNvPicPr>
            <p:nvPr/>
          </p:nvPicPr>
          <p:blipFill>
            <a:blip r:embed="rId6"/>
            <a:stretch>
              <a:fillRect/>
            </a:stretch>
          </p:blipFill>
          <p:spPr>
            <a:xfrm>
              <a:off x="10544232" y="3122295"/>
              <a:ext cx="1564640" cy="613410"/>
            </a:xfrm>
            <a:prstGeom prst="rect">
              <a:avLst/>
            </a:prstGeom>
          </p:spPr>
        </p:pic>
        <p:sp>
          <p:nvSpPr>
            <p:cNvPr id="16" name="Título 1">
              <a:extLst>
                <a:ext uri="{FF2B5EF4-FFF2-40B4-BE49-F238E27FC236}">
                  <a16:creationId xmlns:a16="http://schemas.microsoft.com/office/drawing/2014/main" id="{79ADB92E-F0C8-A84D-6ED8-7E0E1651AF84}"/>
                </a:ext>
              </a:extLst>
            </p:cNvPr>
            <p:cNvSpPr txBox="1">
              <a:spLocks/>
            </p:cNvSpPr>
            <p:nvPr/>
          </p:nvSpPr>
          <p:spPr>
            <a:xfrm>
              <a:off x="10767786" y="3713944"/>
              <a:ext cx="1078515" cy="480131"/>
            </a:xfrm>
            <a:prstGeom prst="rect">
              <a:avLst/>
            </a:prstGeom>
            <a:noFill/>
          </p:spPr>
          <p:txBody>
            <a:bodyPr vert="horz" wrap="square" lIns="91440" tIns="45720" rIns="91440" bIns="45720" rtlCol="0" anchor="ctr">
              <a:spAutoFit/>
            </a:bodyPr>
            <a:lstStyle>
              <a:lvl1pPr algn="ctr" defTabSz="914400" rtl="0" eaLnBrk="1" latinLnBrk="0" hangingPunct="1">
                <a:lnSpc>
                  <a:spcPct val="90000"/>
                </a:lnSpc>
                <a:spcBef>
                  <a:spcPct val="0"/>
                </a:spcBef>
                <a:buNone/>
                <a:defRPr lang="en-US" sz="2000" b="1" kern="1200" dirty="0">
                  <a:solidFill>
                    <a:schemeClr val="bg2"/>
                  </a:solidFill>
                  <a:latin typeface="Avenir Book" panose="02000503020000020003" pitchFamily="2" charset="0"/>
                  <a:ea typeface="+mn-ea"/>
                  <a:cs typeface="Arial" panose="020B0604020202020204" pitchFamily="34" charset="0"/>
                </a:defRPr>
              </a:lvl1pPr>
            </a:lstStyle>
            <a:p>
              <a:r>
                <a:rPr lang="en-US" sz="1400" b="0" i="1" dirty="0">
                  <a:solidFill>
                    <a:schemeClr val="accent1"/>
                  </a:solidFill>
                  <a:latin typeface="+mn-lt"/>
                </a:rPr>
                <a:t>hyaluronic acid</a:t>
              </a:r>
              <a:endParaRPr lang="en-US" sz="900" b="0" i="1" dirty="0">
                <a:solidFill>
                  <a:schemeClr val="accent1"/>
                </a:solidFill>
                <a:latin typeface="+mn-lt"/>
              </a:endParaRPr>
            </a:p>
          </p:txBody>
        </p:sp>
      </p:grpSp>
      <p:grpSp>
        <p:nvGrpSpPr>
          <p:cNvPr id="20" name="Group 19">
            <a:extLst>
              <a:ext uri="{FF2B5EF4-FFF2-40B4-BE49-F238E27FC236}">
                <a16:creationId xmlns:a16="http://schemas.microsoft.com/office/drawing/2014/main" id="{F89854CA-0EC4-1B9A-0A89-CDF42FAEFDD8}"/>
              </a:ext>
            </a:extLst>
          </p:cNvPr>
          <p:cNvGrpSpPr/>
          <p:nvPr/>
        </p:nvGrpSpPr>
        <p:grpSpPr>
          <a:xfrm>
            <a:off x="7897219" y="942781"/>
            <a:ext cx="3342367" cy="3407860"/>
            <a:chOff x="7897219" y="942781"/>
            <a:chExt cx="3342367" cy="3407860"/>
          </a:xfrm>
        </p:grpSpPr>
        <p:grpSp>
          <p:nvGrpSpPr>
            <p:cNvPr id="21" name="Group 20">
              <a:extLst>
                <a:ext uri="{FF2B5EF4-FFF2-40B4-BE49-F238E27FC236}">
                  <a16:creationId xmlns:a16="http://schemas.microsoft.com/office/drawing/2014/main" id="{6B801519-FC72-B9DB-1EEE-5D2ED578E5AE}"/>
                </a:ext>
              </a:extLst>
            </p:cNvPr>
            <p:cNvGrpSpPr/>
            <p:nvPr/>
          </p:nvGrpSpPr>
          <p:grpSpPr>
            <a:xfrm>
              <a:off x="7897219" y="942781"/>
              <a:ext cx="3342367" cy="3407860"/>
              <a:chOff x="7897219" y="942781"/>
              <a:chExt cx="3342367" cy="3407860"/>
            </a:xfrm>
            <a:solidFill>
              <a:schemeClr val="accent1">
                <a:lumMod val="20000"/>
                <a:lumOff val="80000"/>
              </a:schemeClr>
            </a:solidFill>
          </p:grpSpPr>
          <p:sp>
            <p:nvSpPr>
              <p:cNvPr id="24" name="Freeform 23">
                <a:extLst>
                  <a:ext uri="{FF2B5EF4-FFF2-40B4-BE49-F238E27FC236}">
                    <a16:creationId xmlns:a16="http://schemas.microsoft.com/office/drawing/2014/main" id="{D78556D1-748D-DD85-82F4-83FB237D9E5B}"/>
                  </a:ext>
                </a:extLst>
              </p:cNvPr>
              <p:cNvSpPr/>
              <p:nvPr/>
            </p:nvSpPr>
            <p:spPr>
              <a:xfrm>
                <a:off x="7897219" y="942781"/>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noFill/>
              <a:ln w="63500">
                <a:solidFill>
                  <a:schemeClr val="accent2">
                    <a:lumMod val="20000"/>
                    <a:lumOff val="8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284097" rIns="0" bIns="284096" numCol="1" spcCol="1270" anchor="ctr" anchorCtr="0">
                <a:noAutofit/>
              </a:bodyPr>
              <a:lstStyle/>
              <a:p>
                <a:pPr marL="0" lvl="0" indent="0" algn="ctr" defTabSz="1600200">
                  <a:lnSpc>
                    <a:spcPct val="90000"/>
                  </a:lnSpc>
                  <a:spcBef>
                    <a:spcPct val="0"/>
                  </a:spcBef>
                  <a:spcAft>
                    <a:spcPct val="35000"/>
                  </a:spcAft>
                  <a:buNone/>
                </a:pPr>
                <a:endParaRPr lang="en-US" sz="1600" i="1" kern="1200" noProof="0" dirty="0">
                  <a:solidFill>
                    <a:schemeClr val="tx2"/>
                  </a:solidFill>
                </a:endParaRPr>
              </a:p>
            </p:txBody>
          </p:sp>
          <p:sp>
            <p:nvSpPr>
              <p:cNvPr id="25" name="Freeform 24">
                <a:extLst>
                  <a:ext uri="{FF2B5EF4-FFF2-40B4-BE49-F238E27FC236}">
                    <a16:creationId xmlns:a16="http://schemas.microsoft.com/office/drawing/2014/main" id="{5BC135D9-30D3-B969-2B5F-66A1A53A0158}"/>
                  </a:ext>
                </a:extLst>
              </p:cNvPr>
              <p:cNvSpPr/>
              <p:nvPr/>
            </p:nvSpPr>
            <p:spPr>
              <a:xfrm>
                <a:off x="9635929" y="942781"/>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solidFill>
                <a:schemeClr val="accent2">
                  <a:lumMod val="20000"/>
                  <a:lumOff val="8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390777" rIns="0" bIns="390776" numCol="1" spcCol="1270" anchor="ctr" anchorCtr="0">
                <a:noAutofit/>
              </a:bodyPr>
              <a:lstStyle/>
              <a:p>
                <a:pPr marL="0" lvl="0" indent="0" algn="ctr" defTabSz="1244600">
                  <a:lnSpc>
                    <a:spcPct val="90000"/>
                  </a:lnSpc>
                  <a:spcBef>
                    <a:spcPct val="0"/>
                  </a:spcBef>
                  <a:spcAft>
                    <a:spcPct val="35000"/>
                  </a:spcAft>
                  <a:buNone/>
                </a:pPr>
                <a:r>
                  <a:rPr lang="en-US" sz="1600" kern="1200" noProof="0" dirty="0">
                    <a:solidFill>
                      <a:schemeClr val="tx1"/>
                    </a:solidFill>
                  </a:rPr>
                  <a:t>Biopolymer synthesis</a:t>
                </a:r>
              </a:p>
            </p:txBody>
          </p:sp>
          <p:sp>
            <p:nvSpPr>
              <p:cNvPr id="26" name="Freeform 25">
                <a:extLst>
                  <a:ext uri="{FF2B5EF4-FFF2-40B4-BE49-F238E27FC236}">
                    <a16:creationId xmlns:a16="http://schemas.microsoft.com/office/drawing/2014/main" id="{F82DD258-FA92-E7DA-411D-4D05A4EB4894}"/>
                  </a:ext>
                </a:extLst>
              </p:cNvPr>
              <p:cNvSpPr/>
              <p:nvPr/>
            </p:nvSpPr>
            <p:spPr>
              <a:xfrm>
                <a:off x="8773271" y="2507358"/>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blipFill>
                <a:blip r:embed="rId7">
                  <a:extLst>
                    <a:ext uri="{BEBA8EAE-BF5A-486C-A8C5-ECC9F3942E4B}">
                      <a14:imgProps xmlns:a14="http://schemas.microsoft.com/office/drawing/2010/main">
                        <a14:imgLayer r:embed="rId8">
                          <a14:imgEffect>
                            <a14:saturation sat="66000"/>
                          </a14:imgEffect>
                        </a14:imgLayer>
                      </a14:imgProps>
                    </a:ext>
                  </a:extLst>
                </a:blip>
                <a:stretch>
                  <a:fillRect/>
                </a:stretch>
              </a:bli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7163" tIns="284097" rIns="247164" bIns="284096" numCol="1" spcCol="1270" anchor="ctr" anchorCtr="0">
                <a:noAutofit/>
              </a:bodyPr>
              <a:lstStyle/>
              <a:p>
                <a:pPr marL="0" lvl="0" indent="0" algn="ctr" defTabSz="1600200">
                  <a:lnSpc>
                    <a:spcPct val="90000"/>
                  </a:lnSpc>
                  <a:spcBef>
                    <a:spcPct val="0"/>
                  </a:spcBef>
                  <a:spcAft>
                    <a:spcPct val="35000"/>
                  </a:spcAft>
                  <a:buNone/>
                </a:pPr>
                <a:endParaRPr lang="en-US" sz="3600" kern="1200" noProof="0" dirty="0"/>
              </a:p>
            </p:txBody>
          </p:sp>
        </p:grpSp>
        <p:pic>
          <p:nvPicPr>
            <p:cNvPr id="22" name="Picture 21">
              <a:extLst>
                <a:ext uri="{FF2B5EF4-FFF2-40B4-BE49-F238E27FC236}">
                  <a16:creationId xmlns:a16="http://schemas.microsoft.com/office/drawing/2014/main" id="{8B315994-7E6E-A995-D189-7435602E8C46}"/>
                </a:ext>
              </a:extLst>
            </p:cNvPr>
            <p:cNvPicPr>
              <a:picLocks noChangeAspect="1"/>
            </p:cNvPicPr>
            <p:nvPr/>
          </p:nvPicPr>
          <p:blipFill>
            <a:blip r:embed="rId9"/>
            <a:stretch>
              <a:fillRect/>
            </a:stretch>
          </p:blipFill>
          <p:spPr>
            <a:xfrm>
              <a:off x="7925000" y="1553272"/>
              <a:ext cx="1529080" cy="622300"/>
            </a:xfrm>
            <a:prstGeom prst="rect">
              <a:avLst/>
            </a:prstGeom>
          </p:spPr>
        </p:pic>
        <p:sp>
          <p:nvSpPr>
            <p:cNvPr id="23" name="Título 1">
              <a:extLst>
                <a:ext uri="{FF2B5EF4-FFF2-40B4-BE49-F238E27FC236}">
                  <a16:creationId xmlns:a16="http://schemas.microsoft.com/office/drawing/2014/main" id="{D295419A-E221-80AB-0DD7-B638F6A2D3C1}"/>
                </a:ext>
              </a:extLst>
            </p:cNvPr>
            <p:cNvSpPr txBox="1">
              <a:spLocks/>
            </p:cNvSpPr>
            <p:nvPr/>
          </p:nvSpPr>
          <p:spPr>
            <a:xfrm>
              <a:off x="8169870" y="2228435"/>
              <a:ext cx="1078515" cy="286232"/>
            </a:xfrm>
            <a:prstGeom prst="rect">
              <a:avLst/>
            </a:prstGeom>
            <a:noFill/>
          </p:spPr>
          <p:txBody>
            <a:bodyPr vert="horz" wrap="square" lIns="91440" tIns="45720" rIns="91440" bIns="45720" rtlCol="0" anchor="ctr">
              <a:spAutoFit/>
            </a:bodyPr>
            <a:lstStyle>
              <a:lvl1pPr algn="ctr" defTabSz="914400" rtl="0" eaLnBrk="1" latinLnBrk="0" hangingPunct="1">
                <a:lnSpc>
                  <a:spcPct val="90000"/>
                </a:lnSpc>
                <a:spcBef>
                  <a:spcPct val="0"/>
                </a:spcBef>
                <a:buNone/>
                <a:defRPr lang="en-US" sz="2000" b="1" kern="1200" dirty="0">
                  <a:solidFill>
                    <a:schemeClr val="bg2"/>
                  </a:solidFill>
                  <a:latin typeface="Avenir Book" panose="02000503020000020003" pitchFamily="2" charset="0"/>
                  <a:ea typeface="+mn-ea"/>
                  <a:cs typeface="Arial" panose="020B0604020202020204" pitchFamily="34" charset="0"/>
                </a:defRPr>
              </a:lvl1pPr>
            </a:lstStyle>
            <a:p>
              <a:r>
                <a:rPr lang="en-US" sz="1400" b="0" i="1" dirty="0">
                  <a:solidFill>
                    <a:schemeClr val="accent1"/>
                  </a:solidFill>
                  <a:latin typeface="+mn-lt"/>
                </a:rPr>
                <a:t>chitin</a:t>
              </a:r>
              <a:endParaRPr lang="en-US" sz="900" b="0" i="1" dirty="0">
                <a:solidFill>
                  <a:schemeClr val="accent1"/>
                </a:solidFill>
                <a:latin typeface="+mn-lt"/>
              </a:endParaRPr>
            </a:p>
          </p:txBody>
        </p:sp>
      </p:grpSp>
      <p:grpSp>
        <p:nvGrpSpPr>
          <p:cNvPr id="27" name="Group 26">
            <a:extLst>
              <a:ext uri="{FF2B5EF4-FFF2-40B4-BE49-F238E27FC236}">
                <a16:creationId xmlns:a16="http://schemas.microsoft.com/office/drawing/2014/main" id="{5D83DD3F-4147-4F1C-1069-FFCAABAF8E0F}"/>
              </a:ext>
            </a:extLst>
          </p:cNvPr>
          <p:cNvGrpSpPr/>
          <p:nvPr/>
        </p:nvGrpSpPr>
        <p:grpSpPr>
          <a:xfrm>
            <a:off x="6165270" y="942781"/>
            <a:ext cx="2472950" cy="4972439"/>
            <a:chOff x="6165270" y="942781"/>
            <a:chExt cx="2472950" cy="4972439"/>
          </a:xfrm>
        </p:grpSpPr>
        <p:grpSp>
          <p:nvGrpSpPr>
            <p:cNvPr id="28" name="Group 27">
              <a:extLst>
                <a:ext uri="{FF2B5EF4-FFF2-40B4-BE49-F238E27FC236}">
                  <a16:creationId xmlns:a16="http://schemas.microsoft.com/office/drawing/2014/main" id="{CEF4C65C-813D-5F17-26BF-63CF960A852C}"/>
                </a:ext>
              </a:extLst>
            </p:cNvPr>
            <p:cNvGrpSpPr/>
            <p:nvPr/>
          </p:nvGrpSpPr>
          <p:grpSpPr>
            <a:xfrm>
              <a:off x="6165270" y="942781"/>
              <a:ext cx="2472950" cy="4972439"/>
              <a:chOff x="6165270" y="942781"/>
              <a:chExt cx="2472950" cy="4972439"/>
            </a:xfrm>
            <a:solidFill>
              <a:schemeClr val="accent1">
                <a:lumMod val="20000"/>
                <a:lumOff val="80000"/>
              </a:schemeClr>
            </a:solidFill>
          </p:grpSpPr>
          <p:sp>
            <p:nvSpPr>
              <p:cNvPr id="31" name="Freeform 30">
                <a:extLst>
                  <a:ext uri="{FF2B5EF4-FFF2-40B4-BE49-F238E27FC236}">
                    <a16:creationId xmlns:a16="http://schemas.microsoft.com/office/drawing/2014/main" id="{BD57D1A4-AB60-AAB5-610A-9E5D85C0704B}"/>
                  </a:ext>
                </a:extLst>
              </p:cNvPr>
              <p:cNvSpPr/>
              <p:nvPr/>
            </p:nvSpPr>
            <p:spPr>
              <a:xfrm>
                <a:off x="6165270" y="942781"/>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blipFill>
                <a:blip r:embed="rId10">
                  <a:extLst>
                    <a:ext uri="{96DAC541-7B7A-43D3-8B79-37D633B846F1}">
                      <asvg:svgBlip xmlns:asvg="http://schemas.microsoft.com/office/drawing/2016/SVG/main" r:embed="rId11"/>
                    </a:ext>
                  </a:extLst>
                </a:blip>
                <a:stretch>
                  <a:fillRect/>
                </a:stretch>
              </a:bli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3843" tIns="390777" rIns="353844" bIns="390776" numCol="1" spcCol="1270" anchor="ctr" anchorCtr="0">
                <a:noAutofit/>
              </a:bodyPr>
              <a:lstStyle/>
              <a:p>
                <a:pPr marL="0" lvl="0" indent="0" algn="ctr" defTabSz="1244600">
                  <a:lnSpc>
                    <a:spcPct val="90000"/>
                  </a:lnSpc>
                  <a:spcBef>
                    <a:spcPct val="0"/>
                  </a:spcBef>
                  <a:spcAft>
                    <a:spcPct val="35000"/>
                  </a:spcAft>
                  <a:buNone/>
                </a:pPr>
                <a:endParaRPr lang="en-US" kern="1200" noProof="0" dirty="0">
                  <a:solidFill>
                    <a:schemeClr val="tx1"/>
                  </a:solidFill>
                </a:endParaRPr>
              </a:p>
            </p:txBody>
          </p:sp>
          <p:sp>
            <p:nvSpPr>
              <p:cNvPr id="32" name="Freeform 31">
                <a:extLst>
                  <a:ext uri="{FF2B5EF4-FFF2-40B4-BE49-F238E27FC236}">
                    <a16:creationId xmlns:a16="http://schemas.microsoft.com/office/drawing/2014/main" id="{EA66B526-F4E8-310F-B80C-AEEE11E830A7}"/>
                  </a:ext>
                </a:extLst>
              </p:cNvPr>
              <p:cNvSpPr/>
              <p:nvPr/>
            </p:nvSpPr>
            <p:spPr>
              <a:xfrm>
                <a:off x="7034563" y="2507358"/>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solidFill>
                <a:schemeClr val="tx2">
                  <a:lumMod val="20000"/>
                  <a:lumOff val="8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390777" rIns="0" bIns="390776" numCol="1" spcCol="1270" anchor="ctr" anchorCtr="0">
                <a:noAutofit/>
              </a:bodyPr>
              <a:lstStyle/>
              <a:p>
                <a:pPr algn="ctr" defTabSz="1244600">
                  <a:lnSpc>
                    <a:spcPct val="90000"/>
                  </a:lnSpc>
                  <a:spcBef>
                    <a:spcPct val="0"/>
                  </a:spcBef>
                  <a:spcAft>
                    <a:spcPct val="35000"/>
                  </a:spcAft>
                </a:pPr>
                <a:r>
                  <a:rPr lang="en-US" sz="1600" kern="1200" noProof="0" dirty="0">
                    <a:solidFill>
                      <a:schemeClr val="tx1"/>
                    </a:solidFill>
                  </a:rPr>
                  <a:t>Medicinal chemistry</a:t>
                </a:r>
                <a:endParaRPr lang="en-US" sz="2400" kern="1200" noProof="0" dirty="0"/>
              </a:p>
            </p:txBody>
          </p:sp>
          <p:sp>
            <p:nvSpPr>
              <p:cNvPr id="33" name="Freeform 32">
                <a:extLst>
                  <a:ext uri="{FF2B5EF4-FFF2-40B4-BE49-F238E27FC236}">
                    <a16:creationId xmlns:a16="http://schemas.microsoft.com/office/drawing/2014/main" id="{F9E6BCCB-3224-D3E0-E88A-E73335A65714}"/>
                  </a:ext>
                </a:extLst>
              </p:cNvPr>
              <p:cNvSpPr/>
              <p:nvPr/>
            </p:nvSpPr>
            <p:spPr>
              <a:xfrm>
                <a:off x="6165270" y="4071937"/>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noFill/>
              <a:ln w="63500">
                <a:solidFill>
                  <a:schemeClr val="tx2">
                    <a:lumMod val="20000"/>
                    <a:lumOff val="8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4803" tIns="451737" rIns="414804" bIns="451736" numCol="1" spcCol="1270" anchor="ctr" anchorCtr="0">
                <a:noAutofit/>
              </a:bodyPr>
              <a:lstStyle/>
              <a:p>
                <a:pPr marL="0" lvl="0" indent="0" algn="ctr" defTabSz="1955800">
                  <a:lnSpc>
                    <a:spcPct val="90000"/>
                  </a:lnSpc>
                  <a:spcBef>
                    <a:spcPct val="0"/>
                  </a:spcBef>
                  <a:spcAft>
                    <a:spcPct val="35000"/>
                  </a:spcAft>
                  <a:buNone/>
                </a:pPr>
                <a:endParaRPr lang="en-US" sz="4400" kern="1200" noProof="0" dirty="0"/>
              </a:p>
            </p:txBody>
          </p:sp>
        </p:grpSp>
        <p:pic>
          <p:nvPicPr>
            <p:cNvPr id="29" name="Picture 28">
              <a:extLst>
                <a:ext uri="{FF2B5EF4-FFF2-40B4-BE49-F238E27FC236}">
                  <a16:creationId xmlns:a16="http://schemas.microsoft.com/office/drawing/2014/main" id="{F3881FA3-3353-0629-5D44-EDC690268ED7}"/>
                </a:ext>
              </a:extLst>
            </p:cNvPr>
            <p:cNvPicPr>
              <a:picLocks noChangeAspect="1"/>
            </p:cNvPicPr>
            <p:nvPr/>
          </p:nvPicPr>
          <p:blipFill>
            <a:blip r:embed="rId12"/>
            <a:stretch>
              <a:fillRect/>
            </a:stretch>
          </p:blipFill>
          <p:spPr>
            <a:xfrm>
              <a:off x="6478148" y="4564336"/>
              <a:ext cx="977900" cy="749300"/>
            </a:xfrm>
            <a:prstGeom prst="rect">
              <a:avLst/>
            </a:prstGeom>
          </p:spPr>
        </p:pic>
        <p:sp>
          <p:nvSpPr>
            <p:cNvPr id="30" name="Título 1">
              <a:extLst>
                <a:ext uri="{FF2B5EF4-FFF2-40B4-BE49-F238E27FC236}">
                  <a16:creationId xmlns:a16="http://schemas.microsoft.com/office/drawing/2014/main" id="{09B90AD5-322B-392A-BA55-1E75E2318DE8}"/>
                </a:ext>
              </a:extLst>
            </p:cNvPr>
            <p:cNvSpPr txBox="1">
              <a:spLocks/>
            </p:cNvSpPr>
            <p:nvPr/>
          </p:nvSpPr>
          <p:spPr>
            <a:xfrm>
              <a:off x="6540174" y="5347700"/>
              <a:ext cx="862655" cy="286232"/>
            </a:xfrm>
            <a:prstGeom prst="rect">
              <a:avLst/>
            </a:prstGeom>
            <a:noFill/>
          </p:spPr>
          <p:txBody>
            <a:bodyPr vert="horz" wrap="square" lIns="91440" tIns="45720" rIns="91440" bIns="45720" rtlCol="0" anchor="ctr">
              <a:spAutoFit/>
            </a:bodyPr>
            <a:lstStyle>
              <a:lvl1pPr algn="ctr" defTabSz="914400" rtl="0" eaLnBrk="1" latinLnBrk="0" hangingPunct="1">
                <a:lnSpc>
                  <a:spcPct val="90000"/>
                </a:lnSpc>
                <a:spcBef>
                  <a:spcPct val="0"/>
                </a:spcBef>
                <a:buNone/>
                <a:defRPr lang="en-US" sz="2000" b="1" kern="1200" dirty="0">
                  <a:solidFill>
                    <a:schemeClr val="bg2"/>
                  </a:solidFill>
                  <a:latin typeface="Avenir Book" panose="02000503020000020003" pitchFamily="2" charset="0"/>
                  <a:ea typeface="+mn-ea"/>
                  <a:cs typeface="Arial" panose="020B0604020202020204" pitchFamily="34" charset="0"/>
                </a:defRPr>
              </a:lvl1pPr>
            </a:lstStyle>
            <a:p>
              <a:r>
                <a:rPr lang="en-US" sz="1400" b="0" i="1" dirty="0">
                  <a:solidFill>
                    <a:schemeClr val="accent1"/>
                  </a:solidFill>
                  <a:latin typeface="+mn-lt"/>
                </a:rPr>
                <a:t>aspirin</a:t>
              </a:r>
              <a:endParaRPr lang="en-US" sz="900" b="0" i="1" dirty="0">
                <a:solidFill>
                  <a:schemeClr val="accent1"/>
                </a:solidFill>
                <a:latin typeface="+mn-lt"/>
              </a:endParaRPr>
            </a:p>
          </p:txBody>
        </p:sp>
      </p:grpSp>
      <p:grpSp>
        <p:nvGrpSpPr>
          <p:cNvPr id="34" name="Group 33">
            <a:extLst>
              <a:ext uri="{FF2B5EF4-FFF2-40B4-BE49-F238E27FC236}">
                <a16:creationId xmlns:a16="http://schemas.microsoft.com/office/drawing/2014/main" id="{FBA8E791-F512-8245-82DA-4385984AC07C}"/>
              </a:ext>
            </a:extLst>
          </p:cNvPr>
          <p:cNvGrpSpPr/>
          <p:nvPr/>
        </p:nvGrpSpPr>
        <p:grpSpPr>
          <a:xfrm>
            <a:off x="3556546" y="942781"/>
            <a:ext cx="2466312" cy="4972439"/>
            <a:chOff x="3556546" y="942781"/>
            <a:chExt cx="2466312" cy="4972439"/>
          </a:xfrm>
        </p:grpSpPr>
        <p:grpSp>
          <p:nvGrpSpPr>
            <p:cNvPr id="35" name="Group 34">
              <a:extLst>
                <a:ext uri="{FF2B5EF4-FFF2-40B4-BE49-F238E27FC236}">
                  <a16:creationId xmlns:a16="http://schemas.microsoft.com/office/drawing/2014/main" id="{550BDD26-FEA3-E6B1-B61F-FE42634DF232}"/>
                </a:ext>
              </a:extLst>
            </p:cNvPr>
            <p:cNvGrpSpPr/>
            <p:nvPr/>
          </p:nvGrpSpPr>
          <p:grpSpPr>
            <a:xfrm>
              <a:off x="3556546" y="942781"/>
              <a:ext cx="2466312" cy="4972439"/>
              <a:chOff x="3556546" y="942781"/>
              <a:chExt cx="2466312" cy="4972439"/>
            </a:xfrm>
            <a:solidFill>
              <a:schemeClr val="accent1">
                <a:lumMod val="20000"/>
                <a:lumOff val="80000"/>
              </a:schemeClr>
            </a:solidFill>
          </p:grpSpPr>
          <p:sp>
            <p:nvSpPr>
              <p:cNvPr id="38" name="Freeform 37">
                <a:extLst>
                  <a:ext uri="{FF2B5EF4-FFF2-40B4-BE49-F238E27FC236}">
                    <a16:creationId xmlns:a16="http://schemas.microsoft.com/office/drawing/2014/main" id="{203602EA-639B-3136-F8A1-11578E4058BC}"/>
                  </a:ext>
                </a:extLst>
              </p:cNvPr>
              <p:cNvSpPr/>
              <p:nvPr/>
            </p:nvSpPr>
            <p:spPr>
              <a:xfrm>
                <a:off x="4419201" y="942781"/>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noFill/>
              <a:ln w="63500">
                <a:solidFill>
                  <a:schemeClr val="accent3">
                    <a:lumMod val="20000"/>
                    <a:lumOff val="8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284400" rIns="0" bIns="284096" numCol="1" spcCol="1270" anchor="ctr" anchorCtr="0">
                <a:noAutofit/>
              </a:bodyPr>
              <a:lstStyle/>
              <a:p>
                <a:pPr algn="ctr" defTabSz="1600200">
                  <a:lnSpc>
                    <a:spcPct val="90000"/>
                  </a:lnSpc>
                  <a:spcBef>
                    <a:spcPct val="0"/>
                  </a:spcBef>
                </a:pPr>
                <a:endParaRPr lang="en-US" sz="1600" kern="1200" noProof="0" dirty="0">
                  <a:solidFill>
                    <a:schemeClr val="tx1"/>
                  </a:solidFill>
                </a:endParaRPr>
              </a:p>
            </p:txBody>
          </p:sp>
          <p:sp>
            <p:nvSpPr>
              <p:cNvPr id="39" name="Freeform 38">
                <a:extLst>
                  <a:ext uri="{FF2B5EF4-FFF2-40B4-BE49-F238E27FC236}">
                    <a16:creationId xmlns:a16="http://schemas.microsoft.com/office/drawing/2014/main" id="{10D481E4-ECE3-B671-F920-FB63666077A6}"/>
                  </a:ext>
                </a:extLst>
              </p:cNvPr>
              <p:cNvSpPr/>
              <p:nvPr/>
            </p:nvSpPr>
            <p:spPr>
              <a:xfrm>
                <a:off x="3556546" y="2507358"/>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solidFill>
                <a:schemeClr val="accent3">
                  <a:lumMod val="20000"/>
                  <a:lumOff val="8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3843" tIns="390777" rIns="353844" bIns="390776" numCol="1" spcCol="1270" anchor="ctr" anchorCtr="0">
                <a:noAutofit/>
              </a:bodyPr>
              <a:lstStyle/>
              <a:p>
                <a:pPr marL="0" lvl="0" indent="0" algn="ctr" defTabSz="1244600">
                  <a:lnSpc>
                    <a:spcPct val="90000"/>
                  </a:lnSpc>
                  <a:spcBef>
                    <a:spcPct val="0"/>
                  </a:spcBef>
                  <a:spcAft>
                    <a:spcPct val="35000"/>
                  </a:spcAft>
                  <a:buNone/>
                </a:pPr>
                <a:r>
                  <a:rPr lang="en-US" sz="1600" kern="1200" noProof="0" dirty="0">
                    <a:solidFill>
                      <a:schemeClr val="tx1"/>
                    </a:solidFill>
                  </a:rPr>
                  <a:t>Natural products</a:t>
                </a:r>
              </a:p>
            </p:txBody>
          </p:sp>
          <p:sp>
            <p:nvSpPr>
              <p:cNvPr id="40" name="Freeform 39">
                <a:extLst>
                  <a:ext uri="{FF2B5EF4-FFF2-40B4-BE49-F238E27FC236}">
                    <a16:creationId xmlns:a16="http://schemas.microsoft.com/office/drawing/2014/main" id="{4421A368-4778-3986-BD6F-31AE52CC9777}"/>
                  </a:ext>
                </a:extLst>
              </p:cNvPr>
              <p:cNvSpPr/>
              <p:nvPr/>
            </p:nvSpPr>
            <p:spPr>
              <a:xfrm>
                <a:off x="4419201" y="4071937"/>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blipFill>
                <a:blip r:embed="rId13">
                  <a:extLst>
                    <a:ext uri="{BEBA8EAE-BF5A-486C-A8C5-ECC9F3942E4B}">
                      <a14:imgProps xmlns:a14="http://schemas.microsoft.com/office/drawing/2010/main">
                        <a14:imgLayer r:embed="rId14">
                          <a14:imgEffect>
                            <a14:saturation sat="66000"/>
                          </a14:imgEffect>
                        </a14:imgLayer>
                      </a14:imgProps>
                    </a:ext>
                  </a:extLst>
                </a:blip>
                <a:stretch>
                  <a:fillRect/>
                </a:stretch>
              </a:bli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284097" rIns="0" bIns="284096" numCol="1" spcCol="1270" anchor="ctr" anchorCtr="0">
                <a:noAutofit/>
              </a:bodyPr>
              <a:lstStyle/>
              <a:p>
                <a:pPr marL="0" lvl="0" indent="0" algn="ctr" defTabSz="1600200">
                  <a:lnSpc>
                    <a:spcPct val="90000"/>
                  </a:lnSpc>
                  <a:spcBef>
                    <a:spcPct val="0"/>
                  </a:spcBef>
                  <a:spcAft>
                    <a:spcPct val="35000"/>
                  </a:spcAft>
                  <a:buNone/>
                </a:pPr>
                <a:endParaRPr lang="en-US" sz="1600" kern="1200" noProof="0" dirty="0">
                  <a:solidFill>
                    <a:schemeClr val="tx1"/>
                  </a:solidFill>
                </a:endParaRPr>
              </a:p>
            </p:txBody>
          </p:sp>
        </p:grpSp>
        <p:sp>
          <p:nvSpPr>
            <p:cNvPr id="36" name="Título 1">
              <a:extLst>
                <a:ext uri="{FF2B5EF4-FFF2-40B4-BE49-F238E27FC236}">
                  <a16:creationId xmlns:a16="http://schemas.microsoft.com/office/drawing/2014/main" id="{2859C23F-F6CE-5DBC-EE13-712FE90DE8BC}"/>
                </a:ext>
              </a:extLst>
            </p:cNvPr>
            <p:cNvSpPr txBox="1">
              <a:spLocks/>
            </p:cNvSpPr>
            <p:nvPr/>
          </p:nvSpPr>
          <p:spPr>
            <a:xfrm>
              <a:off x="4659490" y="2207148"/>
              <a:ext cx="1123078" cy="286232"/>
            </a:xfrm>
            <a:prstGeom prst="rect">
              <a:avLst/>
            </a:prstGeom>
            <a:noFill/>
          </p:spPr>
          <p:txBody>
            <a:bodyPr vert="horz" wrap="square" lIns="91440" tIns="45720" rIns="91440" bIns="45720" rtlCol="0" anchor="ctr">
              <a:spAutoFit/>
            </a:bodyPr>
            <a:lstStyle>
              <a:lvl1pPr algn="ctr" defTabSz="914400" rtl="0" eaLnBrk="1" latinLnBrk="0" hangingPunct="1">
                <a:lnSpc>
                  <a:spcPct val="90000"/>
                </a:lnSpc>
                <a:spcBef>
                  <a:spcPct val="0"/>
                </a:spcBef>
                <a:buNone/>
                <a:defRPr lang="en-US" sz="2000" b="1" kern="1200" dirty="0">
                  <a:solidFill>
                    <a:schemeClr val="bg2"/>
                  </a:solidFill>
                  <a:latin typeface="Avenir Book" panose="02000503020000020003" pitchFamily="2" charset="0"/>
                  <a:ea typeface="+mn-ea"/>
                  <a:cs typeface="Arial" panose="020B0604020202020204" pitchFamily="34" charset="0"/>
                </a:defRPr>
              </a:lvl1pPr>
            </a:lstStyle>
            <a:p>
              <a:r>
                <a:rPr lang="en-US" sz="1400" b="0" i="1" dirty="0">
                  <a:solidFill>
                    <a:schemeClr val="accent1"/>
                  </a:solidFill>
                  <a:latin typeface="+mn-lt"/>
                </a:rPr>
                <a:t>citronellal</a:t>
              </a:r>
              <a:endParaRPr lang="en-US" sz="900" b="0" i="1" dirty="0">
                <a:solidFill>
                  <a:schemeClr val="accent1"/>
                </a:solidFill>
                <a:latin typeface="+mn-lt"/>
              </a:endParaRPr>
            </a:p>
          </p:txBody>
        </p:sp>
        <p:pic>
          <p:nvPicPr>
            <p:cNvPr id="37" name="Picture 36">
              <a:extLst>
                <a:ext uri="{FF2B5EF4-FFF2-40B4-BE49-F238E27FC236}">
                  <a16:creationId xmlns:a16="http://schemas.microsoft.com/office/drawing/2014/main" id="{C8ABEF3F-AEC5-2B21-5535-263F1F632E59}"/>
                </a:ext>
              </a:extLst>
            </p:cNvPr>
            <p:cNvPicPr>
              <a:picLocks noChangeAspect="1"/>
            </p:cNvPicPr>
            <p:nvPr/>
          </p:nvPicPr>
          <p:blipFill>
            <a:blip r:embed="rId15"/>
            <a:stretch>
              <a:fillRect/>
            </a:stretch>
          </p:blipFill>
          <p:spPr>
            <a:xfrm>
              <a:off x="4545523" y="1590450"/>
              <a:ext cx="1371600" cy="431800"/>
            </a:xfrm>
            <a:prstGeom prst="rect">
              <a:avLst/>
            </a:prstGeom>
          </p:spPr>
        </p:pic>
      </p:grpSp>
      <p:grpSp>
        <p:nvGrpSpPr>
          <p:cNvPr id="41" name="Group 40">
            <a:extLst>
              <a:ext uri="{FF2B5EF4-FFF2-40B4-BE49-F238E27FC236}">
                <a16:creationId xmlns:a16="http://schemas.microsoft.com/office/drawing/2014/main" id="{C6B75ECE-C0A8-1793-B7CE-CF62E873E2C6}"/>
              </a:ext>
            </a:extLst>
          </p:cNvPr>
          <p:cNvGrpSpPr/>
          <p:nvPr/>
        </p:nvGrpSpPr>
        <p:grpSpPr>
          <a:xfrm>
            <a:off x="935761" y="2507358"/>
            <a:ext cx="3355149" cy="3407862"/>
            <a:chOff x="935761" y="2507358"/>
            <a:chExt cx="3355149" cy="3407862"/>
          </a:xfrm>
        </p:grpSpPr>
        <p:grpSp>
          <p:nvGrpSpPr>
            <p:cNvPr id="42" name="Group 41">
              <a:extLst>
                <a:ext uri="{FF2B5EF4-FFF2-40B4-BE49-F238E27FC236}">
                  <a16:creationId xmlns:a16="http://schemas.microsoft.com/office/drawing/2014/main" id="{1E4DA962-1A78-AAC7-583B-DB37A3C3CF9D}"/>
                </a:ext>
              </a:extLst>
            </p:cNvPr>
            <p:cNvGrpSpPr/>
            <p:nvPr/>
          </p:nvGrpSpPr>
          <p:grpSpPr>
            <a:xfrm>
              <a:off x="935761" y="2507358"/>
              <a:ext cx="3355149" cy="3407862"/>
              <a:chOff x="935761" y="2507358"/>
              <a:chExt cx="3355149" cy="3407862"/>
            </a:xfrm>
            <a:solidFill>
              <a:schemeClr val="accent1">
                <a:lumMod val="20000"/>
                <a:lumOff val="80000"/>
              </a:schemeClr>
            </a:solidFill>
          </p:grpSpPr>
          <p:sp>
            <p:nvSpPr>
              <p:cNvPr id="45" name="Freeform 44">
                <a:extLst>
                  <a:ext uri="{FF2B5EF4-FFF2-40B4-BE49-F238E27FC236}">
                    <a16:creationId xmlns:a16="http://schemas.microsoft.com/office/drawing/2014/main" id="{41AABC3D-5FAE-8D2B-1042-57ED8F6DB8CF}"/>
                  </a:ext>
                </a:extLst>
              </p:cNvPr>
              <p:cNvSpPr/>
              <p:nvPr/>
            </p:nvSpPr>
            <p:spPr>
              <a:xfrm>
                <a:off x="2687253" y="4071937"/>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noFill/>
              <a:ln w="63500">
                <a:solidFill>
                  <a:schemeClr val="accent4">
                    <a:lumMod val="20000"/>
                    <a:lumOff val="8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4803" tIns="451737" rIns="414804" bIns="451736" numCol="1" spcCol="1270" anchor="ctr" anchorCtr="0">
                <a:noAutofit/>
              </a:bodyPr>
              <a:lstStyle/>
              <a:p>
                <a:pPr marL="0" lvl="0" indent="0" algn="ctr" defTabSz="1955800">
                  <a:lnSpc>
                    <a:spcPct val="90000"/>
                  </a:lnSpc>
                  <a:spcBef>
                    <a:spcPct val="0"/>
                  </a:spcBef>
                  <a:spcAft>
                    <a:spcPct val="35000"/>
                  </a:spcAft>
                  <a:buNone/>
                </a:pPr>
                <a:endParaRPr lang="en-US" sz="4400" kern="1200" noProof="0" dirty="0"/>
              </a:p>
            </p:txBody>
          </p:sp>
          <p:sp>
            <p:nvSpPr>
              <p:cNvPr id="46" name="Freeform 45">
                <a:extLst>
                  <a:ext uri="{FF2B5EF4-FFF2-40B4-BE49-F238E27FC236}">
                    <a16:creationId xmlns:a16="http://schemas.microsoft.com/office/drawing/2014/main" id="{DD962892-4F76-8DFF-E937-C8C025E8EF5A}"/>
                  </a:ext>
                </a:extLst>
              </p:cNvPr>
              <p:cNvSpPr/>
              <p:nvPr/>
            </p:nvSpPr>
            <p:spPr>
              <a:xfrm>
                <a:off x="935761" y="4071937"/>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solidFill>
                <a:schemeClr val="accent4">
                  <a:lumMod val="20000"/>
                  <a:lumOff val="8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451737" rIns="0" bIns="451736" numCol="1" spcCol="1270" anchor="ctr" anchorCtr="0">
                <a:noAutofit/>
              </a:bodyPr>
              <a:lstStyle/>
              <a:p>
                <a:pPr marL="0" lvl="0" indent="0" algn="ctr" defTabSz="1955800">
                  <a:lnSpc>
                    <a:spcPct val="90000"/>
                  </a:lnSpc>
                  <a:spcBef>
                    <a:spcPct val="0"/>
                  </a:spcBef>
                  <a:spcAft>
                    <a:spcPct val="35000"/>
                  </a:spcAft>
                  <a:buNone/>
                </a:pPr>
                <a:r>
                  <a:rPr lang="en-US" sz="1600" kern="1200" noProof="0" dirty="0">
                    <a:solidFill>
                      <a:schemeClr val="tx1"/>
                    </a:solidFill>
                  </a:rPr>
                  <a:t>Organic materials</a:t>
                </a:r>
              </a:p>
            </p:txBody>
          </p:sp>
          <p:sp>
            <p:nvSpPr>
              <p:cNvPr id="47" name="Freeform 46">
                <a:extLst>
                  <a:ext uri="{FF2B5EF4-FFF2-40B4-BE49-F238E27FC236}">
                    <a16:creationId xmlns:a16="http://schemas.microsoft.com/office/drawing/2014/main" id="{F10F88A2-64A9-5E58-61CD-605BB5AC680F}"/>
                  </a:ext>
                </a:extLst>
              </p:cNvPr>
              <p:cNvSpPr/>
              <p:nvPr/>
            </p:nvSpPr>
            <p:spPr>
              <a:xfrm>
                <a:off x="1824598" y="2507358"/>
                <a:ext cx="1603657" cy="1843283"/>
              </a:xfrm>
              <a:custGeom>
                <a:avLst/>
                <a:gdLst>
                  <a:gd name="connsiteX0" fmla="*/ 0 w 1823073"/>
                  <a:gd name="connsiteY0" fmla="*/ 793037 h 1586074"/>
                  <a:gd name="connsiteX1" fmla="*/ 396519 w 1823073"/>
                  <a:gd name="connsiteY1" fmla="*/ 0 h 1586074"/>
                  <a:gd name="connsiteX2" fmla="*/ 1426555 w 1823073"/>
                  <a:gd name="connsiteY2" fmla="*/ 0 h 1586074"/>
                  <a:gd name="connsiteX3" fmla="*/ 1823073 w 1823073"/>
                  <a:gd name="connsiteY3" fmla="*/ 793037 h 1586074"/>
                  <a:gd name="connsiteX4" fmla="*/ 1426555 w 1823073"/>
                  <a:gd name="connsiteY4" fmla="*/ 1586074 h 1586074"/>
                  <a:gd name="connsiteX5" fmla="*/ 396519 w 1823073"/>
                  <a:gd name="connsiteY5" fmla="*/ 1586074 h 1586074"/>
                  <a:gd name="connsiteX6" fmla="*/ 0 w 1823073"/>
                  <a:gd name="connsiteY6" fmla="*/ 793037 h 158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3073" h="1586074">
                    <a:moveTo>
                      <a:pt x="911536" y="0"/>
                    </a:moveTo>
                    <a:lnTo>
                      <a:pt x="1823072" y="344972"/>
                    </a:lnTo>
                    <a:lnTo>
                      <a:pt x="1823072" y="1241103"/>
                    </a:lnTo>
                    <a:lnTo>
                      <a:pt x="911537" y="1586074"/>
                    </a:lnTo>
                    <a:lnTo>
                      <a:pt x="1" y="1241103"/>
                    </a:lnTo>
                    <a:lnTo>
                      <a:pt x="1" y="344972"/>
                    </a:lnTo>
                    <a:lnTo>
                      <a:pt x="911536" y="0"/>
                    </a:lnTo>
                    <a:close/>
                  </a:path>
                </a:pathLst>
              </a:custGeom>
              <a:blipFill dpi="0" rotWithShape="1">
                <a:blip r:embed="rId16">
                  <a:extLst>
                    <a:ext uri="{BEBA8EAE-BF5A-486C-A8C5-ECC9F3942E4B}">
                      <a14:imgProps xmlns:a14="http://schemas.microsoft.com/office/drawing/2010/main">
                        <a14:imgLayer r:embed="rId17">
                          <a14:imgEffect>
                            <a14:saturation sat="64000"/>
                          </a14:imgEffect>
                        </a14:imgLayer>
                      </a14:imgProps>
                    </a:ext>
                  </a:extLst>
                </a:blip>
                <a:srcRect/>
                <a:stretch>
                  <a:fillRect/>
                </a:stretch>
              </a:bli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284097" rIns="0" bIns="284096" numCol="1" spcCol="1270" anchor="ctr" anchorCtr="0">
                <a:noAutofit/>
              </a:bodyPr>
              <a:lstStyle/>
              <a:p>
                <a:pPr marL="0" lvl="0" indent="0" algn="ctr" defTabSz="1244600">
                  <a:lnSpc>
                    <a:spcPct val="90000"/>
                  </a:lnSpc>
                  <a:spcBef>
                    <a:spcPct val="0"/>
                  </a:spcBef>
                  <a:spcAft>
                    <a:spcPct val="35000"/>
                  </a:spcAft>
                  <a:buNone/>
                </a:pPr>
                <a:endParaRPr lang="en-US" sz="1600" i="1" kern="1200" noProof="0" dirty="0">
                  <a:solidFill>
                    <a:schemeClr val="tx2"/>
                  </a:solidFill>
                </a:endParaRPr>
              </a:p>
            </p:txBody>
          </p:sp>
        </p:grpSp>
        <p:pic>
          <p:nvPicPr>
            <p:cNvPr id="43" name="Picture 42">
              <a:extLst>
                <a:ext uri="{FF2B5EF4-FFF2-40B4-BE49-F238E27FC236}">
                  <a16:creationId xmlns:a16="http://schemas.microsoft.com/office/drawing/2014/main" id="{93839765-CC89-A329-0D41-415BF709632F}"/>
                </a:ext>
              </a:extLst>
            </p:cNvPr>
            <p:cNvPicPr>
              <a:picLocks noChangeAspect="1"/>
            </p:cNvPicPr>
            <p:nvPr/>
          </p:nvPicPr>
          <p:blipFill>
            <a:blip r:embed="rId18"/>
            <a:stretch>
              <a:fillRect/>
            </a:stretch>
          </p:blipFill>
          <p:spPr>
            <a:xfrm>
              <a:off x="2782326" y="4599896"/>
              <a:ext cx="1413510" cy="657860"/>
            </a:xfrm>
            <a:prstGeom prst="rect">
              <a:avLst/>
            </a:prstGeom>
          </p:spPr>
        </p:pic>
        <p:sp>
          <p:nvSpPr>
            <p:cNvPr id="44" name="Título 1">
              <a:extLst>
                <a:ext uri="{FF2B5EF4-FFF2-40B4-BE49-F238E27FC236}">
                  <a16:creationId xmlns:a16="http://schemas.microsoft.com/office/drawing/2014/main" id="{A1F91027-0E5F-E1ED-AB32-34D523E736A6}"/>
                </a:ext>
              </a:extLst>
            </p:cNvPr>
            <p:cNvSpPr txBox="1">
              <a:spLocks/>
            </p:cNvSpPr>
            <p:nvPr/>
          </p:nvSpPr>
          <p:spPr>
            <a:xfrm>
              <a:off x="2996927" y="5354611"/>
              <a:ext cx="1056176" cy="286232"/>
            </a:xfrm>
            <a:prstGeom prst="rect">
              <a:avLst/>
            </a:prstGeom>
            <a:noFill/>
          </p:spPr>
          <p:txBody>
            <a:bodyPr vert="horz" wrap="square" lIns="91440" tIns="45720" rIns="91440" bIns="45720" rtlCol="0" anchor="ctr">
              <a:spAutoFit/>
            </a:bodyPr>
            <a:lstStyle>
              <a:lvl1pPr algn="ctr" defTabSz="914400" rtl="0" eaLnBrk="1" latinLnBrk="0" hangingPunct="1">
                <a:lnSpc>
                  <a:spcPct val="90000"/>
                </a:lnSpc>
                <a:spcBef>
                  <a:spcPct val="0"/>
                </a:spcBef>
                <a:buNone/>
                <a:defRPr lang="en-US" sz="2000" b="1" kern="1200" dirty="0">
                  <a:solidFill>
                    <a:schemeClr val="bg2"/>
                  </a:solidFill>
                  <a:latin typeface="Avenir Book" panose="02000503020000020003" pitchFamily="2" charset="0"/>
                  <a:ea typeface="+mn-ea"/>
                  <a:cs typeface="Arial" panose="020B0604020202020204" pitchFamily="34" charset="0"/>
                </a:defRPr>
              </a:lvl1pPr>
            </a:lstStyle>
            <a:p>
              <a:r>
                <a:rPr lang="en-US" sz="1400" b="0" i="1" dirty="0">
                  <a:solidFill>
                    <a:schemeClr val="accent1"/>
                  </a:solidFill>
                  <a:latin typeface="+mn-lt"/>
                </a:rPr>
                <a:t>nylon 6,6</a:t>
              </a:r>
              <a:endParaRPr lang="en-US" sz="900" b="0" i="1" dirty="0">
                <a:solidFill>
                  <a:schemeClr val="accent1"/>
                </a:solidFill>
                <a:latin typeface="+mn-lt"/>
              </a:endParaRPr>
            </a:p>
          </p:txBody>
        </p:sp>
      </p:grpSp>
    </p:spTree>
    <p:extLst>
      <p:ext uri="{BB962C8B-B14F-4D97-AF65-F5344CB8AC3E}">
        <p14:creationId xmlns:p14="http://schemas.microsoft.com/office/powerpoint/2010/main" val="422648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dissolve">
                                      <p:cBhvr>
                                        <p:cTn id="11" dur="500"/>
                                        <p:tgtEl>
                                          <p:spTgt spid="13"/>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dissolve">
                                      <p:cBhvr>
                                        <p:cTn id="15" dur="500"/>
                                        <p:tgtEl>
                                          <p:spTgt spid="20"/>
                                        </p:tgtEl>
                                      </p:cBhvr>
                                    </p:animEffect>
                                  </p:childTnLst>
                                </p:cTn>
                              </p:par>
                              <p:par>
                                <p:cTn id="16" presetID="9"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dissolve">
                                      <p:cBhvr>
                                        <p:cTn id="18" dur="500"/>
                                        <p:tgtEl>
                                          <p:spTgt spid="27"/>
                                        </p:tgtEl>
                                      </p:cBhvr>
                                    </p:animEffect>
                                  </p:childTnLst>
                                </p:cTn>
                              </p:par>
                            </p:childTnLst>
                          </p:cTn>
                        </p:par>
                        <p:par>
                          <p:cTn id="19" fill="hold">
                            <p:stCondLst>
                              <p:cond delay="1500"/>
                            </p:stCondLst>
                            <p:childTnLst>
                              <p:par>
                                <p:cTn id="20" presetID="9" presetClass="entr" presetSubtype="0" fill="hold" nodeType="after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dissolve">
                                      <p:cBhvr>
                                        <p:cTn id="22" dur="500"/>
                                        <p:tgtEl>
                                          <p:spTgt spid="34"/>
                                        </p:tgtEl>
                                      </p:cBhvr>
                                    </p:animEffect>
                                  </p:childTnLst>
                                </p:cTn>
                              </p:par>
                              <p:par>
                                <p:cTn id="23" presetID="9"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dissolve">
                                      <p:cBhvr>
                                        <p:cTn id="2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rma libre: forma 17">
            <a:extLst>
              <a:ext uri="{FF2B5EF4-FFF2-40B4-BE49-F238E27FC236}">
                <a16:creationId xmlns:a16="http://schemas.microsoft.com/office/drawing/2014/main" id="{709DDB34-C987-476E-9652-CC5FD4442A65}"/>
              </a:ext>
            </a:extLst>
          </p:cNvPr>
          <p:cNvSpPr/>
          <p:nvPr/>
        </p:nvSpPr>
        <p:spPr>
          <a:xfrm>
            <a:off x="3693600" y="1935046"/>
            <a:ext cx="4769338" cy="3451570"/>
          </a:xfrm>
          <a:custGeom>
            <a:avLst/>
            <a:gdLst>
              <a:gd name="connsiteX0" fmla="*/ 0 w 6072553"/>
              <a:gd name="connsiteY0" fmla="*/ 5041038 h 5041038"/>
              <a:gd name="connsiteX1" fmla="*/ 3118338 w 6072553"/>
              <a:gd name="connsiteY1" fmla="*/ 115 h 5041038"/>
              <a:gd name="connsiteX2" fmla="*/ 6072553 w 6072553"/>
              <a:gd name="connsiteY2" fmla="*/ 4923807 h 5041038"/>
              <a:gd name="connsiteX0" fmla="*/ 0 w 6125713"/>
              <a:gd name="connsiteY0" fmla="*/ 5041035 h 5041035"/>
              <a:gd name="connsiteX1" fmla="*/ 3118338 w 6125713"/>
              <a:gd name="connsiteY1" fmla="*/ 112 h 5041035"/>
              <a:gd name="connsiteX2" fmla="*/ 6125713 w 6125713"/>
              <a:gd name="connsiteY2" fmla="*/ 4993662 h 5041035"/>
              <a:gd name="connsiteX0" fmla="*/ 0 w 6192163"/>
              <a:gd name="connsiteY0" fmla="*/ 5041029 h 5147344"/>
              <a:gd name="connsiteX1" fmla="*/ 3118338 w 6192163"/>
              <a:gd name="connsiteY1" fmla="*/ 106 h 5147344"/>
              <a:gd name="connsiteX2" fmla="*/ 6192163 w 6192163"/>
              <a:gd name="connsiteY2" fmla="*/ 5147343 h 5147344"/>
              <a:gd name="connsiteX0" fmla="*/ 0 w 6238678"/>
              <a:gd name="connsiteY0" fmla="*/ 5138830 h 5147343"/>
              <a:gd name="connsiteX1" fmla="*/ 3164853 w 6238678"/>
              <a:gd name="connsiteY1" fmla="*/ 106 h 5147343"/>
              <a:gd name="connsiteX2" fmla="*/ 6238678 w 6238678"/>
              <a:gd name="connsiteY2" fmla="*/ 5147343 h 5147343"/>
              <a:gd name="connsiteX0" fmla="*/ 0 w 6238678"/>
              <a:gd name="connsiteY0" fmla="*/ 5138830 h 5147343"/>
              <a:gd name="connsiteX1" fmla="*/ 3164853 w 6238678"/>
              <a:gd name="connsiteY1" fmla="*/ 106 h 5147343"/>
              <a:gd name="connsiteX2" fmla="*/ 6238678 w 6238678"/>
              <a:gd name="connsiteY2" fmla="*/ 5147343 h 5147343"/>
              <a:gd name="connsiteX0" fmla="*/ 0 w 6238678"/>
              <a:gd name="connsiteY0" fmla="*/ 5138830 h 5147343"/>
              <a:gd name="connsiteX1" fmla="*/ 3164853 w 6238678"/>
              <a:gd name="connsiteY1" fmla="*/ 106 h 5147343"/>
              <a:gd name="connsiteX2" fmla="*/ 6238678 w 6238678"/>
              <a:gd name="connsiteY2" fmla="*/ 5147343 h 5147343"/>
              <a:gd name="connsiteX0" fmla="*/ 0 w 6238678"/>
              <a:gd name="connsiteY0" fmla="*/ 5138823 h 5147336"/>
              <a:gd name="connsiteX1" fmla="*/ 3164853 w 6238678"/>
              <a:gd name="connsiteY1" fmla="*/ 99 h 5147336"/>
              <a:gd name="connsiteX2" fmla="*/ 6238678 w 6238678"/>
              <a:gd name="connsiteY2" fmla="*/ 5147336 h 5147336"/>
              <a:gd name="connsiteX0" fmla="*/ 0 w 6238678"/>
              <a:gd name="connsiteY0" fmla="*/ 5138819 h 5147332"/>
              <a:gd name="connsiteX1" fmla="*/ 3164853 w 6238678"/>
              <a:gd name="connsiteY1" fmla="*/ 95 h 5147332"/>
              <a:gd name="connsiteX2" fmla="*/ 6238678 w 6238678"/>
              <a:gd name="connsiteY2" fmla="*/ 5147332 h 5147332"/>
              <a:gd name="connsiteX0" fmla="*/ 0 w 6238678"/>
              <a:gd name="connsiteY0" fmla="*/ 5138819 h 5147332"/>
              <a:gd name="connsiteX1" fmla="*/ 3164853 w 6238678"/>
              <a:gd name="connsiteY1" fmla="*/ 95 h 5147332"/>
              <a:gd name="connsiteX2" fmla="*/ 6238678 w 6238678"/>
              <a:gd name="connsiteY2" fmla="*/ 5147332 h 5147332"/>
              <a:gd name="connsiteX0" fmla="*/ 0 w 6238678"/>
              <a:gd name="connsiteY0" fmla="*/ 5138795 h 5147308"/>
              <a:gd name="connsiteX1" fmla="*/ 3164853 w 6238678"/>
              <a:gd name="connsiteY1" fmla="*/ 71 h 5147308"/>
              <a:gd name="connsiteX2" fmla="*/ 6238678 w 6238678"/>
              <a:gd name="connsiteY2" fmla="*/ 5147308 h 5147308"/>
            </a:gdLst>
            <a:ahLst/>
            <a:cxnLst>
              <a:cxn ang="0">
                <a:pos x="connsiteX0" y="connsiteY0"/>
              </a:cxn>
              <a:cxn ang="0">
                <a:pos x="connsiteX1" y="connsiteY1"/>
              </a:cxn>
              <a:cxn ang="0">
                <a:pos x="connsiteX2" y="connsiteY2"/>
              </a:cxn>
            </a:cxnLst>
            <a:rect l="l" t="t" r="r" b="b"/>
            <a:pathLst>
              <a:path w="6238678" h="5147308">
                <a:moveTo>
                  <a:pt x="0" y="5138795"/>
                </a:moveTo>
                <a:cubicBezTo>
                  <a:pt x="1784078" y="4234167"/>
                  <a:pt x="2152761" y="19609"/>
                  <a:pt x="3164853" y="71"/>
                </a:cubicBezTo>
                <a:cubicBezTo>
                  <a:pt x="4176945" y="-19467"/>
                  <a:pt x="4470211" y="4024181"/>
                  <a:pt x="6238678" y="5147308"/>
                </a:cubicBezTo>
              </a:path>
            </a:pathLst>
          </a:custGeom>
          <a:ln w="28575"/>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noProof="0" dirty="0"/>
          </a:p>
        </p:txBody>
      </p:sp>
      <p:cxnSp>
        <p:nvCxnSpPr>
          <p:cNvPr id="26" name="Conector recto de flecha 25">
            <a:extLst>
              <a:ext uri="{FF2B5EF4-FFF2-40B4-BE49-F238E27FC236}">
                <a16:creationId xmlns:a16="http://schemas.microsoft.com/office/drawing/2014/main" id="{EFB00024-3968-4E1B-B2AF-726B8D7C80EB}"/>
              </a:ext>
            </a:extLst>
          </p:cNvPr>
          <p:cNvCxnSpPr>
            <a:cxnSpLocks/>
          </p:cNvCxnSpPr>
          <p:nvPr/>
        </p:nvCxnSpPr>
        <p:spPr>
          <a:xfrm flipV="1">
            <a:off x="1854000" y="1583473"/>
            <a:ext cx="0" cy="3803143"/>
          </a:xfrm>
          <a:prstGeom prst="straightConnector1">
            <a:avLst/>
          </a:prstGeom>
          <a:ln w="28575">
            <a:tailEnd type="stealth" w="lg" len="lg"/>
          </a:ln>
        </p:spPr>
        <p:style>
          <a:lnRef idx="3">
            <a:schemeClr val="dk1"/>
          </a:lnRef>
          <a:fillRef idx="0">
            <a:schemeClr val="dk1"/>
          </a:fillRef>
          <a:effectRef idx="2">
            <a:schemeClr val="dk1"/>
          </a:effectRef>
          <a:fontRef idx="minor">
            <a:schemeClr val="tx1"/>
          </a:fontRef>
        </p:style>
      </p:cxnSp>
      <p:sp>
        <p:nvSpPr>
          <p:cNvPr id="27" name="CuadroTexto 26">
            <a:extLst>
              <a:ext uri="{FF2B5EF4-FFF2-40B4-BE49-F238E27FC236}">
                <a16:creationId xmlns:a16="http://schemas.microsoft.com/office/drawing/2014/main" id="{786C00F8-491B-47ED-A3EF-83DCB51F6630}"/>
              </a:ext>
            </a:extLst>
          </p:cNvPr>
          <p:cNvSpPr txBox="1"/>
          <p:nvPr/>
        </p:nvSpPr>
        <p:spPr>
          <a:xfrm rot="16200000">
            <a:off x="864000" y="3429998"/>
            <a:ext cx="1248935" cy="461665"/>
          </a:xfrm>
          <a:prstGeom prst="rect">
            <a:avLst/>
          </a:prstGeom>
          <a:noFill/>
        </p:spPr>
        <p:txBody>
          <a:bodyPr wrap="square" rtlCol="0">
            <a:spAutoFit/>
          </a:bodyPr>
          <a:lstStyle/>
          <a:p>
            <a:r>
              <a:rPr lang="en-US" sz="2400" noProof="0" dirty="0"/>
              <a:t>energy</a:t>
            </a:r>
          </a:p>
        </p:txBody>
      </p:sp>
      <p:sp>
        <p:nvSpPr>
          <p:cNvPr id="28" name="Forma libre: forma 27">
            <a:extLst>
              <a:ext uri="{FF2B5EF4-FFF2-40B4-BE49-F238E27FC236}">
                <a16:creationId xmlns:a16="http://schemas.microsoft.com/office/drawing/2014/main" id="{AC4D4988-8A56-4E6F-BDDE-43C2C572DD97}"/>
              </a:ext>
            </a:extLst>
          </p:cNvPr>
          <p:cNvSpPr/>
          <p:nvPr/>
        </p:nvSpPr>
        <p:spPr>
          <a:xfrm>
            <a:off x="3711331" y="4285298"/>
            <a:ext cx="4769338" cy="1101318"/>
          </a:xfrm>
          <a:custGeom>
            <a:avLst/>
            <a:gdLst>
              <a:gd name="connsiteX0" fmla="*/ 0 w 6072553"/>
              <a:gd name="connsiteY0" fmla="*/ 5041038 h 5041038"/>
              <a:gd name="connsiteX1" fmla="*/ 3118338 w 6072553"/>
              <a:gd name="connsiteY1" fmla="*/ 115 h 5041038"/>
              <a:gd name="connsiteX2" fmla="*/ 6072553 w 6072553"/>
              <a:gd name="connsiteY2" fmla="*/ 4923807 h 5041038"/>
              <a:gd name="connsiteX0" fmla="*/ 0 w 6125713"/>
              <a:gd name="connsiteY0" fmla="*/ 5041035 h 5041035"/>
              <a:gd name="connsiteX1" fmla="*/ 3118338 w 6125713"/>
              <a:gd name="connsiteY1" fmla="*/ 112 h 5041035"/>
              <a:gd name="connsiteX2" fmla="*/ 6125713 w 6125713"/>
              <a:gd name="connsiteY2" fmla="*/ 4993662 h 5041035"/>
              <a:gd name="connsiteX0" fmla="*/ 0 w 6192163"/>
              <a:gd name="connsiteY0" fmla="*/ 5041029 h 5147344"/>
              <a:gd name="connsiteX1" fmla="*/ 3118338 w 6192163"/>
              <a:gd name="connsiteY1" fmla="*/ 106 h 5147344"/>
              <a:gd name="connsiteX2" fmla="*/ 6192163 w 6192163"/>
              <a:gd name="connsiteY2" fmla="*/ 5147343 h 5147344"/>
              <a:gd name="connsiteX0" fmla="*/ 0 w 6238678"/>
              <a:gd name="connsiteY0" fmla="*/ 5138830 h 5147343"/>
              <a:gd name="connsiteX1" fmla="*/ 3164853 w 6238678"/>
              <a:gd name="connsiteY1" fmla="*/ 106 h 5147343"/>
              <a:gd name="connsiteX2" fmla="*/ 6238678 w 6238678"/>
              <a:gd name="connsiteY2" fmla="*/ 5147343 h 5147343"/>
              <a:gd name="connsiteX0" fmla="*/ 0 w 6238678"/>
              <a:gd name="connsiteY0" fmla="*/ 5138830 h 5147343"/>
              <a:gd name="connsiteX1" fmla="*/ 3164853 w 6238678"/>
              <a:gd name="connsiteY1" fmla="*/ 106 h 5147343"/>
              <a:gd name="connsiteX2" fmla="*/ 6238678 w 6238678"/>
              <a:gd name="connsiteY2" fmla="*/ 5147343 h 5147343"/>
              <a:gd name="connsiteX0" fmla="*/ 0 w 6238678"/>
              <a:gd name="connsiteY0" fmla="*/ 5138830 h 5147343"/>
              <a:gd name="connsiteX1" fmla="*/ 3164853 w 6238678"/>
              <a:gd name="connsiteY1" fmla="*/ 106 h 5147343"/>
              <a:gd name="connsiteX2" fmla="*/ 6238678 w 6238678"/>
              <a:gd name="connsiteY2" fmla="*/ 5147343 h 5147343"/>
              <a:gd name="connsiteX0" fmla="*/ 0 w 6238678"/>
              <a:gd name="connsiteY0" fmla="*/ 5138823 h 5147336"/>
              <a:gd name="connsiteX1" fmla="*/ 3164853 w 6238678"/>
              <a:gd name="connsiteY1" fmla="*/ 99 h 5147336"/>
              <a:gd name="connsiteX2" fmla="*/ 6238678 w 6238678"/>
              <a:gd name="connsiteY2" fmla="*/ 5147336 h 5147336"/>
              <a:gd name="connsiteX0" fmla="*/ 0 w 6238678"/>
              <a:gd name="connsiteY0" fmla="*/ 5138819 h 5147332"/>
              <a:gd name="connsiteX1" fmla="*/ 3164853 w 6238678"/>
              <a:gd name="connsiteY1" fmla="*/ 95 h 5147332"/>
              <a:gd name="connsiteX2" fmla="*/ 6238678 w 6238678"/>
              <a:gd name="connsiteY2" fmla="*/ 5147332 h 5147332"/>
              <a:gd name="connsiteX0" fmla="*/ 0 w 6238678"/>
              <a:gd name="connsiteY0" fmla="*/ 5138819 h 5147332"/>
              <a:gd name="connsiteX1" fmla="*/ 3164853 w 6238678"/>
              <a:gd name="connsiteY1" fmla="*/ 95 h 5147332"/>
              <a:gd name="connsiteX2" fmla="*/ 6238678 w 6238678"/>
              <a:gd name="connsiteY2" fmla="*/ 5147332 h 5147332"/>
              <a:gd name="connsiteX0" fmla="*/ 0 w 6238678"/>
              <a:gd name="connsiteY0" fmla="*/ 5138795 h 5147308"/>
              <a:gd name="connsiteX1" fmla="*/ 3164853 w 6238678"/>
              <a:gd name="connsiteY1" fmla="*/ 71 h 5147308"/>
              <a:gd name="connsiteX2" fmla="*/ 6238678 w 6238678"/>
              <a:gd name="connsiteY2" fmla="*/ 5147308 h 5147308"/>
            </a:gdLst>
            <a:ahLst/>
            <a:cxnLst>
              <a:cxn ang="0">
                <a:pos x="connsiteX0" y="connsiteY0"/>
              </a:cxn>
              <a:cxn ang="0">
                <a:pos x="connsiteX1" y="connsiteY1"/>
              </a:cxn>
              <a:cxn ang="0">
                <a:pos x="connsiteX2" y="connsiteY2"/>
              </a:cxn>
            </a:cxnLst>
            <a:rect l="l" t="t" r="r" b="b"/>
            <a:pathLst>
              <a:path w="6238678" h="5147308">
                <a:moveTo>
                  <a:pt x="0" y="5138795"/>
                </a:moveTo>
                <a:cubicBezTo>
                  <a:pt x="1784078" y="4234167"/>
                  <a:pt x="2152761" y="19609"/>
                  <a:pt x="3164853" y="71"/>
                </a:cubicBezTo>
                <a:cubicBezTo>
                  <a:pt x="4176945" y="-19467"/>
                  <a:pt x="4470211" y="4024181"/>
                  <a:pt x="6238678" y="5147308"/>
                </a:cubicBezTo>
              </a:path>
            </a:pathLst>
          </a:custGeom>
          <a:ln w="28575">
            <a:solidFill>
              <a:schemeClr val="accent2">
                <a:lumMod val="60000"/>
                <a:lumOff val="40000"/>
              </a:schemeClr>
            </a:solidFill>
            <a:prstDash val="dashDot"/>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noProof="0" dirty="0">
              <a:solidFill>
                <a:schemeClr val="accent5">
                  <a:lumMod val="20000"/>
                  <a:lumOff val="80000"/>
                </a:schemeClr>
              </a:solidFill>
            </a:endParaRPr>
          </a:p>
        </p:txBody>
      </p:sp>
      <p:sp>
        <p:nvSpPr>
          <p:cNvPr id="29" name="Título 1">
            <a:extLst>
              <a:ext uri="{FF2B5EF4-FFF2-40B4-BE49-F238E27FC236}">
                <a16:creationId xmlns:a16="http://schemas.microsoft.com/office/drawing/2014/main" id="{C4B4CBEB-972B-4E55-9EAE-038A712F509D}"/>
              </a:ext>
            </a:extLst>
          </p:cNvPr>
          <p:cNvSpPr>
            <a:spLocks noGrp="1"/>
          </p:cNvSpPr>
          <p:nvPr>
            <p:ph type="title"/>
          </p:nvPr>
        </p:nvSpPr>
        <p:spPr>
          <a:xfrm>
            <a:off x="2889908" y="238709"/>
            <a:ext cx="6412184" cy="375552"/>
          </a:xfrm>
        </p:spPr>
        <p:txBody>
          <a:bodyPr>
            <a:noAutofit/>
          </a:bodyPr>
          <a:lstStyle/>
          <a:p>
            <a:r>
              <a:rPr lang="en-US" dirty="0">
                <a:solidFill>
                  <a:schemeClr val="accent5"/>
                </a:solidFill>
              </a:rPr>
              <a:t>C</a:t>
            </a:r>
            <a:r>
              <a:rPr lang="en-US" noProof="0" dirty="0" err="1">
                <a:solidFill>
                  <a:schemeClr val="accent5"/>
                </a:solidFill>
              </a:rPr>
              <a:t>atalysis</a:t>
            </a:r>
            <a:endParaRPr lang="en-US" noProof="0" dirty="0">
              <a:solidFill>
                <a:schemeClr val="accent5"/>
              </a:solidFill>
            </a:endParaRPr>
          </a:p>
        </p:txBody>
      </p:sp>
      <p:sp>
        <p:nvSpPr>
          <p:cNvPr id="35" name="Título 1">
            <a:extLst>
              <a:ext uri="{FF2B5EF4-FFF2-40B4-BE49-F238E27FC236}">
                <a16:creationId xmlns:a16="http://schemas.microsoft.com/office/drawing/2014/main" id="{BAB5D443-2E38-4913-B20A-CA2A3D5DC612}"/>
              </a:ext>
            </a:extLst>
          </p:cNvPr>
          <p:cNvSpPr txBox="1">
            <a:spLocks/>
          </p:cNvSpPr>
          <p:nvPr/>
        </p:nvSpPr>
        <p:spPr>
          <a:xfrm>
            <a:off x="1042009" y="6016360"/>
            <a:ext cx="10989164" cy="5934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noProof="0" dirty="0">
                <a:solidFill>
                  <a:schemeClr val="accent2"/>
                </a:solidFill>
              </a:rPr>
              <a:t>catalyst: </a:t>
            </a:r>
            <a:r>
              <a:rPr lang="en-US" sz="1400" noProof="0" dirty="0">
                <a:latin typeface="+mn-lt"/>
              </a:rPr>
              <a:t>substance that increases the rate of a chemical reaction without itself undergoing any permanent chemical change</a:t>
            </a:r>
            <a:r>
              <a:rPr lang="en-US" sz="1400" noProof="0" dirty="0">
                <a:solidFill>
                  <a:schemeClr val="accent3"/>
                </a:solidFill>
                <a:latin typeface="+mn-lt"/>
              </a:rPr>
              <a:t>.</a:t>
            </a:r>
            <a:endParaRPr lang="en-US" sz="1800" noProof="0" dirty="0">
              <a:solidFill>
                <a:schemeClr val="accent3"/>
              </a:solidFill>
              <a:latin typeface="+mn-lt"/>
            </a:endParaRPr>
          </a:p>
        </p:txBody>
      </p:sp>
      <p:sp>
        <p:nvSpPr>
          <p:cNvPr id="36" name="Título 1">
            <a:extLst>
              <a:ext uri="{FF2B5EF4-FFF2-40B4-BE49-F238E27FC236}">
                <a16:creationId xmlns:a16="http://schemas.microsoft.com/office/drawing/2014/main" id="{62187800-7E72-4C3D-B2A4-B22722E3B570}"/>
              </a:ext>
            </a:extLst>
          </p:cNvPr>
          <p:cNvSpPr txBox="1">
            <a:spLocks/>
          </p:cNvSpPr>
          <p:nvPr/>
        </p:nvSpPr>
        <p:spPr>
          <a:xfrm>
            <a:off x="5684680" y="3731328"/>
            <a:ext cx="828415" cy="593408"/>
          </a:xfrm>
          <a:prstGeom prst="rect">
            <a:avLst/>
          </a:prstGeom>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noProof="0" dirty="0">
                <a:solidFill>
                  <a:schemeClr val="accent2"/>
                </a:solidFill>
              </a:rPr>
              <a:t>[</a:t>
            </a:r>
            <a:r>
              <a:rPr lang="en-US" sz="1800" dirty="0">
                <a:solidFill>
                  <a:schemeClr val="accent2"/>
                </a:solidFill>
              </a:rPr>
              <a:t>Cat</a:t>
            </a:r>
            <a:r>
              <a:rPr lang="en-US" sz="1800" noProof="0" dirty="0">
                <a:solidFill>
                  <a:schemeClr val="accent2"/>
                </a:solidFill>
              </a:rPr>
              <a:t>]</a:t>
            </a:r>
            <a:endParaRPr lang="en-US" sz="1800" noProof="0" dirty="0">
              <a:solidFill>
                <a:schemeClr val="accent2"/>
              </a:solidFill>
              <a:latin typeface="+mn-lt"/>
            </a:endParaRPr>
          </a:p>
        </p:txBody>
      </p:sp>
      <p:pic>
        <p:nvPicPr>
          <p:cNvPr id="4" name="Picture 3">
            <a:extLst>
              <a:ext uri="{FF2B5EF4-FFF2-40B4-BE49-F238E27FC236}">
                <a16:creationId xmlns:a16="http://schemas.microsoft.com/office/drawing/2014/main" id="{87BF447D-8DB4-53E2-0186-FEF08D15B3C8}"/>
              </a:ext>
            </a:extLst>
          </p:cNvPr>
          <p:cNvPicPr>
            <a:picLocks noChangeAspect="1"/>
          </p:cNvPicPr>
          <p:nvPr/>
        </p:nvPicPr>
        <p:blipFill>
          <a:blip r:embed="rId3"/>
          <a:stretch>
            <a:fillRect/>
          </a:stretch>
        </p:blipFill>
        <p:spPr>
          <a:xfrm>
            <a:off x="2320948" y="4954728"/>
            <a:ext cx="1137920" cy="497840"/>
          </a:xfrm>
          <a:prstGeom prst="rect">
            <a:avLst/>
          </a:prstGeom>
        </p:spPr>
      </p:pic>
      <p:pic>
        <p:nvPicPr>
          <p:cNvPr id="7" name="Picture 6">
            <a:extLst>
              <a:ext uri="{FF2B5EF4-FFF2-40B4-BE49-F238E27FC236}">
                <a16:creationId xmlns:a16="http://schemas.microsoft.com/office/drawing/2014/main" id="{AAC8754D-E776-CE30-0007-6BF733F04B4C}"/>
              </a:ext>
            </a:extLst>
          </p:cNvPr>
          <p:cNvPicPr>
            <a:picLocks noChangeAspect="1"/>
          </p:cNvPicPr>
          <p:nvPr/>
        </p:nvPicPr>
        <p:blipFill>
          <a:blip r:embed="rId4"/>
          <a:stretch>
            <a:fillRect/>
          </a:stretch>
        </p:blipFill>
        <p:spPr>
          <a:xfrm>
            <a:off x="8498400" y="4936713"/>
            <a:ext cx="1137920" cy="497840"/>
          </a:xfrm>
          <a:prstGeom prst="rect">
            <a:avLst/>
          </a:prstGeom>
        </p:spPr>
      </p:pic>
      <p:sp>
        <p:nvSpPr>
          <p:cNvPr id="2" name="Slide Number Placeholder 1">
            <a:extLst>
              <a:ext uri="{FF2B5EF4-FFF2-40B4-BE49-F238E27FC236}">
                <a16:creationId xmlns:a16="http://schemas.microsoft.com/office/drawing/2014/main" id="{E2C9F39C-E65C-5421-5C46-2606D84C8199}"/>
              </a:ext>
            </a:extLst>
          </p:cNvPr>
          <p:cNvSpPr>
            <a:spLocks noGrp="1"/>
          </p:cNvSpPr>
          <p:nvPr>
            <p:ph type="sldNum" sz="quarter" idx="12"/>
          </p:nvPr>
        </p:nvSpPr>
        <p:spPr/>
        <p:txBody>
          <a:bodyPr/>
          <a:lstStyle/>
          <a:p>
            <a:fld id="{F239F8D8-5C05-A645-B085-4DA653486E73}" type="slidenum">
              <a:rPr lang="en-US" smtClean="0"/>
              <a:pPr/>
              <a:t>2</a:t>
            </a:fld>
            <a:endParaRPr lang="en-US"/>
          </a:p>
        </p:txBody>
      </p:sp>
    </p:spTree>
    <p:extLst>
      <p:ext uri="{BB962C8B-B14F-4D97-AF65-F5344CB8AC3E}">
        <p14:creationId xmlns:p14="http://schemas.microsoft.com/office/powerpoint/2010/main" val="325331796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22" presetClass="entr" presetSubtype="8"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animEffect transition="in" filter="wipe(left)">
                                      <p:cBhvr>
                                        <p:cTn id="9" dur="500"/>
                                        <p:tgtEl>
                                          <p:spTgt spid="28"/>
                                        </p:tgtEl>
                                      </p:cBhvr>
                                    </p:animEffect>
                                  </p:childTnLst>
                                </p:cTn>
                              </p:par>
                              <p:par>
                                <p:cTn id="10" presetID="9" presetClass="emph" presetSubtype="0" grpId="0" nodeType="withEffect">
                                  <p:stCondLst>
                                    <p:cond delay="0"/>
                                  </p:stCondLst>
                                  <p:childTnLst>
                                    <p:set>
                                      <p:cBhvr>
                                        <p:cTn id="11" dur="indefinite"/>
                                        <p:tgtEl>
                                          <p:spTgt spid="18"/>
                                        </p:tgtEl>
                                        <p:attrNameLst>
                                          <p:attrName>style.opacity</p:attrName>
                                        </p:attrNameLst>
                                      </p:cBhvr>
                                      <p:to>
                                        <p:strVal val="0.25"/>
                                      </p:to>
                                    </p:set>
                                    <p:animEffect filter="image" prLst="opacity: 0.25">
                                      <p:cBhvr rctx="IE">
                                        <p:cTn id="12" dur="indefinite"/>
                                        <p:tgtEl>
                                          <p:spTgt spid="18"/>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8" grpId="0" animBg="1"/>
      <p:bldP spid="35" grpId="0"/>
      <p:bldP spid="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ítulo 1">
            <a:extLst>
              <a:ext uri="{FF2B5EF4-FFF2-40B4-BE49-F238E27FC236}">
                <a16:creationId xmlns:a16="http://schemas.microsoft.com/office/drawing/2014/main" id="{C4B4CBEB-972B-4E55-9EAE-038A712F509D}"/>
              </a:ext>
            </a:extLst>
          </p:cNvPr>
          <p:cNvSpPr>
            <a:spLocks noGrp="1"/>
          </p:cNvSpPr>
          <p:nvPr>
            <p:ph type="title"/>
          </p:nvPr>
        </p:nvSpPr>
        <p:spPr/>
        <p:txBody>
          <a:bodyPr>
            <a:noAutofit/>
          </a:bodyPr>
          <a:lstStyle/>
          <a:p>
            <a:r>
              <a:rPr lang="en-US" noProof="0" dirty="0">
                <a:solidFill>
                  <a:schemeClr val="accent1"/>
                </a:solidFill>
              </a:rPr>
              <a:t>Typical “organometallic catalyst”</a:t>
            </a:r>
          </a:p>
        </p:txBody>
      </p:sp>
      <p:sp>
        <p:nvSpPr>
          <p:cNvPr id="10" name="Título 1">
            <a:extLst>
              <a:ext uri="{FF2B5EF4-FFF2-40B4-BE49-F238E27FC236}">
                <a16:creationId xmlns:a16="http://schemas.microsoft.com/office/drawing/2014/main" id="{5FFB6628-7260-FA08-9BCF-2B15156F469A}"/>
              </a:ext>
            </a:extLst>
          </p:cNvPr>
          <p:cNvSpPr txBox="1">
            <a:spLocks/>
          </p:cNvSpPr>
          <p:nvPr/>
        </p:nvSpPr>
        <p:spPr>
          <a:xfrm>
            <a:off x="3028242" y="4701160"/>
            <a:ext cx="6135515" cy="5934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noProof="0" dirty="0">
                <a:latin typeface="+mn-lt"/>
              </a:rPr>
              <a:t>Catalyst contains both </a:t>
            </a:r>
            <a:r>
              <a:rPr lang="en-US" sz="1800" noProof="0" dirty="0">
                <a:solidFill>
                  <a:schemeClr val="accent4"/>
                </a:solidFill>
                <a:latin typeface="+mn-lt"/>
              </a:rPr>
              <a:t>metal</a:t>
            </a:r>
            <a:r>
              <a:rPr lang="en-US" sz="1800" noProof="0" dirty="0">
                <a:latin typeface="+mn-lt"/>
              </a:rPr>
              <a:t> and </a:t>
            </a:r>
            <a:r>
              <a:rPr lang="en-US" sz="1800" noProof="0" dirty="0">
                <a:solidFill>
                  <a:schemeClr val="tx2"/>
                </a:solidFill>
                <a:latin typeface="+mn-lt"/>
              </a:rPr>
              <a:t>organic</a:t>
            </a:r>
            <a:r>
              <a:rPr lang="en-US" sz="1800" noProof="0" dirty="0">
                <a:latin typeface="+mn-lt"/>
              </a:rPr>
              <a:t> ligands</a:t>
            </a:r>
          </a:p>
        </p:txBody>
      </p:sp>
      <p:pic>
        <p:nvPicPr>
          <p:cNvPr id="3" name="Picture 2">
            <a:extLst>
              <a:ext uri="{FF2B5EF4-FFF2-40B4-BE49-F238E27FC236}">
                <a16:creationId xmlns:a16="http://schemas.microsoft.com/office/drawing/2014/main" id="{D41CDCD5-A9D6-F39F-85FA-08E87252B739}"/>
              </a:ext>
            </a:extLst>
          </p:cNvPr>
          <p:cNvPicPr>
            <a:picLocks noChangeAspect="1"/>
          </p:cNvPicPr>
          <p:nvPr/>
        </p:nvPicPr>
        <p:blipFill>
          <a:blip r:embed="rId3"/>
          <a:stretch>
            <a:fillRect/>
          </a:stretch>
        </p:blipFill>
        <p:spPr>
          <a:xfrm>
            <a:off x="4992759" y="2039755"/>
            <a:ext cx="2552700" cy="2552700"/>
          </a:xfrm>
          <a:prstGeom prst="rect">
            <a:avLst/>
          </a:prstGeom>
        </p:spPr>
      </p:pic>
      <p:sp>
        <p:nvSpPr>
          <p:cNvPr id="2" name="Slide Number Placeholder 1">
            <a:extLst>
              <a:ext uri="{FF2B5EF4-FFF2-40B4-BE49-F238E27FC236}">
                <a16:creationId xmlns:a16="http://schemas.microsoft.com/office/drawing/2014/main" id="{3FDA9A2E-85E9-A811-C16A-D85CB094F41A}"/>
              </a:ext>
            </a:extLst>
          </p:cNvPr>
          <p:cNvSpPr>
            <a:spLocks noGrp="1"/>
          </p:cNvSpPr>
          <p:nvPr>
            <p:ph type="sldNum" sz="quarter" idx="12"/>
          </p:nvPr>
        </p:nvSpPr>
        <p:spPr/>
        <p:txBody>
          <a:bodyPr/>
          <a:lstStyle/>
          <a:p>
            <a:r>
              <a:rPr lang="en-US" dirty="0"/>
              <a:t>4</a:t>
            </a:r>
          </a:p>
        </p:txBody>
      </p:sp>
    </p:spTree>
    <p:extLst>
      <p:ext uri="{BB962C8B-B14F-4D97-AF65-F5344CB8AC3E}">
        <p14:creationId xmlns:p14="http://schemas.microsoft.com/office/powerpoint/2010/main" val="21488648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6EBB7-02A0-B274-0890-6B9D49CB6A1D}"/>
            </a:ext>
          </a:extLst>
        </p:cNvPr>
        <p:cNvGrpSpPr/>
        <p:nvPr/>
      </p:nvGrpSpPr>
      <p:grpSpPr>
        <a:xfrm>
          <a:off x="0" y="0"/>
          <a:ext cx="0" cy="0"/>
          <a:chOff x="0" y="0"/>
          <a:chExt cx="0" cy="0"/>
        </a:xfrm>
      </p:grpSpPr>
      <p:pic>
        <p:nvPicPr>
          <p:cNvPr id="6148" name="Picture 4" descr="Transition Metals - The Periodic Table Classification Of Elements Into  Groups By Electronic Structure - MCAT Content">
            <a:extLst>
              <a:ext uri="{FF2B5EF4-FFF2-40B4-BE49-F238E27FC236}">
                <a16:creationId xmlns:a16="http://schemas.microsoft.com/office/drawing/2014/main" id="{D0CE12C9-CC8B-D920-9354-ED8E3A0F2F1F}"/>
              </a:ext>
            </a:extLst>
          </p:cNvPr>
          <p:cNvPicPr>
            <a:picLocks noChangeAspect="1" noChangeArrowheads="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6707" y="3148590"/>
            <a:ext cx="5726402" cy="3709410"/>
          </a:xfrm>
          <a:prstGeom prst="rect">
            <a:avLst/>
          </a:prstGeom>
          <a:noFill/>
          <a:extLst>
            <a:ext uri="{909E8E84-426E-40DD-AFC4-6F175D3DCCD1}">
              <a14:hiddenFill xmlns:a14="http://schemas.microsoft.com/office/drawing/2010/main">
                <a:solidFill>
                  <a:srgbClr val="FFFFFF"/>
                </a:solidFill>
              </a14:hiddenFill>
            </a:ext>
          </a:extLst>
        </p:spPr>
      </p:pic>
      <p:sp>
        <p:nvSpPr>
          <p:cNvPr id="29" name="Título 1">
            <a:extLst>
              <a:ext uri="{FF2B5EF4-FFF2-40B4-BE49-F238E27FC236}">
                <a16:creationId xmlns:a16="http://schemas.microsoft.com/office/drawing/2014/main" id="{F22FFB6F-C410-9BA5-7C38-333A8B2454E6}"/>
              </a:ext>
            </a:extLst>
          </p:cNvPr>
          <p:cNvSpPr>
            <a:spLocks noGrp="1"/>
          </p:cNvSpPr>
          <p:nvPr>
            <p:ph type="title"/>
          </p:nvPr>
        </p:nvSpPr>
        <p:spPr/>
        <p:txBody>
          <a:bodyPr>
            <a:noAutofit/>
          </a:bodyPr>
          <a:lstStyle/>
          <a:p>
            <a:r>
              <a:rPr lang="en-US" noProof="0" dirty="0">
                <a:solidFill>
                  <a:schemeClr val="accent1"/>
                </a:solidFill>
              </a:rPr>
              <a:t>Typical “organometallic catalyst”</a:t>
            </a:r>
          </a:p>
        </p:txBody>
      </p:sp>
      <p:sp>
        <p:nvSpPr>
          <p:cNvPr id="15" name="Título 1">
            <a:extLst>
              <a:ext uri="{FF2B5EF4-FFF2-40B4-BE49-F238E27FC236}">
                <a16:creationId xmlns:a16="http://schemas.microsoft.com/office/drawing/2014/main" id="{7C532B62-380E-1CE6-660F-2E6EEB56E32C}"/>
              </a:ext>
            </a:extLst>
          </p:cNvPr>
          <p:cNvSpPr txBox="1">
            <a:spLocks/>
          </p:cNvSpPr>
          <p:nvPr/>
        </p:nvSpPr>
        <p:spPr>
          <a:xfrm>
            <a:off x="3118656" y="2641513"/>
            <a:ext cx="6135515" cy="5934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noProof="0" dirty="0">
                <a:latin typeface="+mn-lt"/>
              </a:rPr>
              <a:t>Catalyst contains both </a:t>
            </a:r>
            <a:r>
              <a:rPr lang="en-US" sz="1800" noProof="0" dirty="0">
                <a:solidFill>
                  <a:schemeClr val="accent4"/>
                </a:solidFill>
                <a:latin typeface="+mn-lt"/>
              </a:rPr>
              <a:t>metal</a:t>
            </a:r>
            <a:r>
              <a:rPr lang="en-US" sz="1800" noProof="0" dirty="0">
                <a:latin typeface="+mn-lt"/>
              </a:rPr>
              <a:t> and </a:t>
            </a:r>
            <a:r>
              <a:rPr lang="en-US" sz="1800" noProof="0" dirty="0">
                <a:solidFill>
                  <a:schemeClr val="tx2"/>
                </a:solidFill>
                <a:latin typeface="+mn-lt"/>
              </a:rPr>
              <a:t>organic</a:t>
            </a:r>
            <a:r>
              <a:rPr lang="en-US" sz="1800" noProof="0" dirty="0">
                <a:latin typeface="+mn-lt"/>
              </a:rPr>
              <a:t> ligands</a:t>
            </a:r>
          </a:p>
        </p:txBody>
      </p:sp>
      <p:pic>
        <p:nvPicPr>
          <p:cNvPr id="19" name="Picture 18">
            <a:extLst>
              <a:ext uri="{FF2B5EF4-FFF2-40B4-BE49-F238E27FC236}">
                <a16:creationId xmlns:a16="http://schemas.microsoft.com/office/drawing/2014/main" id="{BA9DCEBF-0A60-C92F-8795-CEBCBBF24C5A}"/>
              </a:ext>
            </a:extLst>
          </p:cNvPr>
          <p:cNvPicPr>
            <a:picLocks noChangeAspect="1"/>
          </p:cNvPicPr>
          <p:nvPr/>
        </p:nvPicPr>
        <p:blipFill>
          <a:blip r:embed="rId5"/>
          <a:stretch>
            <a:fillRect/>
          </a:stretch>
        </p:blipFill>
        <p:spPr>
          <a:xfrm>
            <a:off x="6017166" y="3429000"/>
            <a:ext cx="5726402" cy="3205076"/>
          </a:xfrm>
          <a:prstGeom prst="rect">
            <a:avLst/>
          </a:prstGeom>
        </p:spPr>
      </p:pic>
      <p:sp>
        <p:nvSpPr>
          <p:cNvPr id="2" name="Rectangle 1">
            <a:extLst>
              <a:ext uri="{FF2B5EF4-FFF2-40B4-BE49-F238E27FC236}">
                <a16:creationId xmlns:a16="http://schemas.microsoft.com/office/drawing/2014/main" id="{9B4D7AC9-C228-34C4-9F56-973051BDD9EE}"/>
              </a:ext>
            </a:extLst>
          </p:cNvPr>
          <p:cNvSpPr/>
          <p:nvPr/>
        </p:nvSpPr>
        <p:spPr>
          <a:xfrm>
            <a:off x="5955320" y="3336012"/>
            <a:ext cx="5850094" cy="3429000"/>
          </a:xfrm>
          <a:prstGeom prst="rect">
            <a:avLst/>
          </a:prstGeom>
          <a:noFill/>
          <a:ln w="19050">
            <a:solidFill>
              <a:srgbClr val="9FBD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17">
            <a:extLst>
              <a:ext uri="{FF2B5EF4-FFF2-40B4-BE49-F238E27FC236}">
                <a16:creationId xmlns:a16="http://schemas.microsoft.com/office/drawing/2014/main" id="{0DD9DB86-FD9C-68BE-8D41-C9830A597014}"/>
              </a:ext>
            </a:extLst>
          </p:cNvPr>
          <p:cNvSpPr/>
          <p:nvPr/>
        </p:nvSpPr>
        <p:spPr>
          <a:xfrm>
            <a:off x="7892764" y="3177223"/>
            <a:ext cx="1975207" cy="261831"/>
          </a:xfrm>
          <a:prstGeom prst="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2"/>
                </a:solidFill>
              </a:rPr>
              <a:t>organic ligands</a:t>
            </a:r>
            <a:endParaRPr lang="en-US" i="1" noProof="0" dirty="0">
              <a:solidFill>
                <a:schemeClr val="tx2"/>
              </a:solidFill>
            </a:endParaRPr>
          </a:p>
        </p:txBody>
      </p:sp>
      <p:pic>
        <p:nvPicPr>
          <p:cNvPr id="4" name="Picture 3">
            <a:extLst>
              <a:ext uri="{FF2B5EF4-FFF2-40B4-BE49-F238E27FC236}">
                <a16:creationId xmlns:a16="http://schemas.microsoft.com/office/drawing/2014/main" id="{14835E97-FD32-D916-72C1-7CF0AE82E8A4}"/>
              </a:ext>
            </a:extLst>
          </p:cNvPr>
          <p:cNvPicPr>
            <a:picLocks noChangeAspect="1"/>
          </p:cNvPicPr>
          <p:nvPr/>
        </p:nvPicPr>
        <p:blipFill>
          <a:blip r:embed="rId6"/>
          <a:stretch>
            <a:fillRect/>
          </a:stretch>
        </p:blipFill>
        <p:spPr>
          <a:xfrm>
            <a:off x="5110204" y="427499"/>
            <a:ext cx="2127250" cy="2127250"/>
          </a:xfrm>
          <a:prstGeom prst="rect">
            <a:avLst/>
          </a:prstGeom>
        </p:spPr>
      </p:pic>
      <p:sp>
        <p:nvSpPr>
          <p:cNvPr id="5" name="Slide Number Placeholder 4">
            <a:extLst>
              <a:ext uri="{FF2B5EF4-FFF2-40B4-BE49-F238E27FC236}">
                <a16:creationId xmlns:a16="http://schemas.microsoft.com/office/drawing/2014/main" id="{97295035-6141-55CE-FED1-7653B431CAA2}"/>
              </a:ext>
            </a:extLst>
          </p:cNvPr>
          <p:cNvSpPr>
            <a:spLocks noGrp="1"/>
          </p:cNvSpPr>
          <p:nvPr>
            <p:ph type="sldNum" sz="quarter" idx="12"/>
          </p:nvPr>
        </p:nvSpPr>
        <p:spPr/>
        <p:txBody>
          <a:bodyPr/>
          <a:lstStyle/>
          <a:p>
            <a:r>
              <a:rPr lang="en-US" dirty="0"/>
              <a:t>4</a:t>
            </a:r>
          </a:p>
        </p:txBody>
      </p:sp>
    </p:spTree>
    <p:extLst>
      <p:ext uri="{BB962C8B-B14F-4D97-AF65-F5344CB8AC3E}">
        <p14:creationId xmlns:p14="http://schemas.microsoft.com/office/powerpoint/2010/main" val="17211535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AAA88-554B-9ECF-DC02-D6C27A98FE67}"/>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99A5D131-E8E8-D04D-1189-DF8EF3A16A9C}"/>
              </a:ext>
            </a:extLst>
          </p:cNvPr>
          <p:cNvPicPr>
            <a:picLocks noChangeAspect="1"/>
          </p:cNvPicPr>
          <p:nvPr/>
        </p:nvPicPr>
        <p:blipFill>
          <a:blip r:embed="rId3"/>
          <a:stretch>
            <a:fillRect/>
          </a:stretch>
        </p:blipFill>
        <p:spPr>
          <a:xfrm>
            <a:off x="3597837" y="3371838"/>
            <a:ext cx="5003800" cy="1066800"/>
          </a:xfrm>
          <a:prstGeom prst="rect">
            <a:avLst/>
          </a:prstGeom>
        </p:spPr>
      </p:pic>
      <p:sp>
        <p:nvSpPr>
          <p:cNvPr id="2" name="Title 1">
            <a:extLst>
              <a:ext uri="{FF2B5EF4-FFF2-40B4-BE49-F238E27FC236}">
                <a16:creationId xmlns:a16="http://schemas.microsoft.com/office/drawing/2014/main" id="{48590FB6-4974-38C2-1774-2CD2033176A9}"/>
              </a:ext>
            </a:extLst>
          </p:cNvPr>
          <p:cNvSpPr>
            <a:spLocks noGrp="1"/>
          </p:cNvSpPr>
          <p:nvPr>
            <p:ph type="title"/>
          </p:nvPr>
        </p:nvSpPr>
        <p:spPr/>
        <p:txBody>
          <a:bodyPr/>
          <a:lstStyle/>
          <a:p>
            <a:r>
              <a:rPr lang="en-US" noProof="0" dirty="0"/>
              <a:t>Organometallic reactions</a:t>
            </a:r>
          </a:p>
        </p:txBody>
      </p:sp>
      <p:sp>
        <p:nvSpPr>
          <p:cNvPr id="8" name="Rectángulo 17">
            <a:extLst>
              <a:ext uri="{FF2B5EF4-FFF2-40B4-BE49-F238E27FC236}">
                <a16:creationId xmlns:a16="http://schemas.microsoft.com/office/drawing/2014/main" id="{E3791950-EE07-175B-B8EC-B42C47238A60}"/>
              </a:ext>
            </a:extLst>
          </p:cNvPr>
          <p:cNvSpPr/>
          <p:nvPr/>
        </p:nvSpPr>
        <p:spPr>
          <a:xfrm>
            <a:off x="4390208" y="640014"/>
            <a:ext cx="3445565" cy="261831"/>
          </a:xfrm>
          <a:prstGeom prst="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noProof="0" dirty="0">
                <a:solidFill>
                  <a:schemeClr val="accent5">
                    <a:alpha val="35000"/>
                  </a:schemeClr>
                </a:solidFill>
              </a:rPr>
              <a:t>Cross coupling</a:t>
            </a:r>
          </a:p>
        </p:txBody>
      </p:sp>
      <p:sp>
        <p:nvSpPr>
          <p:cNvPr id="3" name="Rectángulo 17">
            <a:extLst>
              <a:ext uri="{FF2B5EF4-FFF2-40B4-BE49-F238E27FC236}">
                <a16:creationId xmlns:a16="http://schemas.microsoft.com/office/drawing/2014/main" id="{2B68FAE7-DFAA-A0B7-449E-D1F48F9CA7A1}"/>
              </a:ext>
            </a:extLst>
          </p:cNvPr>
          <p:cNvSpPr/>
          <p:nvPr/>
        </p:nvSpPr>
        <p:spPr>
          <a:xfrm>
            <a:off x="4373218" y="5808737"/>
            <a:ext cx="3445565" cy="261831"/>
          </a:xfrm>
          <a:prstGeom prst="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noProof="0" dirty="0">
                <a:solidFill>
                  <a:srgbClr val="105492"/>
                </a:solidFill>
              </a:rPr>
              <a:t>C-H functionalization</a:t>
            </a:r>
          </a:p>
        </p:txBody>
      </p:sp>
      <p:pic>
        <p:nvPicPr>
          <p:cNvPr id="5" name="Picture 4">
            <a:extLst>
              <a:ext uri="{FF2B5EF4-FFF2-40B4-BE49-F238E27FC236}">
                <a16:creationId xmlns:a16="http://schemas.microsoft.com/office/drawing/2014/main" id="{C27C82C2-4029-245B-FC53-735399D9F6E8}"/>
              </a:ext>
            </a:extLst>
          </p:cNvPr>
          <p:cNvPicPr>
            <a:picLocks noChangeAspect="1"/>
          </p:cNvPicPr>
          <p:nvPr/>
        </p:nvPicPr>
        <p:blipFill>
          <a:blip r:embed="rId4">
            <a:alphaModFix amt="35000"/>
          </a:blip>
          <a:stretch>
            <a:fillRect/>
          </a:stretch>
        </p:blipFill>
        <p:spPr>
          <a:xfrm>
            <a:off x="3073400" y="1221065"/>
            <a:ext cx="6045200" cy="1143000"/>
          </a:xfrm>
          <a:prstGeom prst="rect">
            <a:avLst/>
          </a:prstGeom>
        </p:spPr>
      </p:pic>
      <p:pic>
        <p:nvPicPr>
          <p:cNvPr id="7" name="Picture 6">
            <a:extLst>
              <a:ext uri="{FF2B5EF4-FFF2-40B4-BE49-F238E27FC236}">
                <a16:creationId xmlns:a16="http://schemas.microsoft.com/office/drawing/2014/main" id="{D57413BF-BAE0-DD92-E381-02450685806D}"/>
              </a:ext>
            </a:extLst>
          </p:cNvPr>
          <p:cNvPicPr>
            <a:picLocks noChangeAspect="1"/>
          </p:cNvPicPr>
          <p:nvPr/>
        </p:nvPicPr>
        <p:blipFill>
          <a:blip r:embed="rId5"/>
          <a:stretch>
            <a:fillRect/>
          </a:stretch>
        </p:blipFill>
        <p:spPr>
          <a:xfrm>
            <a:off x="3090390" y="4425823"/>
            <a:ext cx="6045200" cy="1143000"/>
          </a:xfrm>
          <a:prstGeom prst="rect">
            <a:avLst/>
          </a:prstGeom>
        </p:spPr>
      </p:pic>
      <p:sp>
        <p:nvSpPr>
          <p:cNvPr id="11" name="CuadroTexto 19">
            <a:extLst>
              <a:ext uri="{FF2B5EF4-FFF2-40B4-BE49-F238E27FC236}">
                <a16:creationId xmlns:a16="http://schemas.microsoft.com/office/drawing/2014/main" id="{959071E2-B5FA-2844-3805-2F3CB2F36651}"/>
              </a:ext>
            </a:extLst>
          </p:cNvPr>
          <p:cNvSpPr txBox="1"/>
          <p:nvPr/>
        </p:nvSpPr>
        <p:spPr>
          <a:xfrm>
            <a:off x="3968306" y="6310482"/>
            <a:ext cx="4289367" cy="569876"/>
          </a:xfrm>
          <a:prstGeom prst="rect">
            <a:avLst/>
          </a:prstGeom>
          <a:noFill/>
        </p:spPr>
        <p:txBody>
          <a:bodyPr wrap="square" lIns="0" rIns="0" numCol="1">
            <a:noAutofit/>
          </a:bodyPr>
          <a:lstStyle/>
          <a:p>
            <a:pPr marL="342900" indent="-342900">
              <a:lnSpc>
                <a:spcPct val="150000"/>
              </a:lnSpc>
              <a:buFont typeface="Wingdings" pitchFamily="2" charset="2"/>
              <a:buChar char="q"/>
            </a:pPr>
            <a:r>
              <a:rPr lang="en-US" sz="2000" noProof="0" dirty="0">
                <a:solidFill>
                  <a:schemeClr val="tx2"/>
                </a:solidFill>
                <a:effectLst/>
              </a:rPr>
              <a:t>No pre-functionalized substrates</a:t>
            </a:r>
          </a:p>
        </p:txBody>
      </p:sp>
      <p:pic>
        <p:nvPicPr>
          <p:cNvPr id="16" name="Picture 15">
            <a:extLst>
              <a:ext uri="{FF2B5EF4-FFF2-40B4-BE49-F238E27FC236}">
                <a16:creationId xmlns:a16="http://schemas.microsoft.com/office/drawing/2014/main" id="{A0FE4C62-BF16-8350-91EA-67BE60171BB8}"/>
              </a:ext>
            </a:extLst>
          </p:cNvPr>
          <p:cNvPicPr>
            <a:picLocks noChangeAspect="1"/>
          </p:cNvPicPr>
          <p:nvPr/>
        </p:nvPicPr>
        <p:blipFill>
          <a:blip r:embed="rId6"/>
          <a:stretch>
            <a:fillRect/>
          </a:stretch>
        </p:blipFill>
        <p:spPr>
          <a:xfrm>
            <a:off x="3600511" y="2884488"/>
            <a:ext cx="4953000" cy="1117600"/>
          </a:xfrm>
          <a:prstGeom prst="rect">
            <a:avLst/>
          </a:prstGeom>
        </p:spPr>
      </p:pic>
      <p:sp>
        <p:nvSpPr>
          <p:cNvPr id="4" name="Slide Number Placeholder 3">
            <a:extLst>
              <a:ext uri="{FF2B5EF4-FFF2-40B4-BE49-F238E27FC236}">
                <a16:creationId xmlns:a16="http://schemas.microsoft.com/office/drawing/2014/main" id="{468A6CD1-AEE3-8673-E43C-5086B0C2F9AA}"/>
              </a:ext>
            </a:extLst>
          </p:cNvPr>
          <p:cNvSpPr>
            <a:spLocks noGrp="1"/>
          </p:cNvSpPr>
          <p:nvPr>
            <p:ph type="sldNum" sz="quarter" idx="12"/>
          </p:nvPr>
        </p:nvSpPr>
        <p:spPr/>
        <p:txBody>
          <a:bodyPr/>
          <a:lstStyle/>
          <a:p>
            <a:r>
              <a:rPr lang="en-US" dirty="0"/>
              <a:t>5</a:t>
            </a:r>
          </a:p>
        </p:txBody>
      </p:sp>
    </p:spTree>
    <p:extLst>
      <p:ext uri="{BB962C8B-B14F-4D97-AF65-F5344CB8AC3E}">
        <p14:creationId xmlns:p14="http://schemas.microsoft.com/office/powerpoint/2010/main" val="19764111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F0D1C-E51E-F66C-15D3-ECBF710BFF8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3DD4B3-E354-9CB2-8C9D-6B9C07EF9997}"/>
              </a:ext>
            </a:extLst>
          </p:cNvPr>
          <p:cNvSpPr>
            <a:spLocks noGrp="1"/>
          </p:cNvSpPr>
          <p:nvPr>
            <p:ph type="title"/>
          </p:nvPr>
        </p:nvSpPr>
        <p:spPr>
          <a:xfrm>
            <a:off x="2889908" y="70772"/>
            <a:ext cx="6412184" cy="375552"/>
          </a:xfrm>
        </p:spPr>
        <p:txBody>
          <a:bodyPr/>
          <a:lstStyle/>
          <a:p>
            <a:r>
              <a:rPr lang="en-US" dirty="0"/>
              <a:t>Ligand-substrate s</a:t>
            </a:r>
            <a:r>
              <a:rPr lang="en-US" noProof="0" dirty="0" err="1"/>
              <a:t>upramolecular</a:t>
            </a:r>
            <a:r>
              <a:rPr lang="en-US" noProof="0" dirty="0"/>
              <a:t> interactions</a:t>
            </a:r>
          </a:p>
        </p:txBody>
      </p:sp>
      <p:sp>
        <p:nvSpPr>
          <p:cNvPr id="7" name="CuadroTexto 7">
            <a:extLst>
              <a:ext uri="{FF2B5EF4-FFF2-40B4-BE49-F238E27FC236}">
                <a16:creationId xmlns:a16="http://schemas.microsoft.com/office/drawing/2014/main" id="{E0C51A9F-D0DE-1B38-AEB7-6DDDF0DD8B41}"/>
              </a:ext>
            </a:extLst>
          </p:cNvPr>
          <p:cNvSpPr txBox="1"/>
          <p:nvPr/>
        </p:nvSpPr>
        <p:spPr>
          <a:xfrm>
            <a:off x="6720739" y="1244497"/>
            <a:ext cx="1829732" cy="646331"/>
          </a:xfrm>
          <a:prstGeom prst="rect">
            <a:avLst/>
          </a:prstGeom>
          <a:noFill/>
        </p:spPr>
        <p:txBody>
          <a:bodyPr wrap="none" rtlCol="0">
            <a:spAutoFit/>
          </a:bodyPr>
          <a:lstStyle/>
          <a:p>
            <a:pPr algn="ctr"/>
            <a:r>
              <a:rPr lang="en-US" i="1" noProof="0" dirty="0">
                <a:solidFill>
                  <a:schemeClr val="tx2"/>
                </a:solidFill>
              </a:rPr>
              <a:t>Supramolecular</a:t>
            </a:r>
          </a:p>
          <a:p>
            <a:pPr algn="ctr"/>
            <a:r>
              <a:rPr lang="en-US" i="1" noProof="0" dirty="0">
                <a:solidFill>
                  <a:schemeClr val="tx2"/>
                </a:solidFill>
              </a:rPr>
              <a:t>recognition </a:t>
            </a:r>
            <a:r>
              <a:rPr lang="en-US" i="1" dirty="0">
                <a:solidFill>
                  <a:schemeClr val="tx2"/>
                </a:solidFill>
              </a:rPr>
              <a:t>unit</a:t>
            </a:r>
            <a:endParaRPr lang="en-US" i="1" noProof="0" dirty="0">
              <a:solidFill>
                <a:schemeClr val="tx2"/>
              </a:solidFill>
            </a:endParaRPr>
          </a:p>
        </p:txBody>
      </p:sp>
      <p:pic>
        <p:nvPicPr>
          <p:cNvPr id="13" name="Picture 12">
            <a:extLst>
              <a:ext uri="{FF2B5EF4-FFF2-40B4-BE49-F238E27FC236}">
                <a16:creationId xmlns:a16="http://schemas.microsoft.com/office/drawing/2014/main" id="{9FF24A73-D1EA-8015-9FA0-D93642B53ACA}"/>
              </a:ext>
            </a:extLst>
          </p:cNvPr>
          <p:cNvPicPr>
            <a:picLocks noChangeAspect="1"/>
          </p:cNvPicPr>
          <p:nvPr/>
        </p:nvPicPr>
        <p:blipFill>
          <a:blip r:embed="rId3"/>
          <a:stretch>
            <a:fillRect/>
          </a:stretch>
        </p:blipFill>
        <p:spPr>
          <a:xfrm>
            <a:off x="3780590" y="590550"/>
            <a:ext cx="4267200" cy="5676900"/>
          </a:xfrm>
          <a:prstGeom prst="rect">
            <a:avLst/>
          </a:prstGeom>
        </p:spPr>
      </p:pic>
      <p:sp>
        <p:nvSpPr>
          <p:cNvPr id="2" name="Slide Number Placeholder 1">
            <a:extLst>
              <a:ext uri="{FF2B5EF4-FFF2-40B4-BE49-F238E27FC236}">
                <a16:creationId xmlns:a16="http://schemas.microsoft.com/office/drawing/2014/main" id="{50250D7A-B904-14A9-6B4D-10F815410D46}"/>
              </a:ext>
            </a:extLst>
          </p:cNvPr>
          <p:cNvSpPr>
            <a:spLocks noGrp="1"/>
          </p:cNvSpPr>
          <p:nvPr>
            <p:ph type="sldNum" sz="quarter" idx="12"/>
          </p:nvPr>
        </p:nvSpPr>
        <p:spPr/>
        <p:txBody>
          <a:bodyPr/>
          <a:lstStyle/>
          <a:p>
            <a:r>
              <a:rPr lang="en-US" dirty="0"/>
              <a:t>12</a:t>
            </a:r>
          </a:p>
        </p:txBody>
      </p:sp>
    </p:spTree>
    <p:extLst>
      <p:ext uri="{BB962C8B-B14F-4D97-AF65-F5344CB8AC3E}">
        <p14:creationId xmlns:p14="http://schemas.microsoft.com/office/powerpoint/2010/main" val="17097290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2F630C-EB8A-48E6-BDFB-AD47E470A6FD}"/>
              </a:ext>
            </a:extLst>
          </p:cNvPr>
          <p:cNvSpPr>
            <a:spLocks noGrp="1"/>
          </p:cNvSpPr>
          <p:nvPr>
            <p:ph type="title"/>
          </p:nvPr>
        </p:nvSpPr>
        <p:spPr/>
        <p:txBody>
          <a:bodyPr>
            <a:noAutofit/>
          </a:bodyPr>
          <a:lstStyle/>
          <a:p>
            <a:r>
              <a:rPr lang="en-US" noProof="0" dirty="0">
                <a:solidFill>
                  <a:schemeClr val="accent2"/>
                </a:solidFill>
              </a:rPr>
              <a:t>Mechanism: </a:t>
            </a:r>
            <a:r>
              <a:rPr lang="en-US" i="1" noProof="0" dirty="0">
                <a:solidFill>
                  <a:schemeClr val="accent2"/>
                </a:solidFill>
              </a:rPr>
              <a:t>Non-covalent interactions</a:t>
            </a:r>
            <a:endParaRPr lang="en-US" noProof="0" dirty="0">
              <a:solidFill>
                <a:schemeClr val="accent3"/>
              </a:solidFill>
              <a:latin typeface="+mn-lt"/>
            </a:endParaRPr>
          </a:p>
        </p:txBody>
      </p:sp>
      <p:grpSp>
        <p:nvGrpSpPr>
          <p:cNvPr id="9" name="Grupo 8">
            <a:extLst>
              <a:ext uri="{FF2B5EF4-FFF2-40B4-BE49-F238E27FC236}">
                <a16:creationId xmlns:a16="http://schemas.microsoft.com/office/drawing/2014/main" id="{6D2AFAC3-1853-CE04-088A-3790AE2AEC9B}"/>
              </a:ext>
            </a:extLst>
          </p:cNvPr>
          <p:cNvGrpSpPr/>
          <p:nvPr/>
        </p:nvGrpSpPr>
        <p:grpSpPr>
          <a:xfrm>
            <a:off x="4314097" y="953553"/>
            <a:ext cx="4338583" cy="3966969"/>
            <a:chOff x="2524845" y="1298034"/>
            <a:chExt cx="3689976" cy="3373917"/>
          </a:xfrm>
        </p:grpSpPr>
        <p:pic>
          <p:nvPicPr>
            <p:cNvPr id="11" name="Imagen 10" descr="Gráfico, Gráfico de burbujas&#10;&#10;Descripción generada automáticamente">
              <a:extLst>
                <a:ext uri="{FF2B5EF4-FFF2-40B4-BE49-F238E27FC236}">
                  <a16:creationId xmlns:a16="http://schemas.microsoft.com/office/drawing/2014/main" id="{165FF8F1-41E4-37A9-DF2D-5E7723E64F0C}"/>
                </a:ext>
              </a:extLst>
            </p:cNvPr>
            <p:cNvPicPr>
              <a:picLocks noChangeAspect="1"/>
            </p:cNvPicPr>
            <p:nvPr/>
          </p:nvPicPr>
          <p:blipFill rotWithShape="1">
            <a:blip r:embed="rId3">
              <a:extLst>
                <a:ext uri="{28A0092B-C50C-407E-A947-70E740481C1C}">
                  <a14:useLocalDpi xmlns:a14="http://schemas.microsoft.com/office/drawing/2010/main"/>
                </a:ext>
              </a:extLst>
            </a:blip>
            <a:srcRect t="49780" r="42525" b="6834"/>
            <a:stretch/>
          </p:blipFill>
          <p:spPr>
            <a:xfrm>
              <a:off x="2524845" y="1298034"/>
              <a:ext cx="3689976" cy="3373917"/>
            </a:xfrm>
            <a:prstGeom prst="rect">
              <a:avLst/>
            </a:prstGeom>
          </p:spPr>
        </p:pic>
        <p:sp>
          <p:nvSpPr>
            <p:cNvPr id="8" name="Rectángulo 7">
              <a:extLst>
                <a:ext uri="{FF2B5EF4-FFF2-40B4-BE49-F238E27FC236}">
                  <a16:creationId xmlns:a16="http://schemas.microsoft.com/office/drawing/2014/main" id="{513639BD-4A62-D1AC-EE89-FFC2650A3D6D}"/>
                </a:ext>
              </a:extLst>
            </p:cNvPr>
            <p:cNvSpPr/>
            <p:nvPr/>
          </p:nvSpPr>
          <p:spPr>
            <a:xfrm>
              <a:off x="5735782" y="2639698"/>
              <a:ext cx="479039" cy="1578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2" name="CuadroTexto 11">
            <a:extLst>
              <a:ext uri="{FF2B5EF4-FFF2-40B4-BE49-F238E27FC236}">
                <a16:creationId xmlns:a16="http://schemas.microsoft.com/office/drawing/2014/main" id="{577E5B00-A2EC-416F-6628-F509AA98D960}"/>
              </a:ext>
            </a:extLst>
          </p:cNvPr>
          <p:cNvSpPr txBox="1"/>
          <p:nvPr/>
        </p:nvSpPr>
        <p:spPr>
          <a:xfrm>
            <a:off x="2629894" y="5240303"/>
            <a:ext cx="7315201" cy="646331"/>
          </a:xfrm>
          <a:prstGeom prst="rect">
            <a:avLst/>
          </a:prstGeom>
          <a:noFill/>
        </p:spPr>
        <p:txBody>
          <a:bodyPr wrap="square">
            <a:spAutoFit/>
          </a:bodyPr>
          <a:lstStyle/>
          <a:p>
            <a:pPr marL="285750" indent="-285750">
              <a:buFont typeface="Arial" panose="020B0604020202020204" pitchFamily="34" charset="0"/>
              <a:buChar char="•"/>
            </a:pPr>
            <a:r>
              <a:rPr lang="en-US" noProof="0" dirty="0">
                <a:solidFill>
                  <a:srgbClr val="00869E"/>
                </a:solidFill>
              </a:rPr>
              <a:t>N</a:t>
            </a:r>
            <a:r>
              <a:rPr lang="en-US" sz="1800" noProof="0" dirty="0">
                <a:solidFill>
                  <a:srgbClr val="00869E"/>
                </a:solidFill>
                <a:effectLst/>
              </a:rPr>
              <a:t>etwork of attractive interactions between the carbonyl group of the benzamide and the CF</a:t>
            </a:r>
            <a:r>
              <a:rPr lang="en-US" sz="800" noProof="0" dirty="0">
                <a:solidFill>
                  <a:srgbClr val="00869E"/>
                </a:solidFill>
                <a:effectLst/>
              </a:rPr>
              <a:t>3</a:t>
            </a:r>
            <a:r>
              <a:rPr lang="en-US" sz="1800" noProof="0" dirty="0">
                <a:solidFill>
                  <a:srgbClr val="00869E"/>
                </a:solidFill>
                <a:effectLst/>
              </a:rPr>
              <a:t>-pyridine ring of ligand </a:t>
            </a:r>
            <a:endParaRPr lang="en-US" noProof="0" dirty="0">
              <a:solidFill>
                <a:srgbClr val="00869E"/>
              </a:solidFill>
            </a:endParaRPr>
          </a:p>
        </p:txBody>
      </p:sp>
      <p:sp>
        <p:nvSpPr>
          <p:cNvPr id="3" name="TextBox 2">
            <a:extLst>
              <a:ext uri="{FF2B5EF4-FFF2-40B4-BE49-F238E27FC236}">
                <a16:creationId xmlns:a16="http://schemas.microsoft.com/office/drawing/2014/main" id="{B92B0414-804E-23C3-3CC6-C0BC894AFB58}"/>
              </a:ext>
            </a:extLst>
          </p:cNvPr>
          <p:cNvSpPr txBox="1"/>
          <p:nvPr/>
        </p:nvSpPr>
        <p:spPr>
          <a:xfrm>
            <a:off x="0" y="6585228"/>
            <a:ext cx="4592320" cy="276999"/>
          </a:xfrm>
          <a:prstGeom prst="rect">
            <a:avLst/>
          </a:prstGeom>
          <a:noFill/>
        </p:spPr>
        <p:txBody>
          <a:bodyPr wrap="square">
            <a:spAutoFit/>
          </a:bodyPr>
          <a:lstStyle/>
          <a:p>
            <a:r>
              <a:rPr lang="es-ES" sz="1200" dirty="0">
                <a:effectLst/>
                <a:latin typeface="Aptos" panose="020B0004020202020204" pitchFamily="34" charset="0"/>
                <a:ea typeface="Aptos" panose="020B0004020202020204" pitchFamily="34" charset="0"/>
                <a:cs typeface="Times New Roman" panose="02020603050405020304" pitchFamily="18" charset="0"/>
              </a:rPr>
              <a:t>SMD</a:t>
            </a:r>
            <a:r>
              <a:rPr lang="es-ES" sz="1200" baseline="-25000" dirty="0">
                <a:effectLst/>
                <a:latin typeface="Aptos" panose="020B0004020202020204" pitchFamily="34" charset="0"/>
                <a:ea typeface="Aptos" panose="020B0004020202020204" pitchFamily="34" charset="0"/>
                <a:cs typeface="Times New Roman" panose="02020603050405020304" pitchFamily="18" charset="0"/>
              </a:rPr>
              <a:t>THF</a:t>
            </a:r>
            <a:r>
              <a:rPr lang="es-ES" sz="1200" dirty="0">
                <a:effectLst/>
                <a:latin typeface="Aptos" panose="020B0004020202020204" pitchFamily="34" charset="0"/>
                <a:ea typeface="Aptos" panose="020B0004020202020204" pitchFamily="34" charset="0"/>
                <a:cs typeface="Times New Roman" panose="02020603050405020304" pitchFamily="18" charset="0"/>
              </a:rPr>
              <a:t>/M06/6-311++G(2d,p)+SDD(Ir)//M06/6 31G(d) +LANL2DZ(Ir)</a:t>
            </a:r>
            <a:r>
              <a:rPr lang="en-US" sz="1200" dirty="0">
                <a:effectLst/>
              </a:rPr>
              <a:t> </a:t>
            </a:r>
            <a:endParaRPr lang="en-US" sz="1200" dirty="0"/>
          </a:p>
        </p:txBody>
      </p:sp>
      <p:sp>
        <p:nvSpPr>
          <p:cNvPr id="5" name="Slide Number Placeholder 4">
            <a:extLst>
              <a:ext uri="{FF2B5EF4-FFF2-40B4-BE49-F238E27FC236}">
                <a16:creationId xmlns:a16="http://schemas.microsoft.com/office/drawing/2014/main" id="{CA903AB7-3AB8-108F-ED22-E53DF6F453DC}"/>
              </a:ext>
            </a:extLst>
          </p:cNvPr>
          <p:cNvSpPr>
            <a:spLocks noGrp="1"/>
          </p:cNvSpPr>
          <p:nvPr>
            <p:ph type="sldNum" sz="quarter" idx="12"/>
          </p:nvPr>
        </p:nvSpPr>
        <p:spPr/>
        <p:txBody>
          <a:bodyPr/>
          <a:lstStyle/>
          <a:p>
            <a:r>
              <a:rPr lang="en-US" dirty="0"/>
              <a:t>54</a:t>
            </a:r>
          </a:p>
        </p:txBody>
      </p:sp>
    </p:spTree>
    <p:extLst>
      <p:ext uri="{BB962C8B-B14F-4D97-AF65-F5344CB8AC3E}">
        <p14:creationId xmlns:p14="http://schemas.microsoft.com/office/powerpoint/2010/main" val="9055562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0">
            <a:extLst>
              <a:ext uri="{FF2B5EF4-FFF2-40B4-BE49-F238E27FC236}">
                <a16:creationId xmlns:a16="http://schemas.microsoft.com/office/drawing/2014/main" id="{970FDA1C-54BC-395A-76C6-6A84250FC4DA}"/>
              </a:ext>
            </a:extLst>
          </p:cNvPr>
          <p:cNvPicPr>
            <a:picLocks noChangeAspect="1"/>
          </p:cNvPicPr>
          <p:nvPr/>
        </p:nvPicPr>
        <p:blipFill rotWithShape="1">
          <a:blip r:embed="rId3">
            <a:extLst>
              <a:ext uri="{28A0092B-C50C-407E-A947-70E740481C1C}">
                <a14:useLocalDpi xmlns:a14="http://schemas.microsoft.com/office/drawing/2010/main"/>
              </a:ext>
            </a:extLst>
          </a:blip>
          <a:srcRect l="49286" t="-1" r="-1119" b="53887"/>
          <a:stretch/>
        </p:blipFill>
        <p:spPr bwMode="auto">
          <a:xfrm>
            <a:off x="3395092" y="1085926"/>
            <a:ext cx="4786382" cy="4384003"/>
          </a:xfrm>
          <a:prstGeom prst="rect">
            <a:avLst/>
          </a:prstGeom>
          <a:noFill/>
          <a:ln>
            <a:noFill/>
          </a:ln>
        </p:spPr>
      </p:pic>
      <p:sp>
        <p:nvSpPr>
          <p:cNvPr id="2" name="Título 1">
            <a:extLst>
              <a:ext uri="{FF2B5EF4-FFF2-40B4-BE49-F238E27FC236}">
                <a16:creationId xmlns:a16="http://schemas.microsoft.com/office/drawing/2014/main" id="{E62F630C-EB8A-48E6-BDFB-AD47E470A6FD}"/>
              </a:ext>
            </a:extLst>
          </p:cNvPr>
          <p:cNvSpPr>
            <a:spLocks noGrp="1"/>
          </p:cNvSpPr>
          <p:nvPr>
            <p:ph type="title"/>
          </p:nvPr>
        </p:nvSpPr>
        <p:spPr/>
        <p:txBody>
          <a:bodyPr>
            <a:noAutofit/>
          </a:bodyPr>
          <a:lstStyle/>
          <a:p>
            <a:r>
              <a:rPr lang="en-US" noProof="0" dirty="0">
                <a:solidFill>
                  <a:schemeClr val="accent2"/>
                </a:solidFill>
              </a:rPr>
              <a:t>Mechanism: </a:t>
            </a:r>
            <a:r>
              <a:rPr lang="en-US" i="1" noProof="0" dirty="0">
                <a:solidFill>
                  <a:schemeClr val="accent2"/>
                </a:solidFill>
              </a:rPr>
              <a:t>NBO analysis</a:t>
            </a:r>
            <a:endParaRPr lang="en-US" noProof="0" dirty="0">
              <a:solidFill>
                <a:schemeClr val="accent3"/>
              </a:solidFill>
              <a:latin typeface="+mn-lt"/>
            </a:endParaRPr>
          </a:p>
        </p:txBody>
      </p:sp>
      <p:sp>
        <p:nvSpPr>
          <p:cNvPr id="9" name="CuadroTexto 8">
            <a:extLst>
              <a:ext uri="{FF2B5EF4-FFF2-40B4-BE49-F238E27FC236}">
                <a16:creationId xmlns:a16="http://schemas.microsoft.com/office/drawing/2014/main" id="{A95DC1A5-5CA2-9E38-5CAE-25D454881CE3}"/>
              </a:ext>
            </a:extLst>
          </p:cNvPr>
          <p:cNvSpPr txBox="1"/>
          <p:nvPr/>
        </p:nvSpPr>
        <p:spPr>
          <a:xfrm>
            <a:off x="8054022" y="1503243"/>
            <a:ext cx="2139191" cy="523220"/>
          </a:xfrm>
          <a:prstGeom prst="rect">
            <a:avLst/>
          </a:prstGeom>
          <a:noFill/>
        </p:spPr>
        <p:txBody>
          <a:bodyPr wrap="square">
            <a:spAutoFit/>
          </a:bodyPr>
          <a:lstStyle/>
          <a:p>
            <a:pPr defTabSz="360000">
              <a:tabLst>
                <a:tab pos="660400" algn="l"/>
              </a:tabLst>
            </a:pPr>
            <a:r>
              <a:rPr lang="en-US" sz="2800" noProof="0" dirty="0">
                <a:solidFill>
                  <a:srgbClr val="F56A20"/>
                </a:solidFill>
                <a:effectLst/>
                <a:latin typeface="TimesTenLTStd"/>
              </a:rPr>
              <a:t>π</a:t>
            </a:r>
            <a:r>
              <a:rPr lang="en-US" sz="1200" noProof="0" dirty="0">
                <a:solidFill>
                  <a:srgbClr val="F56A20"/>
                </a:solidFill>
                <a:effectLst/>
              </a:rPr>
              <a:t>C=O</a:t>
            </a:r>
            <a:r>
              <a:rPr lang="en-US" sz="1200" dirty="0">
                <a:solidFill>
                  <a:srgbClr val="F56A20"/>
                </a:solidFill>
              </a:rPr>
              <a:t>	</a:t>
            </a:r>
            <a:r>
              <a:rPr lang="en-US" sz="2400" noProof="0" dirty="0">
                <a:effectLst/>
                <a:latin typeface="TimesTenLTStd"/>
              </a:rPr>
              <a:t>⇢	</a:t>
            </a:r>
            <a:r>
              <a:rPr lang="en-US" sz="2800" noProof="0" dirty="0">
                <a:solidFill>
                  <a:srgbClr val="759DE8"/>
                </a:solidFill>
                <a:effectLst/>
                <a:latin typeface="TimesTenLTStd"/>
              </a:rPr>
              <a:t>π</a:t>
            </a:r>
            <a:r>
              <a:rPr lang="en-US" sz="2800" noProof="0" dirty="0">
                <a:solidFill>
                  <a:srgbClr val="759DE8"/>
                </a:solidFill>
                <a:effectLst/>
              </a:rPr>
              <a:t>*</a:t>
            </a:r>
            <a:r>
              <a:rPr lang="en-US" sz="1200" noProof="0" dirty="0">
                <a:solidFill>
                  <a:srgbClr val="759DE8"/>
                </a:solidFill>
                <a:effectLst/>
              </a:rPr>
              <a:t>C</a:t>
            </a:r>
            <a:r>
              <a:rPr lang="en-US" sz="1200" noProof="0" dirty="0">
                <a:solidFill>
                  <a:srgbClr val="759DE8"/>
                </a:solidFill>
              </a:rPr>
              <a:t>-</a:t>
            </a:r>
            <a:r>
              <a:rPr lang="en-US" sz="1200" noProof="0" dirty="0">
                <a:solidFill>
                  <a:srgbClr val="759DE8"/>
                </a:solidFill>
                <a:effectLst/>
              </a:rPr>
              <a:t>C</a:t>
            </a:r>
            <a:endParaRPr lang="en-US" sz="1400" noProof="0" dirty="0">
              <a:solidFill>
                <a:srgbClr val="759DE8"/>
              </a:solidFill>
            </a:endParaRPr>
          </a:p>
        </p:txBody>
      </p:sp>
      <p:sp>
        <p:nvSpPr>
          <p:cNvPr id="11" name="CuadroTexto 10">
            <a:extLst>
              <a:ext uri="{FF2B5EF4-FFF2-40B4-BE49-F238E27FC236}">
                <a16:creationId xmlns:a16="http://schemas.microsoft.com/office/drawing/2014/main" id="{F41B59F0-321C-4329-0CC1-426D072B8EED}"/>
              </a:ext>
            </a:extLst>
          </p:cNvPr>
          <p:cNvSpPr txBox="1"/>
          <p:nvPr/>
        </p:nvSpPr>
        <p:spPr>
          <a:xfrm>
            <a:off x="3586651" y="6046032"/>
            <a:ext cx="5018698" cy="369332"/>
          </a:xfrm>
          <a:prstGeom prst="rect">
            <a:avLst/>
          </a:prstGeom>
          <a:noFill/>
        </p:spPr>
        <p:txBody>
          <a:bodyPr wrap="square">
            <a:spAutoFit/>
          </a:bodyPr>
          <a:lstStyle/>
          <a:p>
            <a:pPr marL="285750" indent="-285750">
              <a:buFont typeface="Arial" panose="020B0604020202020204" pitchFamily="34" charset="0"/>
              <a:buChar char="•"/>
            </a:pPr>
            <a:r>
              <a:rPr lang="en-US" sz="1800" noProof="0" dirty="0">
                <a:solidFill>
                  <a:srgbClr val="00869E"/>
                </a:solidFill>
                <a:effectLst/>
              </a:rPr>
              <a:t>Outer-sphere substrate-ligand interactions</a:t>
            </a:r>
            <a:endParaRPr lang="en-US" noProof="0" dirty="0">
              <a:solidFill>
                <a:srgbClr val="00869E"/>
              </a:solidFill>
            </a:endParaRPr>
          </a:p>
        </p:txBody>
      </p:sp>
      <p:sp>
        <p:nvSpPr>
          <p:cNvPr id="3" name="TextBox 2">
            <a:extLst>
              <a:ext uri="{FF2B5EF4-FFF2-40B4-BE49-F238E27FC236}">
                <a16:creationId xmlns:a16="http://schemas.microsoft.com/office/drawing/2014/main" id="{E4343D20-9C38-226B-97D3-CAC62E5DE53F}"/>
              </a:ext>
            </a:extLst>
          </p:cNvPr>
          <p:cNvSpPr txBox="1"/>
          <p:nvPr/>
        </p:nvSpPr>
        <p:spPr>
          <a:xfrm>
            <a:off x="0" y="6585228"/>
            <a:ext cx="4592320" cy="276999"/>
          </a:xfrm>
          <a:prstGeom prst="rect">
            <a:avLst/>
          </a:prstGeom>
          <a:noFill/>
        </p:spPr>
        <p:txBody>
          <a:bodyPr wrap="square">
            <a:spAutoFit/>
          </a:bodyPr>
          <a:lstStyle/>
          <a:p>
            <a:r>
              <a:rPr lang="es-ES" sz="1200" dirty="0">
                <a:effectLst/>
                <a:latin typeface="Aptos" panose="020B0004020202020204" pitchFamily="34" charset="0"/>
                <a:ea typeface="Aptos" panose="020B0004020202020204" pitchFamily="34" charset="0"/>
                <a:cs typeface="Times New Roman" panose="02020603050405020304" pitchFamily="18" charset="0"/>
              </a:rPr>
              <a:t>SMD</a:t>
            </a:r>
            <a:r>
              <a:rPr lang="es-ES" sz="1200" baseline="-25000" dirty="0">
                <a:effectLst/>
                <a:latin typeface="Aptos" panose="020B0004020202020204" pitchFamily="34" charset="0"/>
                <a:ea typeface="Aptos" panose="020B0004020202020204" pitchFamily="34" charset="0"/>
                <a:cs typeface="Times New Roman" panose="02020603050405020304" pitchFamily="18" charset="0"/>
              </a:rPr>
              <a:t>THF</a:t>
            </a:r>
            <a:r>
              <a:rPr lang="es-ES" sz="1200" dirty="0">
                <a:effectLst/>
                <a:latin typeface="Aptos" panose="020B0004020202020204" pitchFamily="34" charset="0"/>
                <a:ea typeface="Aptos" panose="020B0004020202020204" pitchFamily="34" charset="0"/>
                <a:cs typeface="Times New Roman" panose="02020603050405020304" pitchFamily="18" charset="0"/>
              </a:rPr>
              <a:t>/M06/6-311++G(2d,p)+SDD(Ir)//M06/6 31G(d) +LANL2DZ(Ir)</a:t>
            </a:r>
            <a:r>
              <a:rPr lang="en-US" sz="1200" dirty="0">
                <a:effectLst/>
              </a:rPr>
              <a:t> </a:t>
            </a:r>
            <a:endParaRPr lang="en-US" sz="1200" dirty="0"/>
          </a:p>
        </p:txBody>
      </p:sp>
      <p:sp>
        <p:nvSpPr>
          <p:cNvPr id="4" name="Slide Number Placeholder 3">
            <a:extLst>
              <a:ext uri="{FF2B5EF4-FFF2-40B4-BE49-F238E27FC236}">
                <a16:creationId xmlns:a16="http://schemas.microsoft.com/office/drawing/2014/main" id="{76C13DB1-667E-C59A-CB0B-1DB2227F4963}"/>
              </a:ext>
            </a:extLst>
          </p:cNvPr>
          <p:cNvSpPr>
            <a:spLocks noGrp="1"/>
          </p:cNvSpPr>
          <p:nvPr>
            <p:ph type="sldNum" sz="quarter" idx="12"/>
          </p:nvPr>
        </p:nvSpPr>
        <p:spPr/>
        <p:txBody>
          <a:bodyPr/>
          <a:lstStyle/>
          <a:p>
            <a:r>
              <a:rPr lang="en-US" dirty="0"/>
              <a:t>55</a:t>
            </a:r>
          </a:p>
        </p:txBody>
      </p:sp>
    </p:spTree>
    <p:extLst>
      <p:ext uri="{BB962C8B-B14F-4D97-AF65-F5344CB8AC3E}">
        <p14:creationId xmlns:p14="http://schemas.microsoft.com/office/powerpoint/2010/main" val="10489725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B3A89-C360-66F6-9B12-EBF565AA70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102DD7-FCD8-BDE8-4F59-D162868F7EB5}"/>
              </a:ext>
            </a:extLst>
          </p:cNvPr>
          <p:cNvSpPr>
            <a:spLocks noGrp="1"/>
          </p:cNvSpPr>
          <p:nvPr>
            <p:ph type="title"/>
          </p:nvPr>
        </p:nvSpPr>
        <p:spPr/>
        <p:txBody>
          <a:bodyPr/>
          <a:lstStyle/>
          <a:p>
            <a:r>
              <a:rPr lang="en-US" sz="2000" noProof="0" dirty="0">
                <a:solidFill>
                  <a:schemeClr val="accent2"/>
                </a:solidFill>
              </a:rPr>
              <a:t>Mechanism: </a:t>
            </a:r>
            <a:r>
              <a:rPr lang="en-US" i="1" dirty="0">
                <a:solidFill>
                  <a:schemeClr val="accent2"/>
                </a:solidFill>
              </a:rPr>
              <a:t>isomerization</a:t>
            </a:r>
            <a:r>
              <a:rPr lang="en-US" sz="2000" i="1" noProof="0" dirty="0">
                <a:solidFill>
                  <a:schemeClr val="accent2"/>
                </a:solidFill>
              </a:rPr>
              <a:t> step</a:t>
            </a:r>
            <a:endParaRPr lang="en-US" noProof="0" dirty="0"/>
          </a:p>
        </p:txBody>
      </p:sp>
      <p:pic>
        <p:nvPicPr>
          <p:cNvPr id="7" name="Picture 6">
            <a:extLst>
              <a:ext uri="{FF2B5EF4-FFF2-40B4-BE49-F238E27FC236}">
                <a16:creationId xmlns:a16="http://schemas.microsoft.com/office/drawing/2014/main" id="{437B1428-7567-CB2E-6BE1-9B47F3AC3D67}"/>
              </a:ext>
            </a:extLst>
          </p:cNvPr>
          <p:cNvPicPr>
            <a:picLocks noChangeAspect="1"/>
          </p:cNvPicPr>
          <p:nvPr/>
        </p:nvPicPr>
        <p:blipFill>
          <a:blip r:embed="rId3"/>
          <a:stretch>
            <a:fillRect/>
          </a:stretch>
        </p:blipFill>
        <p:spPr>
          <a:xfrm>
            <a:off x="588668" y="1793588"/>
            <a:ext cx="2590800" cy="716280"/>
          </a:xfrm>
          <a:prstGeom prst="rect">
            <a:avLst/>
          </a:prstGeom>
        </p:spPr>
      </p:pic>
      <p:sp>
        <p:nvSpPr>
          <p:cNvPr id="5" name="TextBox 4">
            <a:extLst>
              <a:ext uri="{FF2B5EF4-FFF2-40B4-BE49-F238E27FC236}">
                <a16:creationId xmlns:a16="http://schemas.microsoft.com/office/drawing/2014/main" id="{ECE8217C-C8D7-CC5C-8FBD-ECA8E1CA7257}"/>
              </a:ext>
            </a:extLst>
          </p:cNvPr>
          <p:cNvSpPr txBox="1"/>
          <p:nvPr/>
        </p:nvSpPr>
        <p:spPr>
          <a:xfrm>
            <a:off x="-48128" y="6601554"/>
            <a:ext cx="4908884" cy="276999"/>
          </a:xfrm>
          <a:prstGeom prst="rect">
            <a:avLst/>
          </a:prstGeom>
          <a:noFill/>
        </p:spPr>
        <p:txBody>
          <a:bodyPr wrap="square">
            <a:spAutoFit/>
          </a:bodyPr>
          <a:lstStyle/>
          <a:p>
            <a:r>
              <a:rPr lang="es-ES" sz="1200" dirty="0">
                <a:latin typeface="Aptos" panose="020B0004020202020204" pitchFamily="34" charset="0"/>
                <a:ea typeface="Aptos" panose="020B0004020202020204" pitchFamily="34" charset="0"/>
                <a:cs typeface="Times New Roman" panose="02020603050405020304" pitchFamily="18" charset="0"/>
              </a:rPr>
              <a:t>IEFPCM</a:t>
            </a:r>
            <a:r>
              <a:rPr lang="es-ES" sz="1200" baseline="-25000" dirty="0">
                <a:effectLst/>
                <a:latin typeface="Aptos" panose="020B0004020202020204" pitchFamily="34" charset="0"/>
                <a:ea typeface="Aptos" panose="020B0004020202020204" pitchFamily="34" charset="0"/>
                <a:cs typeface="Times New Roman" panose="02020603050405020304" pitchFamily="18" charset="0"/>
              </a:rPr>
              <a:t>THF</a:t>
            </a:r>
            <a:r>
              <a:rPr lang="es-ES" sz="1200" dirty="0">
                <a:effectLst/>
                <a:latin typeface="Aptos" panose="020B0004020202020204" pitchFamily="34" charset="0"/>
                <a:ea typeface="Aptos" panose="020B0004020202020204" pitchFamily="34" charset="0"/>
                <a:cs typeface="Times New Roman" panose="02020603050405020304" pitchFamily="18" charset="0"/>
              </a:rPr>
              <a:t>/M06/6-311++G(2d,p)+SDD(Ir)//M06/6 31G(d) +LANL2DZ(Ir)</a:t>
            </a:r>
            <a:r>
              <a:rPr lang="en-US" sz="1200" dirty="0">
                <a:effectLst/>
              </a:rPr>
              <a:t> </a:t>
            </a:r>
            <a:endParaRPr lang="en-US" sz="1200" dirty="0"/>
          </a:p>
        </p:txBody>
      </p:sp>
      <p:pic>
        <p:nvPicPr>
          <p:cNvPr id="9" name="Picture 8">
            <a:extLst>
              <a:ext uri="{FF2B5EF4-FFF2-40B4-BE49-F238E27FC236}">
                <a16:creationId xmlns:a16="http://schemas.microsoft.com/office/drawing/2014/main" id="{B6F1916B-EC50-952A-3B25-A7E1135EEB64}"/>
              </a:ext>
            </a:extLst>
          </p:cNvPr>
          <p:cNvPicPr>
            <a:picLocks noChangeAspect="1"/>
          </p:cNvPicPr>
          <p:nvPr/>
        </p:nvPicPr>
        <p:blipFill>
          <a:blip r:embed="rId4"/>
          <a:stretch>
            <a:fillRect/>
          </a:stretch>
        </p:blipFill>
        <p:spPr>
          <a:xfrm>
            <a:off x="588668" y="2663325"/>
            <a:ext cx="1569720" cy="685800"/>
          </a:xfrm>
          <a:prstGeom prst="rect">
            <a:avLst/>
          </a:prstGeom>
        </p:spPr>
      </p:pic>
      <p:pic>
        <p:nvPicPr>
          <p:cNvPr id="10" name="Picture 9">
            <a:extLst>
              <a:ext uri="{FF2B5EF4-FFF2-40B4-BE49-F238E27FC236}">
                <a16:creationId xmlns:a16="http://schemas.microsoft.com/office/drawing/2014/main" id="{903D7C95-718C-B3EA-EB62-B30C3E2A4F50}"/>
              </a:ext>
            </a:extLst>
          </p:cNvPr>
          <p:cNvPicPr>
            <a:picLocks noChangeAspect="1"/>
          </p:cNvPicPr>
          <p:nvPr/>
        </p:nvPicPr>
        <p:blipFill>
          <a:blip r:embed="rId5"/>
          <a:stretch>
            <a:fillRect/>
          </a:stretch>
        </p:blipFill>
        <p:spPr>
          <a:xfrm>
            <a:off x="0" y="1802488"/>
            <a:ext cx="11361420" cy="4622800"/>
          </a:xfrm>
          <a:prstGeom prst="rect">
            <a:avLst/>
          </a:prstGeom>
        </p:spPr>
      </p:pic>
      <p:pic>
        <p:nvPicPr>
          <p:cNvPr id="12" name="Picture 11">
            <a:extLst>
              <a:ext uri="{FF2B5EF4-FFF2-40B4-BE49-F238E27FC236}">
                <a16:creationId xmlns:a16="http://schemas.microsoft.com/office/drawing/2014/main" id="{0903C8E8-0AF6-CB50-0154-6CF2052C122F}"/>
              </a:ext>
            </a:extLst>
          </p:cNvPr>
          <p:cNvPicPr>
            <a:picLocks noChangeAspect="1"/>
          </p:cNvPicPr>
          <p:nvPr/>
        </p:nvPicPr>
        <p:blipFill>
          <a:blip r:embed="rId6"/>
          <a:stretch>
            <a:fillRect/>
          </a:stretch>
        </p:blipFill>
        <p:spPr>
          <a:xfrm>
            <a:off x="3455670" y="4291535"/>
            <a:ext cx="1671320" cy="1671320"/>
          </a:xfrm>
          <a:prstGeom prst="rect">
            <a:avLst/>
          </a:prstGeom>
        </p:spPr>
      </p:pic>
      <p:pic>
        <p:nvPicPr>
          <p:cNvPr id="13" name="Picture 12">
            <a:extLst>
              <a:ext uri="{FF2B5EF4-FFF2-40B4-BE49-F238E27FC236}">
                <a16:creationId xmlns:a16="http://schemas.microsoft.com/office/drawing/2014/main" id="{A206917E-8947-62D2-1768-4643934C9E33}"/>
              </a:ext>
            </a:extLst>
          </p:cNvPr>
          <p:cNvPicPr>
            <a:picLocks noChangeAspect="1"/>
          </p:cNvPicPr>
          <p:nvPr/>
        </p:nvPicPr>
        <p:blipFill>
          <a:blip r:embed="rId7"/>
          <a:stretch>
            <a:fillRect/>
          </a:stretch>
        </p:blipFill>
        <p:spPr>
          <a:xfrm>
            <a:off x="7065012" y="4291535"/>
            <a:ext cx="2044700" cy="1653540"/>
          </a:xfrm>
          <a:prstGeom prst="rect">
            <a:avLst/>
          </a:prstGeom>
        </p:spPr>
      </p:pic>
      <p:pic>
        <p:nvPicPr>
          <p:cNvPr id="14" name="Picture 13">
            <a:extLst>
              <a:ext uri="{FF2B5EF4-FFF2-40B4-BE49-F238E27FC236}">
                <a16:creationId xmlns:a16="http://schemas.microsoft.com/office/drawing/2014/main" id="{DF8F0CE2-5406-8814-AF2B-65A67E9FE04F}"/>
              </a:ext>
            </a:extLst>
          </p:cNvPr>
          <p:cNvPicPr>
            <a:picLocks noChangeAspect="1"/>
          </p:cNvPicPr>
          <p:nvPr/>
        </p:nvPicPr>
        <p:blipFill>
          <a:blip r:embed="rId8"/>
          <a:stretch>
            <a:fillRect/>
          </a:stretch>
        </p:blipFill>
        <p:spPr>
          <a:xfrm>
            <a:off x="3455670" y="616180"/>
            <a:ext cx="5316220" cy="1084580"/>
          </a:xfrm>
          <a:prstGeom prst="rect">
            <a:avLst/>
          </a:prstGeom>
        </p:spPr>
      </p:pic>
      <p:sp>
        <p:nvSpPr>
          <p:cNvPr id="15" name="Rectangle 14">
            <a:extLst>
              <a:ext uri="{FF2B5EF4-FFF2-40B4-BE49-F238E27FC236}">
                <a16:creationId xmlns:a16="http://schemas.microsoft.com/office/drawing/2014/main" id="{0D771622-CD0F-123B-BB58-6479CF552077}"/>
              </a:ext>
            </a:extLst>
          </p:cNvPr>
          <p:cNvSpPr/>
          <p:nvPr/>
        </p:nvSpPr>
        <p:spPr>
          <a:xfrm>
            <a:off x="3223647" y="535397"/>
            <a:ext cx="5780868" cy="1231199"/>
          </a:xfrm>
          <a:prstGeom prst="rect">
            <a:avLst/>
          </a:prstGeom>
          <a:noFill/>
          <a:ln w="28575">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F801A79-1B37-986F-F02D-FCC4921B0856}"/>
              </a:ext>
            </a:extLst>
          </p:cNvPr>
          <p:cNvSpPr>
            <a:spLocks noGrp="1"/>
          </p:cNvSpPr>
          <p:nvPr>
            <p:ph type="sldNum" sz="quarter" idx="12"/>
          </p:nvPr>
        </p:nvSpPr>
        <p:spPr/>
        <p:txBody>
          <a:bodyPr/>
          <a:lstStyle/>
          <a:p>
            <a:r>
              <a:rPr lang="en-US" dirty="0"/>
              <a:t>70</a:t>
            </a:r>
          </a:p>
        </p:txBody>
      </p:sp>
    </p:spTree>
    <p:extLst>
      <p:ext uri="{BB962C8B-B14F-4D97-AF65-F5344CB8AC3E}">
        <p14:creationId xmlns:p14="http://schemas.microsoft.com/office/powerpoint/2010/main" val="2574235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17675-3C60-2098-AED3-4231BC7F68B8}"/>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CE8A497E-20C4-51F7-5224-8AF3FE468C21}"/>
              </a:ext>
            </a:extLst>
          </p:cNvPr>
          <p:cNvPicPr>
            <a:picLocks noChangeAspect="1"/>
          </p:cNvPicPr>
          <p:nvPr/>
        </p:nvPicPr>
        <p:blipFill>
          <a:blip r:embed="rId3"/>
          <a:stretch>
            <a:fillRect/>
          </a:stretch>
        </p:blipFill>
        <p:spPr>
          <a:xfrm>
            <a:off x="8388049" y="3139475"/>
            <a:ext cx="1973580" cy="1884680"/>
          </a:xfrm>
          <a:prstGeom prst="rect">
            <a:avLst/>
          </a:prstGeom>
        </p:spPr>
      </p:pic>
      <p:pic>
        <p:nvPicPr>
          <p:cNvPr id="25" name="Picture 24">
            <a:extLst>
              <a:ext uri="{FF2B5EF4-FFF2-40B4-BE49-F238E27FC236}">
                <a16:creationId xmlns:a16="http://schemas.microsoft.com/office/drawing/2014/main" id="{B8169197-B308-5997-DDEB-1FA5B9FB3C06}"/>
              </a:ext>
            </a:extLst>
          </p:cNvPr>
          <p:cNvPicPr>
            <a:picLocks noChangeAspect="1"/>
          </p:cNvPicPr>
          <p:nvPr/>
        </p:nvPicPr>
        <p:blipFill>
          <a:blip r:embed="rId4"/>
          <a:stretch>
            <a:fillRect/>
          </a:stretch>
        </p:blipFill>
        <p:spPr>
          <a:xfrm>
            <a:off x="1620064" y="3356232"/>
            <a:ext cx="1955800" cy="1653540"/>
          </a:xfrm>
          <a:prstGeom prst="rect">
            <a:avLst/>
          </a:prstGeom>
        </p:spPr>
      </p:pic>
      <p:pic>
        <p:nvPicPr>
          <p:cNvPr id="9" name="Picture 8">
            <a:extLst>
              <a:ext uri="{FF2B5EF4-FFF2-40B4-BE49-F238E27FC236}">
                <a16:creationId xmlns:a16="http://schemas.microsoft.com/office/drawing/2014/main" id="{C9F1C77D-C45C-9D71-82A2-BA82B8797305}"/>
              </a:ext>
            </a:extLst>
          </p:cNvPr>
          <p:cNvPicPr>
            <a:picLocks noChangeAspect="1"/>
          </p:cNvPicPr>
          <p:nvPr/>
        </p:nvPicPr>
        <p:blipFill>
          <a:blip r:embed="rId5"/>
          <a:stretch>
            <a:fillRect/>
          </a:stretch>
        </p:blipFill>
        <p:spPr>
          <a:xfrm>
            <a:off x="6644772" y="962278"/>
            <a:ext cx="5547360" cy="1137920"/>
          </a:xfrm>
          <a:prstGeom prst="rect">
            <a:avLst/>
          </a:prstGeom>
        </p:spPr>
      </p:pic>
      <p:sp>
        <p:nvSpPr>
          <p:cNvPr id="2" name="Título 1">
            <a:extLst>
              <a:ext uri="{FF2B5EF4-FFF2-40B4-BE49-F238E27FC236}">
                <a16:creationId xmlns:a16="http://schemas.microsoft.com/office/drawing/2014/main" id="{6D7D164C-9E66-6795-E05C-4840E8477E6C}"/>
              </a:ext>
            </a:extLst>
          </p:cNvPr>
          <p:cNvSpPr>
            <a:spLocks noGrp="1"/>
          </p:cNvSpPr>
          <p:nvPr>
            <p:ph type="title"/>
          </p:nvPr>
        </p:nvSpPr>
        <p:spPr>
          <a:xfrm>
            <a:off x="2889908" y="134272"/>
            <a:ext cx="6412184" cy="375552"/>
          </a:xfrm>
        </p:spPr>
        <p:txBody>
          <a:bodyPr/>
          <a:lstStyle/>
          <a:p>
            <a:r>
              <a:rPr lang="en-US" dirty="0"/>
              <a:t>General conclusions</a:t>
            </a:r>
          </a:p>
        </p:txBody>
      </p:sp>
      <p:sp>
        <p:nvSpPr>
          <p:cNvPr id="3" name="Elipse 2">
            <a:extLst>
              <a:ext uri="{FF2B5EF4-FFF2-40B4-BE49-F238E27FC236}">
                <a16:creationId xmlns:a16="http://schemas.microsoft.com/office/drawing/2014/main" id="{806E6969-74F4-0858-FCFF-BEF7D4B19C65}"/>
              </a:ext>
            </a:extLst>
          </p:cNvPr>
          <p:cNvSpPr/>
          <p:nvPr/>
        </p:nvSpPr>
        <p:spPr>
          <a:xfrm>
            <a:off x="1236167" y="2920958"/>
            <a:ext cx="2542540" cy="2541600"/>
          </a:xfrm>
          <a:prstGeom prst="ellipse">
            <a:avLst/>
          </a:prstGeom>
          <a:no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bg2"/>
              </a:solidFill>
            </a:endParaRPr>
          </a:p>
        </p:txBody>
      </p:sp>
      <p:sp>
        <p:nvSpPr>
          <p:cNvPr id="8" name="CuadroTexto 7">
            <a:extLst>
              <a:ext uri="{FF2B5EF4-FFF2-40B4-BE49-F238E27FC236}">
                <a16:creationId xmlns:a16="http://schemas.microsoft.com/office/drawing/2014/main" id="{3F6A26E6-791E-CBF5-6B7E-CC9992496B9E}"/>
              </a:ext>
            </a:extLst>
          </p:cNvPr>
          <p:cNvSpPr txBox="1"/>
          <p:nvPr/>
        </p:nvSpPr>
        <p:spPr>
          <a:xfrm>
            <a:off x="730707" y="5672189"/>
            <a:ext cx="3048000" cy="369332"/>
          </a:xfrm>
          <a:prstGeom prst="rect">
            <a:avLst/>
          </a:prstGeom>
          <a:noFill/>
          <a:ln>
            <a:noFill/>
          </a:ln>
        </p:spPr>
        <p:txBody>
          <a:bodyPr wrap="square">
            <a:spAutoFit/>
          </a:bodyPr>
          <a:lstStyle/>
          <a:p>
            <a:pPr marL="285750" indent="-285750">
              <a:buFont typeface="Courier New" panose="02070309020205020404" pitchFamily="49" charset="0"/>
              <a:buChar char="o"/>
            </a:pPr>
            <a:r>
              <a:rPr lang="es-ES" dirty="0" err="1">
                <a:solidFill>
                  <a:schemeClr val="accent3"/>
                </a:solidFill>
              </a:rPr>
              <a:t>f</a:t>
            </a:r>
            <a:r>
              <a:rPr lang="es-ES" sz="1800" dirty="0" err="1">
                <a:solidFill>
                  <a:schemeClr val="accent3"/>
                </a:solidFill>
                <a:effectLst/>
              </a:rPr>
              <a:t>avours</a:t>
            </a:r>
            <a:r>
              <a:rPr lang="es-ES" sz="1800" dirty="0">
                <a:solidFill>
                  <a:schemeClr val="accent3"/>
                </a:solidFill>
                <a:effectLst/>
              </a:rPr>
              <a:t> </a:t>
            </a:r>
            <a:r>
              <a:rPr lang="es-ES" sz="1800" i="1" dirty="0" err="1">
                <a:solidFill>
                  <a:schemeClr val="accent3"/>
                </a:solidFill>
                <a:effectLst/>
              </a:rPr>
              <a:t>ortho</a:t>
            </a:r>
            <a:r>
              <a:rPr lang="es-ES" sz="1800" dirty="0">
                <a:solidFill>
                  <a:schemeClr val="accent3"/>
                </a:solidFill>
                <a:effectLst/>
              </a:rPr>
              <a:t> </a:t>
            </a:r>
            <a:r>
              <a:rPr lang="es-ES" sz="1800" dirty="0" err="1">
                <a:solidFill>
                  <a:schemeClr val="accent3"/>
                </a:solidFill>
                <a:effectLst/>
              </a:rPr>
              <a:t>borylation</a:t>
            </a:r>
            <a:endParaRPr lang="es-ES" sz="1800" dirty="0">
              <a:solidFill>
                <a:schemeClr val="accent3"/>
              </a:solidFill>
              <a:effectLst/>
            </a:endParaRPr>
          </a:p>
        </p:txBody>
      </p:sp>
      <p:sp>
        <p:nvSpPr>
          <p:cNvPr id="11" name="Elipse 10">
            <a:extLst>
              <a:ext uri="{FF2B5EF4-FFF2-40B4-BE49-F238E27FC236}">
                <a16:creationId xmlns:a16="http://schemas.microsoft.com/office/drawing/2014/main" id="{30184CC0-C690-A185-C0E0-13E910B85FF7}"/>
              </a:ext>
            </a:extLst>
          </p:cNvPr>
          <p:cNvSpPr/>
          <p:nvPr/>
        </p:nvSpPr>
        <p:spPr>
          <a:xfrm>
            <a:off x="8095937" y="2920958"/>
            <a:ext cx="2542540" cy="2541600"/>
          </a:xfrm>
          <a:prstGeom prst="ellipse">
            <a:avLst/>
          </a:prstGeom>
          <a:noFill/>
          <a:ln w="28575">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bg2"/>
              </a:solidFill>
            </a:endParaRPr>
          </a:p>
        </p:txBody>
      </p:sp>
      <p:sp>
        <p:nvSpPr>
          <p:cNvPr id="13" name="CuadroTexto 12">
            <a:extLst>
              <a:ext uri="{FF2B5EF4-FFF2-40B4-BE49-F238E27FC236}">
                <a16:creationId xmlns:a16="http://schemas.microsoft.com/office/drawing/2014/main" id="{18B5B76F-BD98-2D4B-9D6A-8981F6A6C87E}"/>
              </a:ext>
            </a:extLst>
          </p:cNvPr>
          <p:cNvSpPr txBox="1"/>
          <p:nvPr/>
        </p:nvSpPr>
        <p:spPr>
          <a:xfrm>
            <a:off x="7907833" y="5672189"/>
            <a:ext cx="3048000" cy="369332"/>
          </a:xfrm>
          <a:prstGeom prst="rect">
            <a:avLst/>
          </a:prstGeom>
          <a:noFill/>
        </p:spPr>
        <p:txBody>
          <a:bodyPr wrap="square">
            <a:spAutoFit/>
          </a:bodyPr>
          <a:lstStyle/>
          <a:p>
            <a:pPr marL="285750" indent="-285750">
              <a:buFont typeface="Courier New" panose="02070309020205020404" pitchFamily="49" charset="0"/>
              <a:buChar char="o"/>
            </a:pPr>
            <a:r>
              <a:rPr lang="es-ES" dirty="0" err="1">
                <a:solidFill>
                  <a:schemeClr val="accent3"/>
                </a:solidFill>
              </a:rPr>
              <a:t>a</a:t>
            </a:r>
            <a:r>
              <a:rPr lang="es-ES" sz="1800" dirty="0" err="1">
                <a:solidFill>
                  <a:schemeClr val="accent3"/>
                </a:solidFill>
                <a:effectLst/>
              </a:rPr>
              <a:t>llows</a:t>
            </a:r>
            <a:r>
              <a:rPr lang="es-ES" sz="1800" dirty="0">
                <a:solidFill>
                  <a:schemeClr val="accent3"/>
                </a:solidFill>
                <a:effectLst/>
              </a:rPr>
              <a:t> N-Me </a:t>
            </a:r>
            <a:r>
              <a:rPr lang="es-ES" sz="1800" dirty="0" err="1">
                <a:solidFill>
                  <a:schemeClr val="accent3"/>
                </a:solidFill>
                <a:effectLst/>
              </a:rPr>
              <a:t>borylation</a:t>
            </a:r>
            <a:endParaRPr lang="es-ES" sz="1800" dirty="0">
              <a:solidFill>
                <a:schemeClr val="accent3"/>
              </a:solidFill>
              <a:effectLst/>
            </a:endParaRPr>
          </a:p>
        </p:txBody>
      </p:sp>
      <p:pic>
        <p:nvPicPr>
          <p:cNvPr id="15" name="Picture 14">
            <a:extLst>
              <a:ext uri="{FF2B5EF4-FFF2-40B4-BE49-F238E27FC236}">
                <a16:creationId xmlns:a16="http://schemas.microsoft.com/office/drawing/2014/main" id="{3313FA80-D444-22AC-3FBA-0510E2A748AA}"/>
              </a:ext>
            </a:extLst>
          </p:cNvPr>
          <p:cNvPicPr>
            <a:picLocks noChangeAspect="1"/>
          </p:cNvPicPr>
          <p:nvPr/>
        </p:nvPicPr>
        <p:blipFill>
          <a:blip r:embed="rId6"/>
          <a:stretch>
            <a:fillRect/>
          </a:stretch>
        </p:blipFill>
        <p:spPr>
          <a:xfrm>
            <a:off x="5097920" y="3071388"/>
            <a:ext cx="1996440" cy="1112520"/>
          </a:xfrm>
          <a:prstGeom prst="rect">
            <a:avLst/>
          </a:prstGeom>
        </p:spPr>
      </p:pic>
      <p:pic>
        <p:nvPicPr>
          <p:cNvPr id="17" name="Picture 16">
            <a:extLst>
              <a:ext uri="{FF2B5EF4-FFF2-40B4-BE49-F238E27FC236}">
                <a16:creationId xmlns:a16="http://schemas.microsoft.com/office/drawing/2014/main" id="{6C93224F-E048-CEC2-7A97-C0A6E04B0AC8}"/>
              </a:ext>
            </a:extLst>
          </p:cNvPr>
          <p:cNvPicPr>
            <a:picLocks noChangeAspect="1"/>
          </p:cNvPicPr>
          <p:nvPr/>
        </p:nvPicPr>
        <p:blipFill>
          <a:blip r:embed="rId7"/>
          <a:stretch>
            <a:fillRect/>
          </a:stretch>
        </p:blipFill>
        <p:spPr>
          <a:xfrm>
            <a:off x="4982648" y="4672907"/>
            <a:ext cx="2255520" cy="1051560"/>
          </a:xfrm>
          <a:prstGeom prst="rect">
            <a:avLst/>
          </a:prstGeom>
        </p:spPr>
      </p:pic>
      <p:pic>
        <p:nvPicPr>
          <p:cNvPr id="10" name="Picture 9">
            <a:extLst>
              <a:ext uri="{FF2B5EF4-FFF2-40B4-BE49-F238E27FC236}">
                <a16:creationId xmlns:a16="http://schemas.microsoft.com/office/drawing/2014/main" id="{CA4350F7-272F-34EA-ECEB-54B8BE0F9EC5}"/>
              </a:ext>
            </a:extLst>
          </p:cNvPr>
          <p:cNvPicPr>
            <a:picLocks noChangeAspect="1"/>
          </p:cNvPicPr>
          <p:nvPr/>
        </p:nvPicPr>
        <p:blipFill>
          <a:blip r:embed="rId8"/>
          <a:stretch>
            <a:fillRect/>
          </a:stretch>
        </p:blipFill>
        <p:spPr>
          <a:xfrm>
            <a:off x="30346" y="1060320"/>
            <a:ext cx="5280660" cy="1120140"/>
          </a:xfrm>
          <a:prstGeom prst="rect">
            <a:avLst/>
          </a:prstGeom>
        </p:spPr>
      </p:pic>
      <p:sp>
        <p:nvSpPr>
          <p:cNvPr id="4" name="Slide Number Placeholder 3">
            <a:extLst>
              <a:ext uri="{FF2B5EF4-FFF2-40B4-BE49-F238E27FC236}">
                <a16:creationId xmlns:a16="http://schemas.microsoft.com/office/drawing/2014/main" id="{87EAABD1-D541-41C1-2402-4C442B7BC812}"/>
              </a:ext>
            </a:extLst>
          </p:cNvPr>
          <p:cNvSpPr>
            <a:spLocks noGrp="1"/>
          </p:cNvSpPr>
          <p:nvPr>
            <p:ph type="sldNum" sz="quarter" idx="12"/>
          </p:nvPr>
        </p:nvSpPr>
        <p:spPr/>
        <p:txBody>
          <a:bodyPr/>
          <a:lstStyle/>
          <a:p>
            <a:r>
              <a:rPr lang="en-US" dirty="0"/>
              <a:t>73</a:t>
            </a:r>
          </a:p>
        </p:txBody>
      </p:sp>
    </p:spTree>
    <p:extLst>
      <p:ext uri="{BB962C8B-B14F-4D97-AF65-F5344CB8AC3E}">
        <p14:creationId xmlns:p14="http://schemas.microsoft.com/office/powerpoint/2010/main" val="3490572843"/>
      </p:ext>
    </p:extLst>
  </p:cSld>
  <p:clrMapOvr>
    <a:masterClrMapping/>
  </p:clrMapOvr>
</p:sld>
</file>

<file path=ppt/theme/theme1.xml><?xml version="1.0" encoding="utf-8"?>
<a:theme xmlns:a="http://schemas.openxmlformats.org/drawingml/2006/main" name="Office Theme">
  <a:themeElements>
    <a:clrScheme name="Thesis">
      <a:dk1>
        <a:srgbClr val="000000"/>
      </a:dk1>
      <a:lt1>
        <a:srgbClr val="FFFFFF"/>
      </a:lt1>
      <a:dk2>
        <a:srgbClr val="135292"/>
      </a:dk2>
      <a:lt2>
        <a:srgbClr val="B34D0B"/>
      </a:lt2>
      <a:accent1>
        <a:srgbClr val="A9A9A9"/>
      </a:accent1>
      <a:accent2>
        <a:srgbClr val="6B5997"/>
      </a:accent2>
      <a:accent3>
        <a:srgbClr val="3E7892"/>
      </a:accent3>
      <a:accent4>
        <a:srgbClr val="5F896D"/>
      </a:accent4>
      <a:accent5>
        <a:srgbClr val="8F3B60"/>
      </a:accent5>
      <a:accent6>
        <a:srgbClr val="F2E8DF"/>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682</Words>
  <Application>Microsoft Macintosh PowerPoint</Application>
  <PresentationFormat>Widescreen</PresentationFormat>
  <Paragraphs>70</Paragraphs>
  <Slides>10</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Aptos Display</vt:lpstr>
      <vt:lpstr>Arial</vt:lpstr>
      <vt:lpstr>Avenir Book</vt:lpstr>
      <vt:lpstr>Courier New</vt:lpstr>
      <vt:lpstr>Symbol</vt:lpstr>
      <vt:lpstr>TimesTenLTStd</vt:lpstr>
      <vt:lpstr>Wingdings</vt:lpstr>
      <vt:lpstr>Office Theme</vt:lpstr>
      <vt:lpstr>PowerPoint Presentation</vt:lpstr>
      <vt:lpstr>Catalysis</vt:lpstr>
      <vt:lpstr>Typical “organometallic catalyst”</vt:lpstr>
      <vt:lpstr>Typical “organometallic catalyst”</vt:lpstr>
      <vt:lpstr>Organometallic reactions</vt:lpstr>
      <vt:lpstr>Ligand-substrate supramolecular interactions</vt:lpstr>
      <vt:lpstr>Mechanism: Non-covalent interactions</vt:lpstr>
      <vt:lpstr>Mechanism: NBO analysis</vt:lpstr>
      <vt:lpstr>Mechanism: isomerization step</vt:lpstr>
      <vt:lpstr>General 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MARCOS ATANES DANIEL</dc:creator>
  <cp:lastModifiedBy>MARCOS ATANES DANIEL</cp:lastModifiedBy>
  <cp:revision>1</cp:revision>
  <dcterms:created xsi:type="dcterms:W3CDTF">2025-12-24T18:11:37Z</dcterms:created>
  <dcterms:modified xsi:type="dcterms:W3CDTF">2025-12-24T18:14:31Z</dcterms:modified>
</cp:coreProperties>
</file>